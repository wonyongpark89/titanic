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embeddedFontLst>
    <p:embeddedFont>
      <p:font typeface="ABeeZee" panose="020B0604020202020204" charset="0"/>
      <p:regular r:id="rId19"/>
      <p: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GoOdNAFirrt4e9UddVsy9oiyD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0F196F-5926-BD1B-30F6-611BDE6B4F57}" v="3" dt="2024-04-12T09:56:15.624"/>
  </p1510:revLst>
</p1510:revInfo>
</file>

<file path=ppt/tableStyles.xml><?xml version="1.0" encoding="utf-8"?>
<a:tblStyleLst xmlns:a="http://schemas.openxmlformats.org/drawingml/2006/main" def="{7FAD1220-939C-4050-A61E-51217B467AD2}">
  <a:tblStyle styleId="{7FAD1220-939C-4050-A61E-51217B467A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ele Newman" userId="S::rm1c10@soton.ac.uk::69351afb-65e9-4c98-abf6-3350785a7d10" providerId="AD" clId="Web-{B60F196F-5926-BD1B-30F6-611BDE6B4F57}"/>
    <pc:docChg chg="modSld">
      <pc:chgData name="Rachele Newman" userId="S::rm1c10@soton.ac.uk::69351afb-65e9-4c98-abf6-3350785a7d10" providerId="AD" clId="Web-{B60F196F-5926-BD1B-30F6-611BDE6B4F57}" dt="2024-04-12T09:56:15.624" v="2" actId="1076"/>
      <pc:docMkLst>
        <pc:docMk/>
      </pc:docMkLst>
      <pc:sldChg chg="modSp">
        <pc:chgData name="Rachele Newman" userId="S::rm1c10@soton.ac.uk::69351afb-65e9-4c98-abf6-3350785a7d10" providerId="AD" clId="Web-{B60F196F-5926-BD1B-30F6-611BDE6B4F57}" dt="2024-04-12T09:56:15.624" v="2" actId="1076"/>
        <pc:sldMkLst>
          <pc:docMk/>
          <pc:sldMk cId="0" sldId="262"/>
        </pc:sldMkLst>
        <pc:picChg chg="mod">
          <ac:chgData name="Rachele Newman" userId="S::rm1c10@soton.ac.uk::69351afb-65e9-4c98-abf6-3350785a7d10" providerId="AD" clId="Web-{B60F196F-5926-BD1B-30F6-611BDE6B4F57}" dt="2024-04-12T09:56:15.624" v="2" actId="1076"/>
          <ac:picMkLst>
            <pc:docMk/>
            <pc:sldMk cId="0" sldId="262"/>
            <ac:picMk id="135" creationId="{00000000-0000-0000-0000-000000000000}"/>
          </ac:picMkLst>
        </pc:picChg>
      </pc:sldChg>
    </pc:docChg>
  </pc:docChgLst>
  <pc:docChgLst>
    <pc:chgData name="Wonyong Park" userId="d9415017-2acf-4c90-b8cd-5d467cfa0bec" providerId="ADAL" clId="{3FD3A3A0-6B48-4518-BB29-877981F11661}"/>
    <pc:docChg chg="undo custSel addSld modSld">
      <pc:chgData name="Wonyong Park" userId="d9415017-2acf-4c90-b8cd-5d467cfa0bec" providerId="ADAL" clId="{3FD3A3A0-6B48-4518-BB29-877981F11661}" dt="2023-12-14T23:13:00.753" v="59" actId="478"/>
      <pc:docMkLst>
        <pc:docMk/>
      </pc:docMkLst>
      <pc:sldChg chg="delSp mod">
        <pc:chgData name="Wonyong Park" userId="d9415017-2acf-4c90-b8cd-5d467cfa0bec" providerId="ADAL" clId="{3FD3A3A0-6B48-4518-BB29-877981F11661}" dt="2023-12-14T23:13:00.753" v="59" actId="478"/>
        <pc:sldMkLst>
          <pc:docMk/>
          <pc:sldMk cId="0" sldId="256"/>
        </pc:sldMkLst>
        <pc:spChg chg="del">
          <ac:chgData name="Wonyong Park" userId="d9415017-2acf-4c90-b8cd-5d467cfa0bec" providerId="ADAL" clId="{3FD3A3A0-6B48-4518-BB29-877981F11661}" dt="2023-12-14T23:13:00.753" v="59" actId="478"/>
          <ac:spMkLst>
            <pc:docMk/>
            <pc:sldMk cId="0" sldId="256"/>
            <ac:spMk id="89" creationId="{00000000-0000-0000-0000-000000000000}"/>
          </ac:spMkLst>
        </pc:spChg>
      </pc:sldChg>
      <pc:sldChg chg="modSp mod">
        <pc:chgData name="Wonyong Park" userId="d9415017-2acf-4c90-b8cd-5d467cfa0bec" providerId="ADAL" clId="{3FD3A3A0-6B48-4518-BB29-877981F11661}" dt="2023-12-14T18:48:54.586" v="58" actId="12"/>
        <pc:sldMkLst>
          <pc:docMk/>
          <pc:sldMk cId="0" sldId="266"/>
        </pc:sldMkLst>
        <pc:spChg chg="mod">
          <ac:chgData name="Wonyong Park" userId="d9415017-2acf-4c90-b8cd-5d467cfa0bec" providerId="ADAL" clId="{3FD3A3A0-6B48-4518-BB29-877981F11661}" dt="2023-12-14T18:48:54.586" v="58" actId="12"/>
          <ac:spMkLst>
            <pc:docMk/>
            <pc:sldMk cId="0" sldId="266"/>
            <ac:spMk id="164" creationId="{00000000-0000-0000-0000-000000000000}"/>
          </ac:spMkLst>
        </pc:spChg>
      </pc:sldChg>
      <pc:sldChg chg="addSp delSp modSp new mod setBg">
        <pc:chgData name="Wonyong Park" userId="d9415017-2acf-4c90-b8cd-5d467cfa0bec" providerId="ADAL" clId="{3FD3A3A0-6B48-4518-BB29-877981F11661}" dt="2023-12-14T18:48:32.267" v="57" actId="1076"/>
        <pc:sldMkLst>
          <pc:docMk/>
          <pc:sldMk cId="375251473" sldId="268"/>
        </pc:sldMkLst>
        <pc:spChg chg="del">
          <ac:chgData name="Wonyong Park" userId="d9415017-2acf-4c90-b8cd-5d467cfa0bec" providerId="ADAL" clId="{3FD3A3A0-6B48-4518-BB29-877981F11661}" dt="2023-12-14T18:36:28.779" v="16" actId="478"/>
          <ac:spMkLst>
            <pc:docMk/>
            <pc:sldMk cId="375251473" sldId="268"/>
            <ac:spMk id="2" creationId="{3649B181-019B-EACE-8A24-7875BBDCCA8F}"/>
          </ac:spMkLst>
        </pc:spChg>
        <pc:spChg chg="del">
          <ac:chgData name="Wonyong Park" userId="d9415017-2acf-4c90-b8cd-5d467cfa0bec" providerId="ADAL" clId="{3FD3A3A0-6B48-4518-BB29-877981F11661}" dt="2023-12-14T18:36:28.779" v="16" actId="478"/>
          <ac:spMkLst>
            <pc:docMk/>
            <pc:sldMk cId="375251473" sldId="268"/>
            <ac:spMk id="3" creationId="{5A57AA17-07D1-3E44-F84E-A9E2C8CA37D6}"/>
          </ac:spMkLst>
        </pc:spChg>
        <pc:spChg chg="add mod">
          <ac:chgData name="Wonyong Park" userId="d9415017-2acf-4c90-b8cd-5d467cfa0bec" providerId="ADAL" clId="{3FD3A3A0-6B48-4518-BB29-877981F11661}" dt="2023-12-14T18:48:32.267" v="57" actId="1076"/>
          <ac:spMkLst>
            <pc:docMk/>
            <pc:sldMk cId="375251473" sldId="268"/>
            <ac:spMk id="6" creationId="{3B0602F3-B99C-265F-21DB-70AB82AFFADF}"/>
          </ac:spMkLst>
        </pc:spChg>
        <pc:grpChg chg="add mod">
          <ac:chgData name="Wonyong Park" userId="d9415017-2acf-4c90-b8cd-5d467cfa0bec" providerId="ADAL" clId="{3FD3A3A0-6B48-4518-BB29-877981F11661}" dt="2023-12-14T18:48:32.267" v="57" actId="1076"/>
          <ac:grpSpMkLst>
            <pc:docMk/>
            <pc:sldMk cId="375251473" sldId="268"/>
            <ac:grpSpMk id="7" creationId="{75F2A391-A914-42AA-6A10-3BED581ACDD7}"/>
          </ac:grpSpMkLst>
        </pc:grpChg>
        <pc:graphicFrameChg chg="add del mod modGraphic">
          <ac:chgData name="Wonyong Park" userId="d9415017-2acf-4c90-b8cd-5d467cfa0bec" providerId="ADAL" clId="{3FD3A3A0-6B48-4518-BB29-877981F11661}" dt="2023-12-14T18:46:35.141" v="37" actId="478"/>
          <ac:graphicFrameMkLst>
            <pc:docMk/>
            <pc:sldMk cId="375251473" sldId="268"/>
            <ac:graphicFrameMk id="4" creationId="{44953720-B204-6796-BAD5-58B7F8A7CDFF}"/>
          </ac:graphicFrameMkLst>
        </pc:graphicFrameChg>
        <pc:picChg chg="add mod">
          <ac:chgData name="Wonyong Park" userId="d9415017-2acf-4c90-b8cd-5d467cfa0bec" providerId="ADAL" clId="{3FD3A3A0-6B48-4518-BB29-877981F11661}" dt="2023-12-14T18:48:32.267" v="57" actId="1076"/>
          <ac:picMkLst>
            <pc:docMk/>
            <pc:sldMk cId="375251473" sldId="268"/>
            <ac:picMk id="5" creationId="{EA6A329D-31C1-36B9-E32E-41DD2C0B6D5E}"/>
          </ac:picMkLst>
        </pc:picChg>
        <pc:picChg chg="add mod">
          <ac:chgData name="Wonyong Park" userId="d9415017-2acf-4c90-b8cd-5d467cfa0bec" providerId="ADAL" clId="{3FD3A3A0-6B48-4518-BB29-877981F11661}" dt="2023-12-14T18:48:32.267" v="57" actId="1076"/>
          <ac:picMkLst>
            <pc:docMk/>
            <pc:sldMk cId="375251473" sldId="268"/>
            <ac:picMk id="1025" creationId="{226744DC-81A0-D60F-58FC-A984246544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tRoltb9afI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istoricsouthampton.co.uk/crew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The Titanic | 3 Minute History Cartoon - YouTube</a:t>
            </a:r>
            <a:endParaRPr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Only use this for abstract concepts. For example: monarchy, institution, parliament, injustice, peasant, nobility, gentry, revolution, kingship, take-over, seizing power, </a:t>
            </a:r>
            <a:endParaRPr/>
          </a:p>
        </p:txBody>
      </p:sp>
      <p:sp>
        <p:nvSpPr>
          <p:cNvPr id="103" name="Google Shape;10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Teacher freedom to create own criteria/allow student to create their own criteria</a:t>
            </a:r>
            <a:endParaRPr/>
          </a:p>
        </p:txBody>
      </p:sp>
      <p:sp>
        <p:nvSpPr>
          <p:cNvPr id="110" name="Google Shape;11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Teacher freedom to create own criteria/allow student to create their own criteria</a:t>
            </a: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Interactive Map: Titanic Crew – Historic Southampton</a:t>
            </a:r>
            <a:r>
              <a:rPr lang="en-GB"/>
              <a:t> </a:t>
            </a:r>
            <a:br>
              <a:rPr lang="en-GB"/>
            </a:br>
            <a:r>
              <a:rPr lang="en-GB"/>
              <a:t>Students can play around and explore the area. </a:t>
            </a:r>
            <a:endParaRPr/>
          </a:p>
        </p:txBody>
      </p:sp>
      <p:sp>
        <p:nvSpPr>
          <p:cNvPr id="130" name="Google Shape;13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 can be tweaked if different criteria is being used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 could be delivered in a number of ways: Individual, group work, pupils take on an individual </a:t>
            </a:r>
            <a:endParaRPr/>
          </a:p>
        </p:txBody>
      </p:sp>
      <p:sp>
        <p:nvSpPr>
          <p:cNvPr id="150" name="Google Shape;15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tRoltb9afI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historicsouthampton.co.uk/crew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reativecommons.org/licenses/by-nc-sa/4.0/?ref=chooser-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10817" y="756445"/>
            <a:ext cx="11370365" cy="156966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title: Why was the Titanic significant to Southampton?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410817" y="2568102"/>
            <a:ext cx="11370365" cy="353943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make inferences from individual experiences about why the Titanic was significant to Southampton.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reach a well explained judgement on why the Titanic was significant to Southampton.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Brain dump</a:t>
            </a:r>
            <a:endParaRPr/>
          </a:p>
          <a:p>
            <a:pPr marL="742950" marR="0" lvl="0" indent="-742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do you already know about Titanic? </a:t>
            </a:r>
            <a:endParaRPr/>
          </a:p>
          <a:p>
            <a:pPr marL="742950" marR="0" lvl="0" indent="-742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AutoNum type="arabicPeriod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to your notes using the video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4088295" y="2769704"/>
            <a:ext cx="4015409" cy="176253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Titanic</a:t>
            </a:r>
            <a:endParaRPr/>
          </a:p>
        </p:txBody>
      </p:sp>
      <p:pic>
        <p:nvPicPr>
          <p:cNvPr id="99" name="Google Shape;99;p2" descr="Video Icon - Free PNG &amp; SVG 40278 - Noun Project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35421" y="49530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Similarity spotters!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340963" y="1882222"/>
            <a:ext cx="11282766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last saw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‘Significant’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did it mean?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was the context?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838200" y="312117"/>
            <a:ext cx="10515600" cy="88058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makes something significant in History?</a:t>
            </a:r>
            <a:endParaRPr/>
          </a:p>
        </p:txBody>
      </p:sp>
      <p:graphicFrame>
        <p:nvGraphicFramePr>
          <p:cNvPr id="113" name="Google Shape;113;p4"/>
          <p:cNvGraphicFramePr/>
          <p:nvPr/>
        </p:nvGraphicFramePr>
        <p:xfrm>
          <a:off x="838200" y="1364974"/>
          <a:ext cx="10515600" cy="5561275"/>
        </p:xfrm>
        <a:graphic>
          <a:graphicData uri="http://schemas.openxmlformats.org/drawingml/2006/table">
            <a:tbl>
              <a:tblPr firstRow="1" bandRow="1">
                <a:noFill/>
                <a:tableStyleId>{7FAD1220-939C-4050-A61E-51217B467AD2}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Remarkable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The person was talked about at the time.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Resulted in change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Something changed following their actions. This could be positive or negative.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Remembered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We know about this person today.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Revealing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We can learn about the past from them and they tell us things we otherwise might not have known.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Resonant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Links can me made between the person and life today. Their actions continue to affect/shape our lives.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12117"/>
            <a:ext cx="10515600" cy="88058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makes something significant in History?</a:t>
            </a:r>
            <a:endParaRPr/>
          </a:p>
        </p:txBody>
      </p:sp>
      <p:graphicFrame>
        <p:nvGraphicFramePr>
          <p:cNvPr id="120" name="Google Shape;120;p5"/>
          <p:cNvGraphicFramePr/>
          <p:nvPr/>
        </p:nvGraphicFramePr>
        <p:xfrm>
          <a:off x="838200" y="1364974"/>
          <a:ext cx="10515600" cy="5561275"/>
        </p:xfrm>
        <a:graphic>
          <a:graphicData uri="http://schemas.openxmlformats.org/drawingml/2006/table">
            <a:tbl>
              <a:tblPr firstRow="1" bandRow="1">
                <a:noFill/>
                <a:tableStyleId>{7FAD1220-939C-4050-A61E-51217B467AD2}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Remarkable</a:t>
                      </a:r>
                      <a:endParaRPr sz="2400" b="0" u="none" strike="noStrike" cap="none"/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The person was talked about at the time.</a:t>
                      </a:r>
                      <a:endParaRPr sz="2400" b="0" u="none" strike="noStrike" cap="none"/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2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Resulted in change</a:t>
                      </a:r>
                      <a:endParaRPr sz="2400" b="0" u="none" strike="noStrike" cap="none"/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Something changed following their actions. This could be positive or negative.</a:t>
                      </a:r>
                      <a:endParaRPr sz="2400" b="0" u="none" strike="noStrike" cap="none"/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Remembered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We know about this person today.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Revealing</a:t>
                      </a:r>
                      <a:endParaRPr sz="2400" b="0" u="none" strike="noStrike" cap="none"/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We can learn about the past from them and they tell us things we otherwise might not have known.</a:t>
                      </a:r>
                      <a:endParaRPr sz="2400" b="0" u="none" strike="noStrike" cap="none"/>
                    </a:p>
                  </a:txBody>
                  <a:tcPr marL="91450" marR="91450" marT="45725" marB="45725">
                    <a:solidFill>
                      <a:srgbClr val="D8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Resonant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u="none" strike="noStrike" cap="none"/>
                        <a:t>Links can me made between the person and life today. Their actions continue to affect/shape our lives.</a:t>
                      </a:r>
                      <a:endParaRPr sz="2400" b="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body" idx="1"/>
          </p:nvPr>
        </p:nvSpPr>
        <p:spPr>
          <a:xfrm>
            <a:off x="838200" y="1136076"/>
            <a:ext cx="10515600" cy="5444605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Southampton was a major port city and hub of the maritime industry in the early 20</a:t>
            </a:r>
            <a:r>
              <a:rPr lang="en-GB" sz="36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Century.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Titanic was built in the Harland and Wolff shipyard in Belfast, but Southampton was its home port.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Southampton’s port facilities were well-developed and could accommodate large ocean liners like Southampton.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Wednesday 10th April 1912 shortly after 12noon, RMS Titanic set sail from Southampton's White Star Dock on her maiden voyage to New York.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launch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inference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179881" y="1035337"/>
            <a:ext cx="5351489" cy="5170646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What can we learn from this source about why Titanic was significant to Southampton?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Which details from the source are the most useful for telling us that?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If we use this source for a different enquiry, which other details could be more relevant?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1061" y="0"/>
            <a:ext cx="760939" cy="769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7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5174" y="695580"/>
            <a:ext cx="6372225" cy="585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thoughts</a:t>
            </a:r>
            <a:endParaRPr/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624" y="2098905"/>
            <a:ext cx="3552825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9587" y="2098905"/>
            <a:ext cx="3552825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94550" y="2121179"/>
            <a:ext cx="3552825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 txBox="1"/>
          <p:nvPr/>
        </p:nvSpPr>
        <p:spPr>
          <a:xfrm>
            <a:off x="364203" y="2474893"/>
            <a:ext cx="302099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didn’t realise…</a:t>
            </a:r>
            <a:endParaRPr/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0"/>
            <a:ext cx="71437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410816" y="1029065"/>
            <a:ext cx="1137036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was the Titanic significant to Southampton?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0" y="0"/>
            <a:ext cx="12192000" cy="769441"/>
          </a:xfrm>
          <a:prstGeom prst="rect">
            <a:avLst/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Individual focus task</a:t>
            </a:r>
            <a:endParaRPr sz="4400" b="1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209862" y="974361"/>
            <a:ext cx="11782269" cy="55092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about each individual from Southampton and their experience of Titanic.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do they reveal about Southampton at the time Titanic set sail? </a:t>
            </a:r>
            <a:endParaRPr/>
          </a:p>
          <a:p>
            <a:pPr marL="514350" marR="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you infer about how Titanic changed the lives of people in Southampton?</a:t>
            </a:r>
            <a:endParaRPr/>
          </a:p>
          <a:p>
            <a:pPr marL="514350" marR="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you infer about why Titanic would have been remarkable in Southampton?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Google Shape;158;p10"/>
          <p:cNvGraphicFramePr/>
          <p:nvPr/>
        </p:nvGraphicFramePr>
        <p:xfrm>
          <a:off x="109518" y="127417"/>
          <a:ext cx="11952800" cy="6623575"/>
        </p:xfrm>
        <a:graphic>
          <a:graphicData uri="http://schemas.openxmlformats.org/drawingml/2006/table">
            <a:tbl>
              <a:tblPr firstRow="1" bandRow="1">
                <a:noFill/>
                <a:tableStyleId>{7FAD1220-939C-4050-A61E-51217B467AD2}</a:tableStyleId>
              </a:tblPr>
              <a:tblGrid>
                <a:gridCol w="298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6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u="none" strike="noStrike" cap="none"/>
                        <a:t>Individual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b="1" u="none" strike="noStrike" cap="none"/>
                        <a:t>What do they reveal about Southampton at the time Titanic set sail?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b="1" u="none" strike="noStrike" cap="none"/>
                        <a:t>What can you infer about how Titanic changed the lives of people in Southampton?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b="1" u="none" strike="noStrike" cap="none"/>
                        <a:t>What can you infer about why Titanic would have been remarkable in Southampton?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strike="noStrike" cap="none"/>
                        <a:t>Edward Smith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Joseph Boxhall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Frederick Fleet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Alfred Frank Evans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Joseph Scarrott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6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Charles Joughin</a:t>
                      </a: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Which statement matches your understanding the most?</a:t>
            </a:r>
            <a:endParaRPr sz="3200" b="1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347815" y="1023814"/>
            <a:ext cx="11632557" cy="5262979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Titanic was significant to Southampton because it created new jobs for the people who lived there.</a:t>
            </a:r>
            <a:endParaRPr sz="2800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21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Titanic was significant because it united the city in grief</a:t>
            </a:r>
            <a:endParaRPr sz="2800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21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Titanic was significant because it brought in more money to the city of Southampton </a:t>
            </a:r>
            <a:endParaRPr sz="2800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21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sz="2800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Titanic was significant to Southampton as a lot of people would have been talking about the city following the ship’s launch and sinking</a:t>
            </a:r>
            <a:endParaRPr dirty="0"/>
          </a:p>
          <a:p>
            <a:pPr marL="692150" marR="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 have a different idea and I can explain it…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745" y="337513"/>
            <a:ext cx="6803504" cy="629829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2"/>
          <p:cNvSpPr txBox="1"/>
          <p:nvPr/>
        </p:nvSpPr>
        <p:spPr>
          <a:xfrm>
            <a:off x="7483840" y="452416"/>
            <a:ext cx="4271415" cy="3785652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is the Titanic significant to Southampton today?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5F2A391-A914-42AA-6A10-3BED581ACDD7}"/>
              </a:ext>
            </a:extLst>
          </p:cNvPr>
          <p:cNvGrpSpPr/>
          <p:nvPr/>
        </p:nvGrpSpPr>
        <p:grpSpPr>
          <a:xfrm>
            <a:off x="1181895" y="1301750"/>
            <a:ext cx="9828209" cy="4060379"/>
            <a:chOff x="1363666" y="1238250"/>
            <a:chExt cx="9828209" cy="4060379"/>
          </a:xfrm>
        </p:grpSpPr>
        <p:pic>
          <p:nvPicPr>
            <p:cNvPr id="1025" name="Picture 12">
              <a:extLst>
                <a:ext uri="{FF2B5EF4-FFF2-40B4-BE49-F238E27FC236}">
                  <a16:creationId xmlns:a16="http://schemas.microsoft.com/office/drawing/2014/main" id="{226744DC-81A0-D60F-58FC-A98424654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3666" y="4258593"/>
              <a:ext cx="1991337" cy="6989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6A329D-31C1-36B9-E32E-41DD2C0B6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295" y="1238250"/>
              <a:ext cx="7305410" cy="2190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0602F3-B99C-265F-21DB-70AB82AFFADF}"/>
                </a:ext>
              </a:extLst>
            </p:cNvPr>
            <p:cNvSpPr/>
            <p:nvPr/>
          </p:nvSpPr>
          <p:spPr>
            <a:xfrm>
              <a:off x="3650278" y="3917504"/>
              <a:ext cx="7541597" cy="13811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algn="l" rtl="0" font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GB" sz="1800" b="0" i="0" u="none" strike="noStrike" dirty="0">
                <a:effectLst/>
                <a:latin typeface="Arial" panose="020B0604020202020204" pitchFamily="34" charset="0"/>
              </a:endParaRPr>
            </a:p>
            <a:p>
              <a:pPr marR="0" algn="l" rtl="0" font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GB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Remembering Titanic Lessons © 2023 by Wonyong Park, Neta Shaby, Rachele Newman, Megan Barton, Christopher Dale, Ashleigh Fair, Natalie Harrison, Mary Shepherd and Christopher </a:t>
              </a:r>
              <a:r>
                <a:rPr lang="en-GB" sz="1800" b="0" i="0" u="none" strike="noStrike" dirty="0" err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Zieba</a:t>
              </a:r>
              <a:r>
                <a:rPr lang="en-GB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is licensed under </a:t>
              </a:r>
              <a:r>
                <a:rPr lang="en-GB" sz="1800" b="0" i="0" u="sng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  <a:hlinkClick r:id="rId4"/>
                </a:rPr>
                <a:t>CC BY-NC-SA 4.0</a:t>
              </a:r>
              <a:r>
                <a:rPr lang="en-GB" sz="1800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 You can share and adapt the materials, as long as you give appropriate credit and do not use them for commercial purposes.</a:t>
              </a:r>
              <a:endParaRPr lang="en-GB" sz="1800" b="0" i="0" u="none" strike="noStrike" dirty="0">
                <a:effectLst/>
                <a:latin typeface="Arial" panose="020B0604020202020204" pitchFamily="34" charset="0"/>
              </a:endParaRPr>
            </a:p>
            <a:p>
              <a:pPr algn="ctr"/>
              <a:endParaRPr lang="en-GB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5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AEFD908B32B245A3A0D21C6B593B2B" ma:contentTypeVersion="14" ma:contentTypeDescription="Create a new document." ma:contentTypeScope="" ma:versionID="38d37b1c7b188a6d838f48e4416de3c1">
  <xsd:schema xmlns:xsd="http://www.w3.org/2001/XMLSchema" xmlns:xs="http://www.w3.org/2001/XMLSchema" xmlns:p="http://schemas.microsoft.com/office/2006/metadata/properties" xmlns:ns2="d5a874f9-67e5-4deb-a0f2-d102b20c5fd8" xmlns:ns3="94e09ebd-c8f1-4362-991a-c49006e523f9" targetNamespace="http://schemas.microsoft.com/office/2006/metadata/properties" ma:root="true" ma:fieldsID="bf319a33755e26be25ca2a6fc21578ae" ns2:_="" ns3:_="">
    <xsd:import namespace="d5a874f9-67e5-4deb-a0f2-d102b20c5fd8"/>
    <xsd:import namespace="94e09ebd-c8f1-4362-991a-c49006e523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a874f9-67e5-4deb-a0f2-d102b20c5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e09ebd-c8f1-4362-991a-c49006e523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1c53bc1-37db-457b-9811-fd494ad9fb6b}" ma:internalName="TaxCatchAll" ma:showField="CatchAllData" ma:web="94e09ebd-c8f1-4362-991a-c49006e523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a874f9-67e5-4deb-a0f2-d102b20c5fd8">
      <Terms xmlns="http://schemas.microsoft.com/office/infopath/2007/PartnerControls"/>
    </lcf76f155ced4ddcb4097134ff3c332f>
    <TaxCatchAll xmlns="94e09ebd-c8f1-4362-991a-c49006e523f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757584-9B17-4510-8691-21920E6737A8}"/>
</file>

<file path=customXml/itemProps2.xml><?xml version="1.0" encoding="utf-8"?>
<ds:datastoreItem xmlns:ds="http://schemas.openxmlformats.org/officeDocument/2006/customXml" ds:itemID="{4164CF3B-3D9E-4E2D-A932-68337BCE5A69}">
  <ds:schemaRefs>
    <ds:schemaRef ds:uri="http://schemas.microsoft.com/office/2006/metadata/properties"/>
    <ds:schemaRef ds:uri="http://schemas.microsoft.com/office/infopath/2007/PartnerControls"/>
    <ds:schemaRef ds:uri="d5a874f9-67e5-4deb-a0f2-d102b20c5fd8"/>
    <ds:schemaRef ds:uri="94e09ebd-c8f1-4362-991a-c49006e523f9"/>
  </ds:schemaRefs>
</ds:datastoreItem>
</file>

<file path=customXml/itemProps3.xml><?xml version="1.0" encoding="utf-8"?>
<ds:datastoreItem xmlns:ds="http://schemas.openxmlformats.org/officeDocument/2006/customXml" ds:itemID="{59C93384-C6BA-46F6-8036-28FF4002F7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Office PowerPoint</Application>
  <PresentationFormat>Widescreen</PresentationFormat>
  <Paragraphs>99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What makes something significant in History?</vt:lpstr>
      <vt:lpstr>What makes something significant in History?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 Zieba</dc:creator>
  <cp:lastModifiedBy>Wonyong Park</cp:lastModifiedBy>
  <cp:revision>4</cp:revision>
  <dcterms:created xsi:type="dcterms:W3CDTF">2023-06-29T14:23:29Z</dcterms:created>
  <dcterms:modified xsi:type="dcterms:W3CDTF">2024-04-12T09:56:16Z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0x010100D4AEFD908B32B245A3A0D21C6B593B2B</vt:lpwstr>
  </property>
  <property fmtid="{D5CDD505-2E9C-101B-9397-08002B2CF9AE}" pid="3" name="MediaServiceImageTags">
    <vt:lpwstr/>
  </property>
</Properties>
</file>