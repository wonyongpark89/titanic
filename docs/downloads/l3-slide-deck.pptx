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9"/>
  </p:notesMasterIdLst>
  <p:sldIdLst>
    <p:sldId id="1114" r:id="rId6"/>
    <p:sldId id="303" r:id="rId7"/>
    <p:sldId id="1115" r:id="rId8"/>
    <p:sldId id="855" r:id="rId9"/>
    <p:sldId id="1116" r:id="rId10"/>
    <p:sldId id="262" r:id="rId11"/>
    <p:sldId id="261" r:id="rId12"/>
    <p:sldId id="282" r:id="rId13"/>
    <p:sldId id="1110" r:id="rId14"/>
    <p:sldId id="1113" r:id="rId15"/>
    <p:sldId id="1112" r:id="rId16"/>
    <p:sldId id="1109" r:id="rId17"/>
    <p:sldId id="268" r:id="rId18"/>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ant Parsons" initials="GP" lastIdx="1" clrIdx="0">
    <p:extLst>
      <p:ext uri="{19B8F6BF-5375-455C-9EA6-DF929625EA0E}">
        <p15:presenceInfo xmlns:p15="http://schemas.microsoft.com/office/powerpoint/2012/main" userId="S::Grant.Parsons@oasissholing.org::f4e1144a-458d-474f-9ae5-0cd17e5f1a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F0D77-E2F5-44A0-93EC-E0B147F2743A}" v="1" dt="2023-12-14T18:50:57.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81156" autoAdjust="0"/>
  </p:normalViewPr>
  <p:slideViewPr>
    <p:cSldViewPr snapToGrid="0">
      <p:cViewPr varScale="1">
        <p:scale>
          <a:sx n="88" d="100"/>
          <a:sy n="88" d="100"/>
        </p:scale>
        <p:origin x="1524"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nyong Park" userId="d9415017-2acf-4c90-b8cd-5d467cfa0bec" providerId="ADAL" clId="{181F0D77-E2F5-44A0-93EC-E0B147F2743A}"/>
    <pc:docChg chg="modSld">
      <pc:chgData name="Wonyong Park" userId="d9415017-2acf-4c90-b8cd-5d467cfa0bec" providerId="ADAL" clId="{181F0D77-E2F5-44A0-93EC-E0B147F2743A}" dt="2023-12-14T23:14:51.627" v="8" actId="1036"/>
      <pc:docMkLst>
        <pc:docMk/>
      </pc:docMkLst>
      <pc:sldChg chg="modSp mod">
        <pc:chgData name="Wonyong Park" userId="d9415017-2acf-4c90-b8cd-5d467cfa0bec" providerId="ADAL" clId="{181F0D77-E2F5-44A0-93EC-E0B147F2743A}" dt="2023-12-14T23:14:51.627" v="8" actId="1036"/>
        <pc:sldMkLst>
          <pc:docMk/>
          <pc:sldMk cId="0" sldId="282"/>
        </pc:sldMkLst>
        <pc:graphicFrameChg chg="mod modGraphic">
          <ac:chgData name="Wonyong Park" userId="d9415017-2acf-4c90-b8cd-5d467cfa0bec" providerId="ADAL" clId="{181F0D77-E2F5-44A0-93EC-E0B147F2743A}" dt="2023-12-14T23:14:51.627" v="8" actId="1036"/>
          <ac:graphicFrameMkLst>
            <pc:docMk/>
            <pc:sldMk cId="0" sldId="282"/>
            <ac:graphicFrameMk id="4" creationId="{CC305A9B-8696-456B-83FA-2D0D8772B3EC}"/>
          </ac:graphicFrameMkLst>
        </pc:graphicFrameChg>
      </pc:sldChg>
    </pc:docChg>
  </pc:docChgLst>
  <pc:docChgLst>
    <pc:chgData name="Rachele Newman" userId="S::rm1c10@soton.ac.uk::69351afb-65e9-4c98-abf6-3350785a7d10" providerId="AD" clId="Web-{897454A1-0930-4E75-7F99-644C996B8FDB}"/>
    <pc:docChg chg="modSld sldOrd">
      <pc:chgData name="Rachele Newman" userId="S::rm1c10@soton.ac.uk::69351afb-65e9-4c98-abf6-3350785a7d10" providerId="AD" clId="Web-{897454A1-0930-4E75-7F99-644C996B8FDB}" dt="2023-12-08T09:08:15.669" v="136" actId="20577"/>
      <pc:docMkLst>
        <pc:docMk/>
      </pc:docMkLst>
      <pc:sldChg chg="modSp">
        <pc:chgData name="Rachele Newman" userId="S::rm1c10@soton.ac.uk::69351afb-65e9-4c98-abf6-3350785a7d10" providerId="AD" clId="Web-{897454A1-0930-4E75-7F99-644C996B8FDB}" dt="2023-12-08T09:07:18.948" v="126" actId="20577"/>
        <pc:sldMkLst>
          <pc:docMk/>
          <pc:sldMk cId="0" sldId="262"/>
        </pc:sldMkLst>
        <pc:spChg chg="mod">
          <ac:chgData name="Rachele Newman" userId="S::rm1c10@soton.ac.uk::69351afb-65e9-4c98-abf6-3350785a7d10" providerId="AD" clId="Web-{897454A1-0930-4E75-7F99-644C996B8FDB}" dt="2023-12-08T09:07:09.948" v="124" actId="20577"/>
          <ac:spMkLst>
            <pc:docMk/>
            <pc:sldMk cId="0" sldId="262"/>
            <ac:spMk id="3077" creationId="{693430F4-F10A-46CD-A471-0954E05ABE6F}"/>
          </ac:spMkLst>
        </pc:spChg>
        <pc:spChg chg="mod">
          <ac:chgData name="Rachele Newman" userId="S::rm1c10@soton.ac.uk::69351afb-65e9-4c98-abf6-3350785a7d10" providerId="AD" clId="Web-{897454A1-0930-4E75-7F99-644C996B8FDB}" dt="2023-12-08T09:07:03.088" v="123" actId="20577"/>
          <ac:spMkLst>
            <pc:docMk/>
            <pc:sldMk cId="0" sldId="262"/>
            <ac:spMk id="3078" creationId="{933F0606-2727-4754-9365-64C8A509660C}"/>
          </ac:spMkLst>
        </pc:spChg>
        <pc:spChg chg="mod">
          <ac:chgData name="Rachele Newman" userId="S::rm1c10@soton.ac.uk::69351afb-65e9-4c98-abf6-3350785a7d10" providerId="AD" clId="Web-{897454A1-0930-4E75-7F99-644C996B8FDB}" dt="2023-12-08T09:07:18.948" v="126" actId="20577"/>
          <ac:spMkLst>
            <pc:docMk/>
            <pc:sldMk cId="0" sldId="262"/>
            <ac:spMk id="3079" creationId="{D853DD0E-C7EC-4459-807A-7BAF010B0142}"/>
          </ac:spMkLst>
        </pc:spChg>
      </pc:sldChg>
      <pc:sldChg chg="modSp ord">
        <pc:chgData name="Rachele Newman" userId="S::rm1c10@soton.ac.uk::69351afb-65e9-4c98-abf6-3350785a7d10" providerId="AD" clId="Web-{897454A1-0930-4E75-7F99-644C996B8FDB}" dt="2023-12-08T09:05:15.412" v="115" actId="20577"/>
        <pc:sldMkLst>
          <pc:docMk/>
          <pc:sldMk cId="3480611031" sldId="303"/>
        </pc:sldMkLst>
        <pc:spChg chg="mod">
          <ac:chgData name="Rachele Newman" userId="S::rm1c10@soton.ac.uk::69351afb-65e9-4c98-abf6-3350785a7d10" providerId="AD" clId="Web-{897454A1-0930-4E75-7F99-644C996B8FDB}" dt="2023-12-08T09:05:15.412" v="115" actId="20577"/>
          <ac:spMkLst>
            <pc:docMk/>
            <pc:sldMk cId="3480611031" sldId="303"/>
            <ac:spMk id="6" creationId="{CB0D8EAC-FF30-4E9B-96DF-8B16CC35A835}"/>
          </ac:spMkLst>
        </pc:spChg>
        <pc:spChg chg="mod">
          <ac:chgData name="Rachele Newman" userId="S::rm1c10@soton.ac.uk::69351afb-65e9-4c98-abf6-3350785a7d10" providerId="AD" clId="Web-{897454A1-0930-4E75-7F99-644C996B8FDB}" dt="2023-12-08T08:54:07.952" v="8" actId="20577"/>
          <ac:spMkLst>
            <pc:docMk/>
            <pc:sldMk cId="3480611031" sldId="303"/>
            <ac:spMk id="8" creationId="{00000000-0000-0000-0000-000000000000}"/>
          </ac:spMkLst>
        </pc:spChg>
      </pc:sldChg>
      <pc:sldChg chg="modSp">
        <pc:chgData name="Rachele Newman" userId="S::rm1c10@soton.ac.uk::69351afb-65e9-4c98-abf6-3350785a7d10" providerId="AD" clId="Web-{897454A1-0930-4E75-7F99-644C996B8FDB}" dt="2023-12-08T08:53:58.171" v="5" actId="20577"/>
        <pc:sldMkLst>
          <pc:docMk/>
          <pc:sldMk cId="441658374" sldId="1114"/>
        </pc:sldMkLst>
        <pc:spChg chg="mod">
          <ac:chgData name="Rachele Newman" userId="S::rm1c10@soton.ac.uk::69351afb-65e9-4c98-abf6-3350785a7d10" providerId="AD" clId="Web-{897454A1-0930-4E75-7F99-644C996B8FDB}" dt="2023-12-08T08:53:58.171" v="5" actId="20577"/>
          <ac:spMkLst>
            <pc:docMk/>
            <pc:sldMk cId="441658374" sldId="1114"/>
            <ac:spMk id="8" creationId="{00000000-0000-0000-0000-000000000000}"/>
          </ac:spMkLst>
        </pc:spChg>
      </pc:sldChg>
      <pc:sldChg chg="modSp">
        <pc:chgData name="Rachele Newman" userId="S::rm1c10@soton.ac.uk::69351afb-65e9-4c98-abf6-3350785a7d10" providerId="AD" clId="Web-{897454A1-0930-4E75-7F99-644C996B8FDB}" dt="2023-12-08T09:08:15.669" v="136" actId="20577"/>
        <pc:sldMkLst>
          <pc:docMk/>
          <pc:sldMk cId="576097755" sldId="1115"/>
        </pc:sldMkLst>
        <pc:spChg chg="mod">
          <ac:chgData name="Rachele Newman" userId="S::rm1c10@soton.ac.uk::69351afb-65e9-4c98-abf6-3350785a7d10" providerId="AD" clId="Web-{897454A1-0930-4E75-7F99-644C996B8FDB}" dt="2023-12-08T09:08:15.669" v="136" actId="20577"/>
          <ac:spMkLst>
            <pc:docMk/>
            <pc:sldMk cId="576097755" sldId="1115"/>
            <ac:spMk id="6" creationId="{CB0D8EAC-FF30-4E9B-96DF-8B16CC35A835}"/>
          </ac:spMkLst>
        </pc:spChg>
        <pc:spChg chg="mod">
          <ac:chgData name="Rachele Newman" userId="S::rm1c10@soton.ac.uk::69351afb-65e9-4c98-abf6-3350785a7d10" providerId="AD" clId="Web-{897454A1-0930-4E75-7F99-644C996B8FDB}" dt="2023-12-08T09:08:04.356" v="129" actId="20577"/>
          <ac:spMkLst>
            <pc:docMk/>
            <pc:sldMk cId="576097755" sldId="1115"/>
            <ac:spMk id="8" creationId="{00000000-0000-0000-0000-000000000000}"/>
          </ac:spMkLst>
        </pc:spChg>
      </pc:sldChg>
      <pc:sldChg chg="modSp">
        <pc:chgData name="Rachele Newman" userId="S::rm1c10@soton.ac.uk::69351afb-65e9-4c98-abf6-3350785a7d10" providerId="AD" clId="Web-{897454A1-0930-4E75-7F99-644C996B8FDB}" dt="2023-12-08T09:06:25.555" v="122" actId="20577"/>
        <pc:sldMkLst>
          <pc:docMk/>
          <pc:sldMk cId="1955465030" sldId="1116"/>
        </pc:sldMkLst>
        <pc:spChg chg="mod">
          <ac:chgData name="Rachele Newman" userId="S::rm1c10@soton.ac.uk::69351afb-65e9-4c98-abf6-3350785a7d10" providerId="AD" clId="Web-{897454A1-0930-4E75-7F99-644C996B8FDB}" dt="2023-12-08T09:06:25.555" v="122" actId="20577"/>
          <ac:spMkLst>
            <pc:docMk/>
            <pc:sldMk cId="1955465030" sldId="1116"/>
            <ac:spMk id="6" creationId="{CB0D8EAC-FF30-4E9B-96DF-8B16CC35A8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A2D9CC5F-36D1-4EAE-A6DA-7F1490108852}" type="datetimeFigureOut">
              <a:rPr lang="en-US" smtClean="0"/>
              <a:t>12/14/2023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C906402-F645-400E-8A9D-5789B790A07F}" type="slidenum">
              <a:rPr lang="en-US" smtClean="0"/>
              <a:t>‹#›</a:t>
            </a:fld>
            <a:endParaRPr lang="en-US"/>
          </a:p>
        </p:txBody>
      </p:sp>
    </p:spTree>
    <p:extLst>
      <p:ext uri="{BB962C8B-B14F-4D97-AF65-F5344CB8AC3E}">
        <p14:creationId xmlns:p14="http://schemas.microsoft.com/office/powerpoint/2010/main" val="1083592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defTabSz="915680">
              <a:defRPr/>
            </a:pPr>
            <a:fld id="{BFFC0FE9-6B4D-4476-AD5A-735A59340F61}" type="slidenum">
              <a:rPr lang="en-GB">
                <a:solidFill>
                  <a:prstClr val="black"/>
                </a:solidFill>
                <a:latin typeface="Calibri"/>
              </a:rPr>
              <a:pPr defTabSz="915680">
                <a:defRPr/>
              </a:pPr>
              <a:t>1</a:t>
            </a:fld>
            <a:endParaRPr lang="en-GB">
              <a:solidFill>
                <a:prstClr val="black"/>
              </a:solidFill>
              <a:latin typeface="Calibri"/>
            </a:endParaRPr>
          </a:p>
        </p:txBody>
      </p:sp>
    </p:spTree>
    <p:extLst>
      <p:ext uri="{BB962C8B-B14F-4D97-AF65-F5344CB8AC3E}">
        <p14:creationId xmlns:p14="http://schemas.microsoft.com/office/powerpoint/2010/main" val="419451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defTabSz="915680">
              <a:defRPr/>
            </a:pPr>
            <a:fld id="{BFFC0FE9-6B4D-4476-AD5A-735A59340F61}" type="slidenum">
              <a:rPr lang="en-GB">
                <a:solidFill>
                  <a:prstClr val="black"/>
                </a:solidFill>
                <a:latin typeface="Calibri"/>
              </a:rPr>
              <a:pPr defTabSz="915680">
                <a:defRPr/>
              </a:pPr>
              <a:t>2</a:t>
            </a:fld>
            <a:endParaRPr lang="en-GB">
              <a:solidFill>
                <a:prstClr val="black"/>
              </a:solidFill>
              <a:latin typeface="Calibri"/>
            </a:endParaRPr>
          </a:p>
        </p:txBody>
      </p:sp>
    </p:spTree>
    <p:extLst>
      <p:ext uri="{BB962C8B-B14F-4D97-AF65-F5344CB8AC3E}">
        <p14:creationId xmlns:p14="http://schemas.microsoft.com/office/powerpoint/2010/main" val="2693918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Rationale: </a:t>
            </a:r>
            <a:r>
              <a:rPr lang="en-GB"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Throughout this lesson, students will build on their prior learning from the previous lessons looking at why the Titanic disaster happened and why it was significant.  Using the different cause factors identified in lesson 2, students will now apportion blame for these errors, building to them creating their own interpretation of “Who was to blame”.  Students will then have the chance to compare their interpretation to two real life views, that of the US and British enquiries into the disaster.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defTabSz="915680">
              <a:defRPr/>
            </a:pPr>
            <a:fld id="{BFFC0FE9-6B4D-4476-AD5A-735A59340F61}" type="slidenum">
              <a:rPr lang="en-GB">
                <a:solidFill>
                  <a:prstClr val="black"/>
                </a:solidFill>
                <a:latin typeface="Calibri"/>
              </a:rPr>
              <a:pPr defTabSz="915680">
                <a:defRPr/>
              </a:pPr>
              <a:t>3</a:t>
            </a:fld>
            <a:endParaRPr lang="en-GB">
              <a:solidFill>
                <a:prstClr val="black"/>
              </a:solidFill>
              <a:latin typeface="Calibri"/>
            </a:endParaRPr>
          </a:p>
        </p:txBody>
      </p:sp>
    </p:spTree>
    <p:extLst>
      <p:ext uri="{BB962C8B-B14F-4D97-AF65-F5344CB8AC3E}">
        <p14:creationId xmlns:p14="http://schemas.microsoft.com/office/powerpoint/2010/main" val="250602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8DF782-FBC5-4B41-BF1A-5CA7E7F4476D}" type="slidenum">
              <a:rPr lang="en-GB" smtClean="0"/>
              <a:t>4</a:t>
            </a:fld>
            <a:endParaRPr lang="en-GB"/>
          </a:p>
        </p:txBody>
      </p:sp>
    </p:spTree>
    <p:extLst>
      <p:ext uri="{BB962C8B-B14F-4D97-AF65-F5344CB8AC3E}">
        <p14:creationId xmlns:p14="http://schemas.microsoft.com/office/powerpoint/2010/main" val="850555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defTabSz="915680">
              <a:defRPr/>
            </a:pPr>
            <a:fld id="{BFFC0FE9-6B4D-4476-AD5A-735A59340F61}" type="slidenum">
              <a:rPr lang="en-GB">
                <a:solidFill>
                  <a:prstClr val="black"/>
                </a:solidFill>
                <a:latin typeface="Calibri"/>
              </a:rPr>
              <a:pPr defTabSz="915680">
                <a:defRPr/>
              </a:pPr>
              <a:t>5</a:t>
            </a:fld>
            <a:endParaRPr lang="en-GB">
              <a:solidFill>
                <a:prstClr val="black"/>
              </a:solidFill>
              <a:latin typeface="Calibri"/>
            </a:endParaRPr>
          </a:p>
        </p:txBody>
      </p:sp>
    </p:spTree>
    <p:extLst>
      <p:ext uri="{BB962C8B-B14F-4D97-AF65-F5344CB8AC3E}">
        <p14:creationId xmlns:p14="http://schemas.microsoft.com/office/powerpoint/2010/main" val="415323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sz="1200" dirty="0">
                <a:solidFill>
                  <a:schemeClr val="bg1"/>
                </a:solidFill>
                <a:latin typeface="Comic Sans MS" pitchFamily="66" charset="0"/>
              </a:rPr>
              <a:t>Listen to the song and read through the lyrics</a:t>
            </a:r>
          </a:p>
          <a:p>
            <a:pPr>
              <a:defRPr/>
            </a:pPr>
            <a:r>
              <a:rPr lang="en-GB" sz="1200" dirty="0">
                <a:solidFill>
                  <a:schemeClr val="bg1"/>
                </a:solidFill>
                <a:latin typeface="Comic Sans MS" pitchFamily="66" charset="0"/>
              </a:rPr>
              <a:t>Who does it suggest could be to blame for the Titanic disaster?</a:t>
            </a:r>
          </a:p>
          <a:p>
            <a:pPr>
              <a:defRPr/>
            </a:pPr>
            <a:r>
              <a:rPr lang="en-GB" sz="1200" dirty="0">
                <a:solidFill>
                  <a:schemeClr val="bg1"/>
                </a:solidFill>
                <a:latin typeface="Comic Sans MS" pitchFamily="66" charset="0"/>
              </a:rPr>
              <a:t>What reasons does it give for blaming these people?</a:t>
            </a:r>
            <a:endParaRPr lang="en-GB" sz="900" dirty="0"/>
          </a:p>
          <a:p>
            <a:endParaRPr lang="en-US" dirty="0"/>
          </a:p>
        </p:txBody>
      </p:sp>
      <p:sp>
        <p:nvSpPr>
          <p:cNvPr id="4" name="Slide Number Placeholder 3"/>
          <p:cNvSpPr>
            <a:spLocks noGrp="1"/>
          </p:cNvSpPr>
          <p:nvPr>
            <p:ph type="sldNum" sz="quarter" idx="5"/>
          </p:nvPr>
        </p:nvSpPr>
        <p:spPr/>
        <p:txBody>
          <a:bodyPr/>
          <a:lstStyle/>
          <a:p>
            <a:fld id="{0C906402-F645-400E-8A9D-5789B790A07F}" type="slidenum">
              <a:rPr lang="en-US" smtClean="0"/>
              <a:t>7</a:t>
            </a:fld>
            <a:endParaRPr lang="en-US"/>
          </a:p>
        </p:txBody>
      </p:sp>
    </p:spTree>
    <p:extLst>
      <p:ext uri="{BB962C8B-B14F-4D97-AF65-F5344CB8AC3E}">
        <p14:creationId xmlns:p14="http://schemas.microsoft.com/office/powerpoint/2010/main" val="3363376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906402-F645-400E-8A9D-5789B790A07F}" type="slidenum">
              <a:rPr lang="en-US" smtClean="0"/>
              <a:t>12</a:t>
            </a:fld>
            <a:endParaRPr lang="en-US"/>
          </a:p>
        </p:txBody>
      </p:sp>
    </p:spTree>
    <p:extLst>
      <p:ext uri="{BB962C8B-B14F-4D97-AF65-F5344CB8AC3E}">
        <p14:creationId xmlns:p14="http://schemas.microsoft.com/office/powerpoint/2010/main" val="3037410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DB9A-2020-4734-9EC6-633D896799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A05E46E-4CFC-4C9F-9259-DFDC574253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6155B67-8CD8-4D05-BBC7-B5110E80BCF6}"/>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0E46C803-373C-4B8E-A7DD-B34A88574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E9D81-C363-4AE5-A9C9-53121632B827}"/>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544153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8073-DF1F-4E54-B5CA-4AF82195188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980219-91A1-4957-8334-4F23002E12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E15D7F-8E22-4D4E-912A-3FE39563E2C1}"/>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38DB1C59-3FAD-4B8F-8D05-6253F658E2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E7E1A-D2F5-4598-8E5D-72A808580DE1}"/>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38573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04BC-FFF9-426E-B363-5D11F3C1A0B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6C5B327-43BC-4A2F-856F-FBEC16572C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CD37CC5-84B8-41BB-8F14-B84DB9A4A80D}"/>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63D774CA-F6E9-4455-8218-8BB9951E4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311E3-A48B-44CE-8E1E-F79D27E31734}"/>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2977700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3BFA-7E8E-4138-BF85-8F3257B54E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F323D99-7630-42C0-B7B4-BDD37C7AA51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270E54A-6452-498A-8B8D-9A18A734483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BCCB8FB-34A7-4482-91BD-EF57BA677A59}"/>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6" name="Footer Placeholder 5">
            <a:extLst>
              <a:ext uri="{FF2B5EF4-FFF2-40B4-BE49-F238E27FC236}">
                <a16:creationId xmlns:a16="http://schemas.microsoft.com/office/drawing/2014/main" id="{C7363DFA-0E7A-43D4-8F9A-1417E8D45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638EFF-7B5F-4D40-AC84-C7759AA90476}"/>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2161843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2FA7E-84F2-401E-9CBD-13A2DE9188F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A03FB6F-19D8-4BC0-B11B-9D0157915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C4A8A3B-1016-4ACD-9C31-4C13F92790D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782B52E-07C6-47FF-96EB-36F48AB71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AA3DDCF-5104-4E23-ADFD-9C6EA406A30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769FCF8-6642-4267-8E06-2687D76FA9C4}"/>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8" name="Footer Placeholder 7">
            <a:extLst>
              <a:ext uri="{FF2B5EF4-FFF2-40B4-BE49-F238E27FC236}">
                <a16:creationId xmlns:a16="http://schemas.microsoft.com/office/drawing/2014/main" id="{B24A1872-E4D3-411B-B5E9-32A3B778A1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BD762C-C687-49F3-96C5-C13F2E72DE52}"/>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1622116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DF92E-104E-459B-8BC0-E310DE61C6C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2F23EE-5749-4F9B-860B-841C9781F1F5}"/>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4" name="Footer Placeholder 3">
            <a:extLst>
              <a:ext uri="{FF2B5EF4-FFF2-40B4-BE49-F238E27FC236}">
                <a16:creationId xmlns:a16="http://schemas.microsoft.com/office/drawing/2014/main" id="{7F636B93-570B-4E40-80A4-661203369A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D6F270-42C1-4A13-B6DA-65008FBA9FCC}"/>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1103022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B40E8B-7E21-4D8E-A78D-D61DD9CA5DE2}"/>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3" name="Footer Placeholder 2">
            <a:extLst>
              <a:ext uri="{FF2B5EF4-FFF2-40B4-BE49-F238E27FC236}">
                <a16:creationId xmlns:a16="http://schemas.microsoft.com/office/drawing/2014/main" id="{5FB43652-6881-4451-8DF0-23048D9F73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68CFAE-A23A-4065-A105-411DDF6F3F96}"/>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757019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6EC6-1881-45E7-97AF-21485D8898A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317B054-28AE-4C99-9FF1-B71F4E1D54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9205A3-4A89-4960-9D13-6155F986A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9B9889-BC9B-400C-A136-F91614254507}"/>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6" name="Footer Placeholder 5">
            <a:extLst>
              <a:ext uri="{FF2B5EF4-FFF2-40B4-BE49-F238E27FC236}">
                <a16:creationId xmlns:a16="http://schemas.microsoft.com/office/drawing/2014/main" id="{01F99AEC-BD3B-4A68-9905-50381EFEDF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DB6C7B-8B89-480D-A645-AB0D812C8390}"/>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47155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912B-C383-4597-B81E-1841D1D20C9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F4BE44B-A573-4C48-9391-8521F58EE4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627229-201E-4976-B50E-11B68EFDB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8DEE51F-1E89-490F-BC13-4F6FBFB6B6DD}"/>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6" name="Footer Placeholder 5">
            <a:extLst>
              <a:ext uri="{FF2B5EF4-FFF2-40B4-BE49-F238E27FC236}">
                <a16:creationId xmlns:a16="http://schemas.microsoft.com/office/drawing/2014/main" id="{C232017F-0C9E-4456-BBE2-D32DCE01CC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E72E07-117F-4CDA-ACB6-8E14DD0DE8A4}"/>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785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899D-4C78-453A-8C2E-4BEC7284875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3D0266-BE83-48D3-8904-74ABAD8A71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07B7A4-2939-4DFD-943E-985A5949BA88}"/>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C6810BAB-4E2F-4269-9CB1-C94CEC262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C8852-E48D-4DB5-89D2-2B4FBBA2B9D4}"/>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336313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FD1DC4-EAE9-4AD3-BB25-19F0A208ADA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8520D20-7AC2-4077-83A9-6598211B33C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B42A6F-EFC7-4B89-B94C-181849FDB2E6}"/>
              </a:ext>
            </a:extLst>
          </p:cNvPr>
          <p:cNvSpPr>
            <a:spLocks noGrp="1"/>
          </p:cNvSpPr>
          <p:nvPr>
            <p:ph type="dt" sz="half" idx="10"/>
          </p:nvPr>
        </p:nvSpPr>
        <p:spPr/>
        <p:txBody>
          <a:body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0DB4768E-6B19-475B-A313-B86C7917D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C9ECF-A920-47FD-BA3D-1F5F47709F79}"/>
              </a:ext>
            </a:extLst>
          </p:cNvPr>
          <p:cNvSpPr>
            <a:spLocks noGrp="1"/>
          </p:cNvSpPr>
          <p:nvPr>
            <p:ph type="sldNum" sz="quarter" idx="12"/>
          </p:nvPr>
        </p:nvSpPr>
        <p:spPr/>
        <p:txBody>
          <a:bodyPr/>
          <a:lstStyle/>
          <a:p>
            <a:fld id="{E2C8220C-FBFF-4E79-B8D7-062C8D79ABBA}" type="slidenum">
              <a:rPr lang="en-US" smtClean="0"/>
              <a:t>‹#›</a:t>
            </a:fld>
            <a:endParaRPr lang="en-US"/>
          </a:p>
        </p:txBody>
      </p:sp>
    </p:spTree>
    <p:extLst>
      <p:ext uri="{BB962C8B-B14F-4D97-AF65-F5344CB8AC3E}">
        <p14:creationId xmlns:p14="http://schemas.microsoft.com/office/powerpoint/2010/main" val="1603675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627200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776737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456793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32771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433517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459555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601625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50666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5183188" y="987425"/>
            <a:ext cx="6172200" cy="4873625"/>
          </a:xfrm>
          <a:prstGeom prst="rect">
            <a:avLst/>
          </a:prstGeom>
          <a:noFill/>
          <a:ln>
            <a:noFill/>
          </a:ln>
        </p:spPr>
      </p:sp>
      <p:sp>
        <p:nvSpPr>
          <p:cNvPr id="68" name="Google Shape;68;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670081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7605327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985497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C3C933-CB69-4717-9A63-C00AD4473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26B6BF8-CB08-4219-B598-95B0C077DA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A96F27-150E-4455-A385-7A3911116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27762-625D-49AA-9D0A-31A496B9BF6C}" type="datetimeFigureOut">
              <a:rPr lang="en-US" smtClean="0"/>
              <a:t>12/14/2023</a:t>
            </a:fld>
            <a:endParaRPr lang="en-US"/>
          </a:p>
        </p:txBody>
      </p:sp>
      <p:sp>
        <p:nvSpPr>
          <p:cNvPr id="5" name="Footer Placeholder 4">
            <a:extLst>
              <a:ext uri="{FF2B5EF4-FFF2-40B4-BE49-F238E27FC236}">
                <a16:creationId xmlns:a16="http://schemas.microsoft.com/office/drawing/2014/main" id="{0C4BB838-48FB-4970-9689-0EAD3CCF6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FE7DC3-18E6-4A9F-98EA-953F9816D0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C8220C-FBFF-4E79-B8D7-062C8D79ABBA}" type="slidenum">
              <a:rPr lang="en-US" smtClean="0"/>
              <a:t>‹#›</a:t>
            </a:fld>
            <a:endParaRPr lang="en-US"/>
          </a:p>
        </p:txBody>
      </p:sp>
    </p:spTree>
    <p:extLst>
      <p:ext uri="{BB962C8B-B14F-4D97-AF65-F5344CB8AC3E}">
        <p14:creationId xmlns:p14="http://schemas.microsoft.com/office/powerpoint/2010/main" val="1988900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99797153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mMx6KT7FJv8?feature=oembed" TargetMode="Externa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653759" y="321368"/>
            <a:ext cx="10884481" cy="673244"/>
          </a:xfrm>
          <a:solidFill>
            <a:schemeClr val="bg1"/>
          </a:solidFill>
          <a:ln w="28575">
            <a:solidFill>
              <a:srgbClr val="00B0F0"/>
            </a:solidFill>
          </a:ln>
        </p:spPr>
        <p:style>
          <a:lnRef idx="1">
            <a:schemeClr val="accent2"/>
          </a:lnRef>
          <a:fillRef idx="2">
            <a:schemeClr val="accent2"/>
          </a:fillRef>
          <a:effectRef idx="1">
            <a:schemeClr val="accent2"/>
          </a:effectRef>
          <a:fontRef idx="minor">
            <a:schemeClr val="dk1"/>
          </a:fontRef>
        </p:style>
        <p:txBody>
          <a:bodyPr>
            <a:noAutofit/>
          </a:bodyPr>
          <a:lstStyle/>
          <a:p>
            <a:r>
              <a:rPr lang="en-GB" sz="3200" dirty="0">
                <a:solidFill>
                  <a:schemeClr val="tx1"/>
                </a:solidFill>
                <a:cs typeface="Calibri"/>
              </a:rPr>
              <a:t>Lesson 3:Who was most to blame for the sinking of the Titanic?</a:t>
            </a:r>
          </a:p>
        </p:txBody>
      </p:sp>
      <p:sp>
        <p:nvSpPr>
          <p:cNvPr id="9" name="TextBox 8"/>
          <p:cNvSpPr txBox="1"/>
          <p:nvPr/>
        </p:nvSpPr>
        <p:spPr>
          <a:xfrm>
            <a:off x="653759" y="1236504"/>
            <a:ext cx="10884481" cy="523220"/>
          </a:xfrm>
          <a:prstGeom prst="rect">
            <a:avLst/>
          </a:prstGeom>
          <a:solidFill>
            <a:schemeClr val="accent1">
              <a:lumMod val="50000"/>
            </a:schemeClr>
          </a:solidFill>
          <a:ln w="38100">
            <a:noFill/>
          </a:ln>
        </p:spPr>
        <p:txBody>
          <a:bodyPr wrap="square" lIns="91440" tIns="45720" rIns="91440" bIns="45720" rtlCol="0" anchor="t">
            <a:spAutoFit/>
          </a:bodyPr>
          <a:lstStyle/>
          <a:p>
            <a:pPr algn="ctr" defTabSz="685800">
              <a:defRPr/>
            </a:pPr>
            <a:r>
              <a:rPr lang="en-GB" sz="2800" b="1" dirty="0">
                <a:solidFill>
                  <a:schemeClr val="bg1"/>
                </a:solidFill>
                <a:latin typeface="Calibri"/>
              </a:rPr>
              <a:t>Recall Quiz</a:t>
            </a:r>
          </a:p>
        </p:txBody>
      </p:sp>
      <p:sp>
        <p:nvSpPr>
          <p:cNvPr id="6" name="Title 1">
            <a:extLst>
              <a:ext uri="{FF2B5EF4-FFF2-40B4-BE49-F238E27FC236}">
                <a16:creationId xmlns:a16="http://schemas.microsoft.com/office/drawing/2014/main" id="{CB0D8EAC-FF30-4E9B-96DF-8B16CC35A835}"/>
              </a:ext>
            </a:extLst>
          </p:cNvPr>
          <p:cNvSpPr txBox="1">
            <a:spLocks/>
          </p:cNvSpPr>
          <p:nvPr/>
        </p:nvSpPr>
        <p:spPr bwMode="auto">
          <a:xfrm>
            <a:off x="653758" y="2001616"/>
            <a:ext cx="10884481" cy="4126468"/>
          </a:xfrm>
          <a:prstGeom prst="rect">
            <a:avLst/>
          </a:prstGeom>
          <a:solidFill>
            <a:schemeClr val="bg1"/>
          </a:solidFill>
          <a:ln w="57150">
            <a:solidFill>
              <a:srgbClr val="00B0F0"/>
            </a:solidFill>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4"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4"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4"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4"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4"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4"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4"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4" charset="-128"/>
              </a:defRPr>
            </a:lvl9pPr>
          </a:lstStyle>
          <a:p>
            <a:pPr marL="457200" marR="0" lvl="0" indent="-457200" algn="just" defTabSz="633062" rtl="0" eaLnBrk="1" fontAlgn="auto" latinLnBrk="0" hangingPunct="1">
              <a:lnSpc>
                <a:spcPct val="100000"/>
              </a:lnSpc>
              <a:spcBef>
                <a:spcPts val="0"/>
              </a:spcBef>
              <a:spcAft>
                <a:spcPts val="0"/>
              </a:spcAft>
              <a:buClrTx/>
              <a:buSzTx/>
              <a:buFont typeface="+mj-lt"/>
              <a:buAutoNum type="arabicPeriod"/>
              <a:tabLst/>
              <a:defRPr/>
            </a:pPr>
            <a:r>
              <a:rPr kumimoji="0" lang="en-GB" sz="3200" dirty="0">
                <a:solidFill>
                  <a:prstClr val="black"/>
                </a:solidFill>
                <a:latin typeface="Calibri" panose="020F0502020204030204"/>
                <a:ea typeface="+mn-ea"/>
                <a:cs typeface="+mn-cs"/>
              </a:rPr>
              <a:t>What was one design flaw for the Titanic that contributed to it being such a tragedy? </a:t>
            </a:r>
          </a:p>
          <a:p>
            <a:pPr marL="457200" marR="0" lvl="0" indent="-457200" algn="just" defTabSz="633062" rtl="0" eaLnBrk="1" fontAlgn="auto" latinLnBrk="0" hangingPunct="1">
              <a:lnSpc>
                <a:spcPct val="100000"/>
              </a:lnSpc>
              <a:spcBef>
                <a:spcPts val="0"/>
              </a:spcBef>
              <a:spcAft>
                <a:spcPts val="0"/>
              </a:spcAft>
              <a:buClrTx/>
              <a:buSzTx/>
              <a:buFont typeface="+mj-lt"/>
              <a:buAutoNum type="arabicPeriod"/>
              <a:tabLst/>
              <a:defRPr/>
            </a:pPr>
            <a:r>
              <a:rPr kumimoji="0" lang="en-GB" sz="3200" dirty="0">
                <a:solidFill>
                  <a:prstClr val="black"/>
                </a:solidFill>
                <a:latin typeface="Calibri" panose="020F0502020204030204"/>
                <a:ea typeface="+mn-ea"/>
                <a:cs typeface="+mn-cs"/>
              </a:rPr>
              <a:t>Which company owned the Titanic? </a:t>
            </a:r>
          </a:p>
          <a:p>
            <a:pPr marL="457200" marR="0" lvl="0" indent="-457200" algn="just" defTabSz="633062" rtl="0" eaLnBrk="1" fontAlgn="auto" latinLnBrk="0" hangingPunct="1">
              <a:lnSpc>
                <a:spcPct val="100000"/>
              </a:lnSpc>
              <a:spcBef>
                <a:spcPts val="0"/>
              </a:spcBef>
              <a:spcAft>
                <a:spcPts val="0"/>
              </a:spcAft>
              <a:buClrTx/>
              <a:buSzTx/>
              <a:buFont typeface="+mj-lt"/>
              <a:buAutoNum type="arabicPeriod"/>
              <a:tabLst/>
              <a:defRPr/>
            </a:pPr>
            <a:r>
              <a:rPr kumimoji="0" lang="en-GB" sz="3200" dirty="0">
                <a:solidFill>
                  <a:prstClr val="black"/>
                </a:solidFill>
                <a:latin typeface="Calibri" panose="020F0502020204030204"/>
                <a:ea typeface="+mn-ea"/>
                <a:cs typeface="+mn-cs"/>
              </a:rPr>
              <a:t>What was J Bruce </a:t>
            </a:r>
            <a:r>
              <a:rPr kumimoji="0" lang="en-GB" sz="3200" dirty="0" err="1">
                <a:solidFill>
                  <a:prstClr val="black"/>
                </a:solidFill>
                <a:latin typeface="Calibri" panose="020F0502020204030204"/>
                <a:ea typeface="+mn-ea"/>
                <a:cs typeface="+mn-cs"/>
              </a:rPr>
              <a:t>Ismay</a:t>
            </a:r>
            <a:r>
              <a:rPr kumimoji="0" lang="en-GB" sz="3200" dirty="0">
                <a:solidFill>
                  <a:prstClr val="black"/>
                </a:solidFill>
                <a:latin typeface="Calibri" panose="020F0502020204030204"/>
                <a:ea typeface="+mn-ea"/>
                <a:cs typeface="+mn-cs"/>
              </a:rPr>
              <a:t> alleged to have ordered the captain to do? </a:t>
            </a:r>
          </a:p>
          <a:p>
            <a:pPr marL="457200" marR="0" lvl="0" indent="-457200" algn="just" defTabSz="633062" rtl="0" eaLnBrk="1" fontAlgn="auto" latinLnBrk="0" hangingPunct="1">
              <a:lnSpc>
                <a:spcPct val="100000"/>
              </a:lnSpc>
              <a:spcBef>
                <a:spcPts val="0"/>
              </a:spcBef>
              <a:spcAft>
                <a:spcPts val="0"/>
              </a:spcAft>
              <a:buClrTx/>
              <a:buSzTx/>
              <a:buFont typeface="+mj-lt"/>
              <a:buAutoNum type="arabicPeriod"/>
              <a:tabLst/>
              <a:defRPr/>
            </a:pPr>
            <a:r>
              <a:rPr kumimoji="0" lang="en-GB" sz="3200" dirty="0">
                <a:solidFill>
                  <a:prstClr val="black"/>
                </a:solidFill>
                <a:latin typeface="Calibri" panose="020F0502020204030204"/>
                <a:ea typeface="+mn-ea"/>
                <a:cs typeface="+mn-cs"/>
              </a:rPr>
              <a:t>Why didn’t the California (a nearby ship) help? </a:t>
            </a:r>
          </a:p>
          <a:p>
            <a:pPr marL="457200" marR="0" lvl="0" indent="-457200" algn="just" defTabSz="633062" rtl="0" eaLnBrk="1" fontAlgn="auto" latinLnBrk="0" hangingPunct="1">
              <a:lnSpc>
                <a:spcPct val="100000"/>
              </a:lnSpc>
              <a:spcBef>
                <a:spcPts val="0"/>
              </a:spcBef>
              <a:spcAft>
                <a:spcPts val="0"/>
              </a:spcAft>
              <a:buClrTx/>
              <a:buSzTx/>
              <a:buFont typeface="+mj-lt"/>
              <a:buAutoNum type="arabicPeriod"/>
              <a:tabLst/>
              <a:defRPr/>
            </a:pPr>
            <a:r>
              <a:rPr kumimoji="0" lang="en-GB" sz="3200" dirty="0">
                <a:solidFill>
                  <a:prstClr val="black"/>
                </a:solidFill>
                <a:latin typeface="Calibri" panose="020F0502020204030204"/>
                <a:ea typeface="+mn-ea"/>
                <a:cs typeface="+mn-cs"/>
              </a:rPr>
              <a:t>How much would a first class ticket have been in modern money? </a:t>
            </a:r>
          </a:p>
        </p:txBody>
      </p:sp>
    </p:spTree>
    <p:extLst>
      <p:ext uri="{BB962C8B-B14F-4D97-AF65-F5344CB8AC3E}">
        <p14:creationId xmlns:p14="http://schemas.microsoft.com/office/powerpoint/2010/main" val="44165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653759" y="321368"/>
            <a:ext cx="10884481" cy="673244"/>
          </a:xfrm>
          <a:solidFill>
            <a:schemeClr val="bg1"/>
          </a:solidFill>
          <a:ln w="28575">
            <a:solidFill>
              <a:srgbClr val="00B0F0"/>
            </a:solidFill>
          </a:ln>
        </p:spPr>
        <p:style>
          <a:lnRef idx="1">
            <a:schemeClr val="accent2"/>
          </a:lnRef>
          <a:fillRef idx="2">
            <a:schemeClr val="accent2"/>
          </a:fillRef>
          <a:effectRef idx="1">
            <a:schemeClr val="accent2"/>
          </a:effectRef>
          <a:fontRef idx="minor">
            <a:schemeClr val="dk1"/>
          </a:fontRef>
        </p:style>
        <p:txBody>
          <a:bodyPr>
            <a:noAutofit/>
          </a:bodyPr>
          <a:lstStyle/>
          <a:p>
            <a:r>
              <a:rPr lang="en-GB" sz="3200" dirty="0">
                <a:solidFill>
                  <a:schemeClr val="tx1"/>
                </a:solidFill>
                <a:cs typeface="Calibri"/>
              </a:rPr>
              <a:t>Lesson 3:Who was most to blame for the sinking of the Titanic?</a:t>
            </a:r>
          </a:p>
        </p:txBody>
      </p:sp>
      <p:sp>
        <p:nvSpPr>
          <p:cNvPr id="9" name="TextBox 8"/>
          <p:cNvSpPr txBox="1"/>
          <p:nvPr/>
        </p:nvSpPr>
        <p:spPr>
          <a:xfrm>
            <a:off x="653759" y="1236504"/>
            <a:ext cx="10884481" cy="523220"/>
          </a:xfrm>
          <a:prstGeom prst="rect">
            <a:avLst/>
          </a:prstGeom>
          <a:solidFill>
            <a:schemeClr val="accent1">
              <a:lumMod val="50000"/>
            </a:schemeClr>
          </a:solidFill>
          <a:ln w="38100">
            <a:noFill/>
          </a:ln>
        </p:spPr>
        <p:txBody>
          <a:bodyPr wrap="square" lIns="91440" tIns="45720" rIns="91440" bIns="45720" rtlCol="0" anchor="t">
            <a:spAutoFit/>
          </a:bodyPr>
          <a:lstStyle/>
          <a:p>
            <a:pPr algn="ctr" defTabSz="685800">
              <a:defRPr/>
            </a:pPr>
            <a:r>
              <a:rPr lang="en-GB" sz="2800" b="1" dirty="0">
                <a:solidFill>
                  <a:schemeClr val="bg1"/>
                </a:solidFill>
                <a:latin typeface="Calibri"/>
              </a:rPr>
              <a:t>Recall Quiz</a:t>
            </a:r>
          </a:p>
        </p:txBody>
      </p:sp>
      <p:sp>
        <p:nvSpPr>
          <p:cNvPr id="6" name="Title 1">
            <a:extLst>
              <a:ext uri="{FF2B5EF4-FFF2-40B4-BE49-F238E27FC236}">
                <a16:creationId xmlns:a16="http://schemas.microsoft.com/office/drawing/2014/main" id="{CB0D8EAC-FF30-4E9B-96DF-8B16CC35A835}"/>
              </a:ext>
            </a:extLst>
          </p:cNvPr>
          <p:cNvSpPr txBox="1">
            <a:spLocks/>
          </p:cNvSpPr>
          <p:nvPr/>
        </p:nvSpPr>
        <p:spPr bwMode="auto">
          <a:xfrm>
            <a:off x="653758" y="2001616"/>
            <a:ext cx="10884481" cy="4507468"/>
          </a:xfrm>
          <a:prstGeom prst="rect">
            <a:avLst/>
          </a:prstGeom>
          <a:solidFill>
            <a:schemeClr val="bg1"/>
          </a:solidFill>
          <a:ln w="57150">
            <a:solidFill>
              <a:srgbClr val="00B0F0"/>
            </a:solidFill>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4"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4"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4"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4"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4"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4"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4"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4" charset="-128"/>
              </a:defRPr>
            </a:lvl9pPr>
          </a:lstStyle>
          <a:p>
            <a:pPr marL="457200" indent="-457200" algn="just" defTabSz="633062" eaLnBrk="1" fontAlgn="auto" hangingPunct="1">
              <a:spcBef>
                <a:spcPts val="0"/>
              </a:spcBef>
              <a:spcAft>
                <a:spcPts val="0"/>
              </a:spcAft>
              <a:buFont typeface="+mj-lt"/>
              <a:buAutoNum type="arabicPeriod"/>
              <a:defRPr/>
            </a:pPr>
            <a:r>
              <a:rPr kumimoji="0" lang="en-GB" sz="3200" dirty="0">
                <a:solidFill>
                  <a:prstClr val="black"/>
                </a:solidFill>
                <a:latin typeface="Calibri" panose="020F0502020204030204"/>
                <a:ea typeface="+mn-ea"/>
                <a:cs typeface="+mn-cs"/>
              </a:rPr>
              <a:t>What was one design flaw for the Titanic that contributed to it being such a tragedy? </a:t>
            </a:r>
            <a:r>
              <a:rPr kumimoji="0" lang="en-GB" sz="2400" dirty="0">
                <a:solidFill>
                  <a:srgbClr val="FF0000"/>
                </a:solidFill>
                <a:latin typeface="Calibri" panose="020F0502020204030204"/>
                <a:ea typeface="+mn-ea"/>
                <a:cs typeface="+mn-cs"/>
              </a:rPr>
              <a:t>Watertight Bulkheads </a:t>
            </a:r>
            <a:endParaRPr kumimoji="0" lang="en-GB" sz="2400" dirty="0">
              <a:solidFill>
                <a:prstClr val="black"/>
              </a:solidFill>
              <a:latin typeface="Calibri" panose="020F0502020204030204"/>
              <a:ea typeface="+mn-ea"/>
              <a:cs typeface="+mn-cs"/>
            </a:endParaRPr>
          </a:p>
          <a:p>
            <a:pPr marL="457200" indent="-457200" algn="just" defTabSz="633062" eaLnBrk="1" fontAlgn="auto" hangingPunct="1">
              <a:spcBef>
                <a:spcPts val="0"/>
              </a:spcBef>
              <a:spcAft>
                <a:spcPts val="0"/>
              </a:spcAft>
              <a:buFont typeface="+mj-lt"/>
              <a:buAutoNum type="arabicPeriod"/>
              <a:defRPr/>
            </a:pPr>
            <a:r>
              <a:rPr kumimoji="0" lang="en-GB" sz="3200" dirty="0">
                <a:solidFill>
                  <a:prstClr val="black"/>
                </a:solidFill>
                <a:latin typeface="Calibri" panose="020F0502020204030204"/>
                <a:ea typeface="+mn-ea"/>
                <a:cs typeface="+mn-cs"/>
              </a:rPr>
              <a:t>Which company owned the Titanic? </a:t>
            </a:r>
            <a:r>
              <a:rPr kumimoji="0" lang="en-GB" sz="2400" dirty="0">
                <a:solidFill>
                  <a:srgbClr val="FF0000"/>
                </a:solidFill>
                <a:latin typeface="Calibri" panose="020F0502020204030204"/>
                <a:ea typeface="+mn-ea"/>
                <a:cs typeface="+mn-cs"/>
              </a:rPr>
              <a:t>White Star Line</a:t>
            </a:r>
            <a:endParaRPr lang="en-GB" sz="2400" dirty="0">
              <a:solidFill>
                <a:srgbClr val="FF0000"/>
              </a:solidFill>
              <a:latin typeface="Calibri" panose="020F0502020204030204"/>
              <a:ea typeface="+mn-ea"/>
              <a:cs typeface="Calibri"/>
            </a:endParaRPr>
          </a:p>
          <a:p>
            <a:pPr marL="457200" indent="-457200" algn="just" defTabSz="633062" eaLnBrk="1" fontAlgn="auto" hangingPunct="1">
              <a:spcBef>
                <a:spcPts val="0"/>
              </a:spcBef>
              <a:spcAft>
                <a:spcPts val="0"/>
              </a:spcAft>
              <a:buFont typeface="+mj-lt"/>
              <a:buAutoNum type="arabicPeriod"/>
              <a:defRPr/>
            </a:pPr>
            <a:r>
              <a:rPr kumimoji="0" lang="en-GB" sz="3200" dirty="0">
                <a:solidFill>
                  <a:prstClr val="black"/>
                </a:solidFill>
                <a:latin typeface="Calibri" panose="020F0502020204030204"/>
                <a:ea typeface="+mn-ea"/>
                <a:cs typeface="+mn-cs"/>
              </a:rPr>
              <a:t>What was J Bruce Ismay alleged to have ordered the captain to do? </a:t>
            </a:r>
            <a:r>
              <a:rPr kumimoji="0" lang="en-GB" sz="2400" dirty="0">
                <a:solidFill>
                  <a:srgbClr val="FF0000"/>
                </a:solidFill>
                <a:latin typeface="Calibri" panose="020F0502020204030204"/>
                <a:ea typeface="+mn-ea"/>
                <a:cs typeface="+mn-cs"/>
              </a:rPr>
              <a:t>Increase ship's speed</a:t>
            </a:r>
            <a:endParaRPr lang="en-GB" sz="2400" dirty="0">
              <a:solidFill>
                <a:srgbClr val="FF0000"/>
              </a:solidFill>
              <a:latin typeface="Calibri" panose="020F0502020204030204"/>
              <a:ea typeface="+mn-ea"/>
              <a:cs typeface="Calibri"/>
            </a:endParaRPr>
          </a:p>
          <a:p>
            <a:pPr marL="457200" indent="-457200" algn="just" defTabSz="633062" eaLnBrk="1" fontAlgn="auto" hangingPunct="1">
              <a:spcBef>
                <a:spcPts val="0"/>
              </a:spcBef>
              <a:spcAft>
                <a:spcPts val="0"/>
              </a:spcAft>
              <a:buFont typeface="+mj-lt"/>
              <a:buAutoNum type="arabicPeriod"/>
              <a:defRPr/>
            </a:pPr>
            <a:r>
              <a:rPr kumimoji="0" lang="en-GB" sz="3200" dirty="0">
                <a:solidFill>
                  <a:prstClr val="black"/>
                </a:solidFill>
                <a:latin typeface="Calibri" panose="020F0502020204030204"/>
                <a:ea typeface="+mn-ea"/>
                <a:cs typeface="+mn-cs"/>
              </a:rPr>
              <a:t>Why didn’t the Californian (a nearby ship) help? </a:t>
            </a:r>
            <a:r>
              <a:rPr kumimoji="0" lang="en-GB" sz="2400" dirty="0">
                <a:solidFill>
                  <a:srgbClr val="FF0000"/>
                </a:solidFill>
                <a:latin typeface="Calibri" panose="020F0502020204030204"/>
                <a:ea typeface="+mn-ea"/>
                <a:cs typeface="+mn-cs"/>
              </a:rPr>
              <a:t>The distress signal was never received as Californian turned their radio off</a:t>
            </a:r>
            <a:endParaRPr lang="en-GB" sz="2400" dirty="0">
              <a:solidFill>
                <a:prstClr val="black"/>
              </a:solidFill>
              <a:latin typeface="Calibri" panose="020F0502020204030204"/>
              <a:ea typeface="+mn-ea"/>
              <a:cs typeface="Calibri"/>
            </a:endParaRPr>
          </a:p>
          <a:p>
            <a:pPr marL="457200" indent="-457200" algn="just" defTabSz="633062" eaLnBrk="1" fontAlgn="auto" hangingPunct="1">
              <a:spcBef>
                <a:spcPts val="0"/>
              </a:spcBef>
              <a:spcAft>
                <a:spcPts val="0"/>
              </a:spcAft>
              <a:buFont typeface="+mj-lt"/>
              <a:buAutoNum type="arabicPeriod"/>
              <a:defRPr/>
            </a:pPr>
            <a:r>
              <a:rPr kumimoji="0" lang="en-GB" sz="3200" dirty="0">
                <a:solidFill>
                  <a:prstClr val="black"/>
                </a:solidFill>
                <a:latin typeface="Calibri" panose="020F0502020204030204"/>
                <a:ea typeface="+mn-ea"/>
                <a:cs typeface="+mn-cs"/>
              </a:rPr>
              <a:t>How much would a first class ticket have been in modern money? </a:t>
            </a:r>
            <a:r>
              <a:rPr kumimoji="0" lang="en-GB" sz="2000" dirty="0">
                <a:solidFill>
                  <a:srgbClr val="FF0000"/>
                </a:solidFill>
                <a:latin typeface="Calibri" panose="020F0502020204030204"/>
                <a:ea typeface="+mn-ea"/>
                <a:cs typeface="+mn-cs"/>
              </a:rPr>
              <a:t>£850 in 1912 equating to £105,000 in today's money</a:t>
            </a:r>
            <a:endParaRPr lang="en-GB" sz="2000" dirty="0">
              <a:solidFill>
                <a:srgbClr val="FF0000"/>
              </a:solidFill>
              <a:latin typeface="Calibri" panose="020F0502020204030204"/>
              <a:ea typeface="+mn-ea"/>
              <a:cs typeface="Calibri"/>
            </a:endParaRPr>
          </a:p>
        </p:txBody>
      </p:sp>
    </p:spTree>
    <p:extLst>
      <p:ext uri="{BB962C8B-B14F-4D97-AF65-F5344CB8AC3E}">
        <p14:creationId xmlns:p14="http://schemas.microsoft.com/office/powerpoint/2010/main" val="348061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653759" y="321368"/>
            <a:ext cx="10884481" cy="673244"/>
          </a:xfrm>
          <a:solidFill>
            <a:schemeClr val="bg1"/>
          </a:solidFill>
          <a:ln w="28575">
            <a:solidFill>
              <a:srgbClr val="00B0F0"/>
            </a:solidFill>
          </a:ln>
        </p:spPr>
        <p:style>
          <a:lnRef idx="1">
            <a:schemeClr val="accent2"/>
          </a:lnRef>
          <a:fillRef idx="2">
            <a:schemeClr val="accent2"/>
          </a:fillRef>
          <a:effectRef idx="1">
            <a:schemeClr val="accent2"/>
          </a:effectRef>
          <a:fontRef idx="minor">
            <a:schemeClr val="dk1"/>
          </a:fontRef>
        </p:style>
        <p:txBody>
          <a:bodyPr>
            <a:noAutofit/>
          </a:bodyPr>
          <a:lstStyle/>
          <a:p>
            <a:r>
              <a:rPr lang="en-GB" sz="3200" dirty="0">
                <a:solidFill>
                  <a:schemeClr val="tx1"/>
                </a:solidFill>
                <a:cs typeface="Calibri"/>
              </a:rPr>
              <a:t>Lesson 3:Who was most to blame for the disaster of the Titanic?</a:t>
            </a:r>
          </a:p>
        </p:txBody>
      </p:sp>
      <p:sp>
        <p:nvSpPr>
          <p:cNvPr id="6" name="Title 1">
            <a:extLst>
              <a:ext uri="{FF2B5EF4-FFF2-40B4-BE49-F238E27FC236}">
                <a16:creationId xmlns:a16="http://schemas.microsoft.com/office/drawing/2014/main" id="{CB0D8EAC-FF30-4E9B-96DF-8B16CC35A835}"/>
              </a:ext>
            </a:extLst>
          </p:cNvPr>
          <p:cNvSpPr txBox="1">
            <a:spLocks/>
          </p:cNvSpPr>
          <p:nvPr/>
        </p:nvSpPr>
        <p:spPr bwMode="auto">
          <a:xfrm>
            <a:off x="653758" y="1260836"/>
            <a:ext cx="10884481" cy="4126468"/>
          </a:xfrm>
          <a:prstGeom prst="rect">
            <a:avLst/>
          </a:prstGeom>
          <a:solidFill>
            <a:schemeClr val="bg1"/>
          </a:solidFill>
          <a:ln w="57150">
            <a:solidFill>
              <a:srgbClr val="00B0F0"/>
            </a:solidFill>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4"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4"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4"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4"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4"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4"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4"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4" charset="-128"/>
              </a:defRPr>
            </a:lvl9pPr>
          </a:lstStyle>
          <a:p>
            <a:pPr marR="0" lvl="0" algn="just" defTabSz="633062" rtl="0" eaLnBrk="1" fontAlgn="auto" latinLnBrk="0" hangingPunct="1">
              <a:lnSpc>
                <a:spcPct val="100000"/>
              </a:lnSpc>
              <a:spcBef>
                <a:spcPts val="0"/>
              </a:spcBef>
              <a:spcAft>
                <a:spcPts val="0"/>
              </a:spcAft>
              <a:buClrTx/>
              <a:buSzTx/>
              <a:tabLst/>
              <a:defRPr/>
            </a:pPr>
            <a:r>
              <a:rPr kumimoji="0" lang="en-GB" sz="3200" dirty="0">
                <a:solidFill>
                  <a:prstClr val="black"/>
                </a:solidFill>
                <a:latin typeface="Calibri" panose="020F0502020204030204"/>
                <a:ea typeface="+mn-ea"/>
                <a:cs typeface="+mn-cs"/>
              </a:rPr>
              <a:t>Objectives: </a:t>
            </a:r>
          </a:p>
          <a:p>
            <a:pPr marR="0" lvl="0" algn="just" defTabSz="633062" rtl="0" eaLnBrk="1" fontAlgn="auto" latinLnBrk="0" hangingPunct="1">
              <a:lnSpc>
                <a:spcPct val="100000"/>
              </a:lnSpc>
              <a:spcBef>
                <a:spcPts val="0"/>
              </a:spcBef>
              <a:spcAft>
                <a:spcPts val="0"/>
              </a:spcAft>
              <a:buClrTx/>
              <a:buSzTx/>
              <a:tabLst/>
              <a:defRPr/>
            </a:pPr>
            <a:endParaRPr kumimoji="0" lang="en-GB" sz="3200" dirty="0">
              <a:solidFill>
                <a:prstClr val="black"/>
              </a:solidFill>
              <a:latin typeface="Calibri" panose="020F0502020204030204"/>
              <a:ea typeface="+mn-ea"/>
              <a:cs typeface="+mn-cs"/>
            </a:endParaRPr>
          </a:p>
          <a:p>
            <a:pPr algn="just" defTabSz="633062" eaLnBrk="1" fontAlgn="auto" hangingPunct="1">
              <a:spcBef>
                <a:spcPts val="0"/>
              </a:spcBef>
              <a:spcAft>
                <a:spcPts val="0"/>
              </a:spcAft>
              <a:defRPr/>
            </a:pPr>
            <a:r>
              <a:rPr kumimoji="0" lang="en-GB" sz="3200" dirty="0">
                <a:solidFill>
                  <a:prstClr val="black"/>
                </a:solidFill>
                <a:latin typeface="Calibri" panose="020F0502020204030204"/>
                <a:ea typeface="+mn-ea"/>
                <a:cs typeface="+mn-cs"/>
              </a:rPr>
              <a:t>To construct an interpretation as to who was most to blame for the Titanic disaster</a:t>
            </a:r>
            <a:endParaRPr lang="en-GB" sz="3200" dirty="0">
              <a:solidFill>
                <a:prstClr val="black"/>
              </a:solidFill>
              <a:latin typeface="Calibri" panose="020F0502020204030204"/>
              <a:ea typeface="+mn-ea"/>
              <a:cs typeface="Calibri"/>
            </a:endParaRPr>
          </a:p>
          <a:p>
            <a:pPr marR="0" lvl="0" algn="just" defTabSz="633062" rtl="0" eaLnBrk="1" fontAlgn="auto" latinLnBrk="0" hangingPunct="1">
              <a:lnSpc>
                <a:spcPct val="100000"/>
              </a:lnSpc>
              <a:spcBef>
                <a:spcPts val="0"/>
              </a:spcBef>
              <a:spcAft>
                <a:spcPts val="0"/>
              </a:spcAft>
              <a:buClrTx/>
              <a:buSzTx/>
              <a:tabLst/>
              <a:defRPr/>
            </a:pPr>
            <a:endParaRPr kumimoji="0" lang="en-GB" sz="3200" dirty="0">
              <a:solidFill>
                <a:prstClr val="black"/>
              </a:solidFill>
              <a:latin typeface="Calibri" panose="020F0502020204030204"/>
              <a:ea typeface="+mn-ea"/>
              <a:cs typeface="+mn-cs"/>
            </a:endParaRPr>
          </a:p>
          <a:p>
            <a:pPr marR="0" lvl="0" algn="just" defTabSz="633062" rtl="0" eaLnBrk="1" fontAlgn="auto" latinLnBrk="0" hangingPunct="1">
              <a:lnSpc>
                <a:spcPct val="100000"/>
              </a:lnSpc>
              <a:spcBef>
                <a:spcPts val="0"/>
              </a:spcBef>
              <a:spcAft>
                <a:spcPts val="0"/>
              </a:spcAft>
              <a:buClrTx/>
              <a:buSzTx/>
              <a:tabLst/>
              <a:defRPr/>
            </a:pPr>
            <a:r>
              <a:rPr kumimoji="0" lang="en-GB" sz="3200" dirty="0">
                <a:solidFill>
                  <a:prstClr val="black"/>
                </a:solidFill>
                <a:latin typeface="Calibri" panose="020F0502020204030204"/>
                <a:ea typeface="+mn-ea"/>
                <a:cs typeface="+mn-cs"/>
              </a:rPr>
              <a:t>To compare and critically analyse British and American enquiries</a:t>
            </a:r>
          </a:p>
        </p:txBody>
      </p:sp>
    </p:spTree>
    <p:extLst>
      <p:ext uri="{BB962C8B-B14F-4D97-AF65-F5344CB8AC3E}">
        <p14:creationId xmlns:p14="http://schemas.microsoft.com/office/powerpoint/2010/main" val="576097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A4D8E2B-3159-402F-98B6-6B0C44DFF740}"/>
              </a:ext>
            </a:extLst>
          </p:cNvPr>
          <p:cNvGraphicFramePr>
            <a:graphicFrameLocks noGrp="1"/>
          </p:cNvGraphicFramePr>
          <p:nvPr>
            <p:extLst>
              <p:ext uri="{D42A27DB-BD31-4B8C-83A1-F6EECF244321}">
                <p14:modId xmlns:p14="http://schemas.microsoft.com/office/powerpoint/2010/main" val="4171666579"/>
              </p:ext>
            </p:extLst>
          </p:nvPr>
        </p:nvGraphicFramePr>
        <p:xfrm>
          <a:off x="1701425" y="1051957"/>
          <a:ext cx="8407171" cy="4586224"/>
        </p:xfrm>
        <a:graphic>
          <a:graphicData uri="http://schemas.openxmlformats.org/drawingml/2006/table">
            <a:tbl>
              <a:tblPr firstRow="1" bandRow="1">
                <a:tableStyleId>{5C22544A-7EE6-4342-B048-85BDC9FD1C3A}</a:tableStyleId>
              </a:tblPr>
              <a:tblGrid>
                <a:gridCol w="2037745">
                  <a:extLst>
                    <a:ext uri="{9D8B030D-6E8A-4147-A177-3AD203B41FA5}">
                      <a16:colId xmlns:a16="http://schemas.microsoft.com/office/drawing/2014/main" val="981639100"/>
                    </a:ext>
                  </a:extLst>
                </a:gridCol>
                <a:gridCol w="3184713">
                  <a:extLst>
                    <a:ext uri="{9D8B030D-6E8A-4147-A177-3AD203B41FA5}">
                      <a16:colId xmlns:a16="http://schemas.microsoft.com/office/drawing/2014/main" val="2348499283"/>
                    </a:ext>
                  </a:extLst>
                </a:gridCol>
                <a:gridCol w="3184713">
                  <a:extLst>
                    <a:ext uri="{9D8B030D-6E8A-4147-A177-3AD203B41FA5}">
                      <a16:colId xmlns:a16="http://schemas.microsoft.com/office/drawing/2014/main" val="2266810853"/>
                    </a:ext>
                  </a:extLst>
                </a:gridCol>
              </a:tblGrid>
              <a:tr h="602898">
                <a:tc gridSpan="3">
                  <a:txBody>
                    <a:bodyPr/>
                    <a:lstStyle/>
                    <a:p>
                      <a:pPr algn="ctr"/>
                      <a:r>
                        <a:rPr lang="en-GB" sz="2400" b="1" baseline="0" dirty="0">
                          <a:solidFill>
                            <a:schemeClr val="tx1"/>
                          </a:solidFill>
                          <a:latin typeface="Calibri" panose="020F0502020204030204" pitchFamily="34" charset="0"/>
                          <a:cs typeface="Calibri" panose="020F0502020204030204" pitchFamily="34" charset="0"/>
                        </a:rPr>
                        <a:t>CORE VOCAB</a:t>
                      </a:r>
                      <a:endParaRPr lang="en-GB" sz="2400" b="1" dirty="0">
                        <a:solidFill>
                          <a:schemeClr val="tx1"/>
                        </a:solidFill>
                        <a:latin typeface="Calibri" panose="020F0502020204030204" pitchFamily="34" charset="0"/>
                        <a:cs typeface="Calibri" panose="020F050202020403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sz="2400" b="1" dirty="0">
                        <a:solidFill>
                          <a:schemeClr val="tx1"/>
                        </a:solidFill>
                        <a:latin typeface="Calibri" panose="020F0502020204030204" pitchFamily="34" charset="0"/>
                        <a:cs typeface="Calibri" panose="020F050202020403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4448029"/>
                  </a:ext>
                </a:extLst>
              </a:tr>
              <a:tr h="1991663">
                <a:tc>
                  <a:txBody>
                    <a:bodyPr/>
                    <a:lstStyle/>
                    <a:p>
                      <a:pPr algn="ctr"/>
                      <a:r>
                        <a:rPr lang="en-GB" sz="2400" b="1" dirty="0">
                          <a:solidFill>
                            <a:schemeClr val="tx1"/>
                          </a:solidFill>
                          <a:latin typeface="Calibri" panose="020F0502020204030204" pitchFamily="34" charset="0"/>
                          <a:cs typeface="Calibri" panose="020F0502020204030204" pitchFamily="34" charset="0"/>
                        </a:rPr>
                        <a:t>Culpable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i="0" dirty="0">
                          <a:solidFill>
                            <a:schemeClr val="tx1"/>
                          </a:solidFill>
                          <a:latin typeface="Calibri" panose="020F0502020204030204" pitchFamily="34" charset="0"/>
                          <a:cs typeface="Calibri" panose="020F0502020204030204" pitchFamily="34" charset="0"/>
                        </a:rPr>
                        <a:t>When someone is to blame for something</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000" b="0" i="0" dirty="0">
                        <a:solidFill>
                          <a:schemeClr val="tx1"/>
                        </a:solidFill>
                        <a:latin typeface="Calibri" panose="020F0502020204030204" pitchFamily="34" charset="0"/>
                        <a:cs typeface="Calibri" panose="020F050202020403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3898082"/>
                  </a:ext>
                </a:extLst>
              </a:tr>
              <a:tr h="1991663">
                <a:tc>
                  <a:txBody>
                    <a:bodyPr/>
                    <a:lstStyle/>
                    <a:p>
                      <a:pPr algn="ctr"/>
                      <a:r>
                        <a:rPr lang="en-GB" sz="2400" b="1" dirty="0">
                          <a:solidFill>
                            <a:schemeClr val="tx1"/>
                          </a:solidFill>
                          <a:latin typeface="Calibri" panose="020F0502020204030204" pitchFamily="34" charset="0"/>
                          <a:cs typeface="Calibri" panose="020F0502020204030204" pitchFamily="34" charset="0"/>
                        </a:rPr>
                        <a:t>Interpretation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i="0" dirty="0">
                          <a:solidFill>
                            <a:schemeClr val="tx1"/>
                          </a:solidFill>
                          <a:latin typeface="Calibri" panose="020F0502020204030204" pitchFamily="34" charset="0"/>
                          <a:cs typeface="Calibri" panose="020F0502020204030204" pitchFamily="34" charset="0"/>
                        </a:rPr>
                        <a:t>The different viewpoints people have of an event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000" b="0" i="0" dirty="0">
                        <a:solidFill>
                          <a:schemeClr val="tx1"/>
                        </a:solidFill>
                        <a:latin typeface="Calibri" panose="020F0502020204030204" pitchFamily="34" charset="0"/>
                        <a:cs typeface="Calibri" panose="020F050202020403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6909855"/>
                  </a:ext>
                </a:extLst>
              </a:tr>
            </a:tbl>
          </a:graphicData>
        </a:graphic>
      </p:graphicFrame>
      <p:pic>
        <p:nvPicPr>
          <p:cNvPr id="4" name="Picture 2" descr="speak Icon 3263972">
            <a:extLst>
              <a:ext uri="{FF2B5EF4-FFF2-40B4-BE49-F238E27FC236}">
                <a16:creationId xmlns:a16="http://schemas.microsoft.com/office/drawing/2014/main" id="{CE9C0AD0-5E5C-455E-92CF-A29DF9A1F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5825" y="3940873"/>
            <a:ext cx="1373216" cy="13732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peak Icon 3263972">
            <a:extLst>
              <a:ext uri="{FF2B5EF4-FFF2-40B4-BE49-F238E27FC236}">
                <a16:creationId xmlns:a16="http://schemas.microsoft.com/office/drawing/2014/main" id="{47CCD4AD-F1A2-473B-ACB7-372B9DBA6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7210" y="3940873"/>
            <a:ext cx="1373216" cy="13732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appy Emoji Vector Icon Isolated On Transparent Background ...">
            <a:extLst>
              <a:ext uri="{FF2B5EF4-FFF2-40B4-BE49-F238E27FC236}">
                <a16:creationId xmlns:a16="http://schemas.microsoft.com/office/drawing/2014/main" id="{181BD6F1-14CA-426D-A8A9-EDBF1F04B36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952789" y="3987328"/>
            <a:ext cx="498762" cy="498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ad Emoji Png Transparent Image - Pensive Emoji - Free ...">
            <a:extLst>
              <a:ext uri="{FF2B5EF4-FFF2-40B4-BE49-F238E27FC236}">
                <a16:creationId xmlns:a16="http://schemas.microsoft.com/office/drawing/2014/main" id="{AD495FB2-DD9F-45B0-A946-AC4A4A945F1F}"/>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9394459" y="4001401"/>
            <a:ext cx="589669" cy="4011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lame Icon 5626086">
            <a:extLst>
              <a:ext uri="{FF2B5EF4-FFF2-40B4-BE49-F238E27FC236}">
                <a16:creationId xmlns:a16="http://schemas.microsoft.com/office/drawing/2014/main" id="{7C653FFE-CE02-4805-9934-6BFFA8ECD9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41592" y="1477153"/>
            <a:ext cx="2419918" cy="2419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540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0D8EAC-FF30-4E9B-96DF-8B16CC35A835}"/>
              </a:ext>
            </a:extLst>
          </p:cNvPr>
          <p:cNvSpPr txBox="1">
            <a:spLocks/>
          </p:cNvSpPr>
          <p:nvPr/>
        </p:nvSpPr>
        <p:spPr bwMode="auto">
          <a:xfrm>
            <a:off x="653758" y="1260836"/>
            <a:ext cx="10884481" cy="4126468"/>
          </a:xfrm>
          <a:prstGeom prst="rect">
            <a:avLst/>
          </a:prstGeom>
          <a:solidFill>
            <a:schemeClr val="bg1"/>
          </a:solidFill>
          <a:ln w="57150">
            <a:solidFill>
              <a:srgbClr val="00B0F0"/>
            </a:solidFill>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4"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4"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4"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4"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4"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4"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4"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4" charset="-128"/>
              </a:defRPr>
            </a:lvl9pPr>
          </a:lstStyle>
          <a:p>
            <a:pPr marR="0" lvl="0" defTabSz="633062" rtl="0" eaLnBrk="1" fontAlgn="auto" latinLnBrk="0" hangingPunct="1">
              <a:lnSpc>
                <a:spcPct val="100000"/>
              </a:lnSpc>
              <a:spcBef>
                <a:spcPts val="0"/>
              </a:spcBef>
              <a:spcAft>
                <a:spcPts val="0"/>
              </a:spcAft>
              <a:buClrTx/>
              <a:buSzTx/>
              <a:tabLst/>
              <a:defRPr/>
            </a:pPr>
            <a:r>
              <a:rPr kumimoji="0" lang="en-GB" sz="8800" dirty="0">
                <a:solidFill>
                  <a:prstClr val="black"/>
                </a:solidFill>
                <a:latin typeface="Calibri" panose="020F0502020204030204"/>
                <a:ea typeface="+mn-ea"/>
                <a:cs typeface="+mn-cs"/>
              </a:rPr>
              <a:t>Who was to blame for it being such a major </a:t>
            </a:r>
            <a:r>
              <a:rPr kumimoji="0" lang="en-GB" sz="8800" b="1" dirty="0">
                <a:solidFill>
                  <a:prstClr val="black"/>
                </a:solidFill>
                <a:latin typeface="Calibri" panose="020F0502020204030204"/>
                <a:ea typeface="+mn-ea"/>
                <a:cs typeface="+mn-cs"/>
              </a:rPr>
              <a:t>disaster?</a:t>
            </a:r>
          </a:p>
        </p:txBody>
      </p:sp>
    </p:spTree>
    <p:extLst>
      <p:ext uri="{BB962C8B-B14F-4D97-AF65-F5344CB8AC3E}">
        <p14:creationId xmlns:p14="http://schemas.microsoft.com/office/powerpoint/2010/main" val="1955465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4" name="Picture 12" descr="nm_titanic_smith_070628_ssv">
            <a:extLst>
              <a:ext uri="{FF2B5EF4-FFF2-40B4-BE49-F238E27FC236}">
                <a16:creationId xmlns:a16="http://schemas.microsoft.com/office/drawing/2014/main" id="{62DCC887-5314-485A-9204-D42BE5DC6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601" y="508603"/>
            <a:ext cx="1863725"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9" name="Picture 13" descr="http://t3.gstatic.com/images?q=tbn:ANd9GcTLIJTzB8Fr3aM9BxgZIgXku79LvfcPZsd6vcdz0lGc9jXs0ynN">
            <a:extLst>
              <a:ext uri="{FF2B5EF4-FFF2-40B4-BE49-F238E27FC236}">
                <a16:creationId xmlns:a16="http://schemas.microsoft.com/office/drawing/2014/main" id="{020CB1AA-2B3C-47EE-80D4-FE54123045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6790" y="3559095"/>
            <a:ext cx="18192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Text Box 6">
            <a:extLst>
              <a:ext uri="{FF2B5EF4-FFF2-40B4-BE49-F238E27FC236}">
                <a16:creationId xmlns:a16="http://schemas.microsoft.com/office/drawing/2014/main" id="{933F0606-2727-4754-9365-64C8A509660C}"/>
              </a:ext>
            </a:extLst>
          </p:cNvPr>
          <p:cNvSpPr txBox="1">
            <a:spLocks noChangeArrowheads="1"/>
          </p:cNvSpPr>
          <p:nvPr/>
        </p:nvSpPr>
        <p:spPr bwMode="auto">
          <a:xfrm>
            <a:off x="7969101" y="5611733"/>
            <a:ext cx="2916238" cy="707886"/>
          </a:xfrm>
          <a:prstGeom prst="rect">
            <a:avLst/>
          </a:prstGeom>
          <a:solidFill>
            <a:schemeClr val="bg1"/>
          </a:solidFill>
          <a:ln w="28575">
            <a:solidFill>
              <a:srgbClr val="0070C0"/>
            </a:solidFill>
            <a:headEnd/>
            <a:tailEnd/>
          </a:ln>
        </p:spPr>
        <p:style>
          <a:lnRef idx="3">
            <a:schemeClr val="lt1"/>
          </a:lnRef>
          <a:fillRef idx="1">
            <a:schemeClr val="accent5"/>
          </a:fillRef>
          <a:effectRef idx="1">
            <a:schemeClr val="accent5"/>
          </a:effectRef>
          <a:fontRef idx="minor">
            <a:schemeClr val="lt1"/>
          </a:fontRef>
        </p:style>
        <p:txBody>
          <a:bodyPr lIns="91440" tIns="45720" rIns="91440" bIns="45720" anchor="t">
            <a:spAutoFit/>
          </a:bodyPr>
          <a:lstStyle/>
          <a:p>
            <a:pPr algn="ctr">
              <a:spcBef>
                <a:spcPct val="50000"/>
              </a:spcBef>
              <a:defRPr/>
            </a:pPr>
            <a:r>
              <a:rPr lang="en-GB" sz="2000" dirty="0">
                <a:solidFill>
                  <a:schemeClr val="tx1"/>
                </a:solidFill>
                <a:latin typeface="+mj-lt"/>
              </a:rPr>
              <a:t>Stanley Lord</a:t>
            </a:r>
            <a:br>
              <a:rPr lang="en-GB" sz="2000" dirty="0">
                <a:solidFill>
                  <a:schemeClr val="tx1"/>
                </a:solidFill>
                <a:latin typeface="+mj-lt"/>
              </a:rPr>
            </a:br>
            <a:r>
              <a:rPr lang="en-GB" sz="2000" dirty="0">
                <a:solidFill>
                  <a:schemeClr val="tx1"/>
                </a:solidFill>
                <a:latin typeface="+mj-lt"/>
              </a:rPr>
              <a:t>Captain of the Californian</a:t>
            </a:r>
          </a:p>
        </p:txBody>
      </p:sp>
      <p:pic>
        <p:nvPicPr>
          <p:cNvPr id="8199" name="Picture 15" descr="http://www.whatsonsanya.com/news_images/8efc39f9f02a7d70a83d6b82_Titanic%202.jpg">
            <a:extLst>
              <a:ext uri="{FF2B5EF4-FFF2-40B4-BE49-F238E27FC236}">
                <a16:creationId xmlns:a16="http://schemas.microsoft.com/office/drawing/2014/main" id="{F4900AAD-8F34-4F8D-9BAA-B52E736904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3628" y="359377"/>
            <a:ext cx="1722437"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6">
            <a:extLst>
              <a:ext uri="{FF2B5EF4-FFF2-40B4-BE49-F238E27FC236}">
                <a16:creationId xmlns:a16="http://schemas.microsoft.com/office/drawing/2014/main" id="{32689940-78C3-4086-83FD-66E6FD11C0B3}"/>
              </a:ext>
            </a:extLst>
          </p:cNvPr>
          <p:cNvSpPr txBox="1">
            <a:spLocks noChangeArrowheads="1"/>
          </p:cNvSpPr>
          <p:nvPr/>
        </p:nvSpPr>
        <p:spPr bwMode="auto">
          <a:xfrm>
            <a:off x="8399314" y="2381853"/>
            <a:ext cx="2159000" cy="707886"/>
          </a:xfrm>
          <a:prstGeom prst="rect">
            <a:avLst/>
          </a:prstGeom>
          <a:solidFill>
            <a:schemeClr val="bg1"/>
          </a:solidFill>
          <a:ln w="38100">
            <a:solidFill>
              <a:srgbClr val="0070C0"/>
            </a:solidFill>
            <a:headEnd/>
            <a:tailEnd/>
          </a:ln>
        </p:spPr>
        <p:style>
          <a:lnRef idx="3">
            <a:schemeClr val="lt1"/>
          </a:lnRef>
          <a:fillRef idx="1">
            <a:schemeClr val="accent5"/>
          </a:fillRef>
          <a:effectRef idx="1">
            <a:schemeClr val="accent5"/>
          </a:effectRef>
          <a:fontRef idx="minor">
            <a:schemeClr val="lt1"/>
          </a:fontRef>
        </p:style>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en-GB" altLang="en-US" sz="2000" dirty="0">
                <a:latin typeface="+mj-lt"/>
              </a:rPr>
              <a:t>William Murdoch</a:t>
            </a:r>
            <a:br>
              <a:rPr lang="en-GB" altLang="en-US" sz="2000" dirty="0">
                <a:latin typeface="+mj-lt"/>
              </a:rPr>
            </a:br>
            <a:r>
              <a:rPr lang="en-GB" altLang="en-US" sz="2000" dirty="0">
                <a:latin typeface="+mj-lt"/>
              </a:rPr>
              <a:t>First Officer</a:t>
            </a:r>
          </a:p>
        </p:txBody>
      </p:sp>
      <p:pic>
        <p:nvPicPr>
          <p:cNvPr id="8201" name="Picture 7" descr="http://www.rmstitanicremembered.com/wp-content/uploads/2011/05/Ismay.jpg">
            <a:extLst>
              <a:ext uri="{FF2B5EF4-FFF2-40B4-BE49-F238E27FC236}">
                <a16:creationId xmlns:a16="http://schemas.microsoft.com/office/drawing/2014/main" id="{3BD9F5CB-E4A2-4D6D-8B21-3F1C66B8C3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25021"/>
          <a:stretch>
            <a:fillRect/>
          </a:stretch>
        </p:blipFill>
        <p:spPr bwMode="auto">
          <a:xfrm>
            <a:off x="1655689" y="3559095"/>
            <a:ext cx="2243137" cy="214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 name="Text Box 8">
            <a:extLst>
              <a:ext uri="{FF2B5EF4-FFF2-40B4-BE49-F238E27FC236}">
                <a16:creationId xmlns:a16="http://schemas.microsoft.com/office/drawing/2014/main" id="{68ECD0A0-48A5-4DAB-969C-031DA33C05BD}"/>
              </a:ext>
            </a:extLst>
          </p:cNvPr>
          <p:cNvSpPr txBox="1">
            <a:spLocks noChangeArrowheads="1"/>
          </p:cNvSpPr>
          <p:nvPr/>
        </p:nvSpPr>
        <p:spPr bwMode="auto">
          <a:xfrm>
            <a:off x="1539801" y="5372020"/>
            <a:ext cx="2473325" cy="1015663"/>
          </a:xfrm>
          <a:prstGeom prst="rect">
            <a:avLst/>
          </a:prstGeom>
          <a:solidFill>
            <a:schemeClr val="bg1"/>
          </a:solidFill>
          <a:ln w="38100">
            <a:solidFill>
              <a:srgbClr val="0070C0"/>
            </a:solidFill>
            <a:headEnd/>
            <a:tailEnd/>
          </a:ln>
        </p:spPr>
        <p:style>
          <a:lnRef idx="3">
            <a:schemeClr val="lt1"/>
          </a:lnRef>
          <a:fillRef idx="1">
            <a:schemeClr val="accent5"/>
          </a:fillRef>
          <a:effectRef idx="1">
            <a:schemeClr val="accent5"/>
          </a:effectRef>
          <a:fontRef idx="minor">
            <a:schemeClr val="lt1"/>
          </a:fontRef>
        </p:style>
        <p:txBody>
          <a:bodyPr>
            <a:spAutoFit/>
          </a:bodyPr>
          <a:lstStyle/>
          <a:p>
            <a:pPr algn="ctr">
              <a:spcBef>
                <a:spcPct val="50000"/>
              </a:spcBef>
              <a:defRPr/>
            </a:pPr>
            <a:r>
              <a:rPr lang="en-GB" sz="2000" dirty="0">
                <a:solidFill>
                  <a:schemeClr val="tx1"/>
                </a:solidFill>
                <a:latin typeface="+mj-lt"/>
              </a:rPr>
              <a:t>J Bruce </a:t>
            </a:r>
            <a:r>
              <a:rPr lang="en-GB" sz="2000" dirty="0" err="1">
                <a:solidFill>
                  <a:schemeClr val="tx1"/>
                </a:solidFill>
                <a:latin typeface="+mj-lt"/>
              </a:rPr>
              <a:t>Ismay</a:t>
            </a:r>
            <a:br>
              <a:rPr lang="en-GB" sz="2000" dirty="0">
                <a:solidFill>
                  <a:schemeClr val="tx1"/>
                </a:solidFill>
                <a:latin typeface="+mj-lt"/>
              </a:rPr>
            </a:br>
            <a:r>
              <a:rPr lang="en-GB" sz="2000" dirty="0">
                <a:solidFill>
                  <a:schemeClr val="tx1"/>
                </a:solidFill>
                <a:latin typeface="+mj-lt"/>
              </a:rPr>
              <a:t>Chairman of White Star Line</a:t>
            </a:r>
          </a:p>
        </p:txBody>
      </p:sp>
      <p:sp>
        <p:nvSpPr>
          <p:cNvPr id="3077" name="Text Box 5">
            <a:extLst>
              <a:ext uri="{FF2B5EF4-FFF2-40B4-BE49-F238E27FC236}">
                <a16:creationId xmlns:a16="http://schemas.microsoft.com/office/drawing/2014/main" id="{693430F4-F10A-46CD-A471-0954E05ABE6F}"/>
              </a:ext>
            </a:extLst>
          </p:cNvPr>
          <p:cNvSpPr txBox="1">
            <a:spLocks noChangeArrowheads="1"/>
          </p:cNvSpPr>
          <p:nvPr/>
        </p:nvSpPr>
        <p:spPr bwMode="auto">
          <a:xfrm>
            <a:off x="1620763" y="2381853"/>
            <a:ext cx="2195512" cy="707886"/>
          </a:xfrm>
          <a:prstGeom prst="rect">
            <a:avLst/>
          </a:prstGeom>
          <a:solidFill>
            <a:schemeClr val="bg1"/>
          </a:solidFill>
          <a:ln w="28575">
            <a:solidFill>
              <a:srgbClr val="0070C0"/>
            </a:solidFill>
            <a:headEnd/>
            <a:tailEnd/>
          </a:ln>
        </p:spPr>
        <p:style>
          <a:lnRef idx="3">
            <a:schemeClr val="lt1"/>
          </a:lnRef>
          <a:fillRef idx="1">
            <a:schemeClr val="accent5"/>
          </a:fillRef>
          <a:effectRef idx="1">
            <a:schemeClr val="accent5"/>
          </a:effectRef>
          <a:fontRef idx="minor">
            <a:schemeClr val="lt1"/>
          </a:fontRef>
        </p:style>
        <p:txBody>
          <a:bodyPr lIns="91440" tIns="45720" rIns="91440" bIns="45720" anchor="t">
            <a:spAutoFit/>
          </a:bodyPr>
          <a:lstStyle/>
          <a:p>
            <a:pPr algn="ctr">
              <a:spcBef>
                <a:spcPct val="50000"/>
              </a:spcBef>
              <a:defRPr/>
            </a:pPr>
            <a:r>
              <a:rPr lang="en-GB" sz="2000" dirty="0">
                <a:solidFill>
                  <a:schemeClr val="tx1"/>
                </a:solidFill>
                <a:latin typeface="+mj-lt"/>
              </a:rPr>
              <a:t>Captain Smith</a:t>
            </a:r>
            <a:br>
              <a:rPr lang="en-GB" sz="2000" dirty="0">
                <a:solidFill>
                  <a:schemeClr val="tx1"/>
                </a:solidFill>
                <a:latin typeface="+mj-lt"/>
              </a:rPr>
            </a:br>
            <a:r>
              <a:rPr lang="en-GB" sz="2000" dirty="0">
                <a:solidFill>
                  <a:schemeClr val="tx1"/>
                </a:solidFill>
                <a:latin typeface="+mj-lt"/>
              </a:rPr>
              <a:t>The Ship's Captain</a:t>
            </a:r>
          </a:p>
        </p:txBody>
      </p:sp>
      <p:pic>
        <p:nvPicPr>
          <p:cNvPr id="8204" name="Picture 10" descr="http://www.maritimequest.com/liners/titanic/crew/fleet_frederick.jpg">
            <a:extLst>
              <a:ext uri="{FF2B5EF4-FFF2-40B4-BE49-F238E27FC236}">
                <a16:creationId xmlns:a16="http://schemas.microsoft.com/office/drawing/2014/main" id="{19691ACA-1DBF-412D-B400-20DD8234E0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8230" r="16690"/>
          <a:stretch>
            <a:fillRect/>
          </a:stretch>
        </p:blipFill>
        <p:spPr bwMode="auto">
          <a:xfrm>
            <a:off x="5040239" y="3625770"/>
            <a:ext cx="2047875"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8">
            <a:extLst>
              <a:ext uri="{FF2B5EF4-FFF2-40B4-BE49-F238E27FC236}">
                <a16:creationId xmlns:a16="http://schemas.microsoft.com/office/drawing/2014/main" id="{981FB2C3-0446-4F39-9E96-8DFC66FD6621}"/>
              </a:ext>
            </a:extLst>
          </p:cNvPr>
          <p:cNvSpPr txBox="1">
            <a:spLocks noChangeArrowheads="1"/>
          </p:cNvSpPr>
          <p:nvPr/>
        </p:nvSpPr>
        <p:spPr bwMode="auto">
          <a:xfrm>
            <a:off x="4970389" y="5633958"/>
            <a:ext cx="2232025" cy="707886"/>
          </a:xfrm>
          <a:prstGeom prst="rect">
            <a:avLst/>
          </a:prstGeom>
          <a:solidFill>
            <a:schemeClr val="bg1"/>
          </a:solidFill>
          <a:ln w="38100">
            <a:solidFill>
              <a:srgbClr val="0070C0"/>
            </a:solidFill>
            <a:headEnd/>
            <a:tailEnd/>
          </a:ln>
        </p:spPr>
        <p:style>
          <a:lnRef idx="3">
            <a:schemeClr val="lt1"/>
          </a:lnRef>
          <a:fillRef idx="1">
            <a:schemeClr val="accent5"/>
          </a:fillRef>
          <a:effectRef idx="1">
            <a:schemeClr val="accent5"/>
          </a:effectRef>
          <a:fontRef idx="minor">
            <a:schemeClr val="lt1"/>
          </a:fontRef>
        </p:style>
        <p:txBody>
          <a:bodyPr>
            <a:spAutoFit/>
          </a:bodyPr>
          <a:lstStyle/>
          <a:p>
            <a:pPr algn="ctr">
              <a:spcBef>
                <a:spcPct val="50000"/>
              </a:spcBef>
              <a:defRPr/>
            </a:pPr>
            <a:r>
              <a:rPr lang="en-GB" sz="2000" dirty="0">
                <a:solidFill>
                  <a:schemeClr val="tx1"/>
                </a:solidFill>
                <a:latin typeface="+mj-lt"/>
              </a:rPr>
              <a:t>Frederick Fleet</a:t>
            </a:r>
            <a:br>
              <a:rPr lang="en-GB" sz="2000" dirty="0">
                <a:solidFill>
                  <a:schemeClr val="tx1"/>
                </a:solidFill>
                <a:latin typeface="+mj-lt"/>
              </a:rPr>
            </a:br>
            <a:r>
              <a:rPr lang="en-GB" sz="2000" dirty="0">
                <a:solidFill>
                  <a:schemeClr val="tx1"/>
                </a:solidFill>
                <a:latin typeface="+mj-lt"/>
              </a:rPr>
              <a:t>The Lookout</a:t>
            </a:r>
          </a:p>
        </p:txBody>
      </p:sp>
      <p:pic>
        <p:nvPicPr>
          <p:cNvPr id="8206" name="Picture 3">
            <a:extLst>
              <a:ext uri="{FF2B5EF4-FFF2-40B4-BE49-F238E27FC236}">
                <a16:creationId xmlns:a16="http://schemas.microsoft.com/office/drawing/2014/main" id="{B8D6C87E-A47E-46DC-BE26-1DB568A3A343}"/>
              </a:ext>
            </a:extLst>
          </p:cNvPr>
          <p:cNvPicPr>
            <a:picLocks noChangeAspect="1"/>
          </p:cNvPicPr>
          <p:nvPr/>
        </p:nvPicPr>
        <p:blipFill>
          <a:blip r:embed="rId7">
            <a:extLst>
              <a:ext uri="{28A0092B-C50C-407E-A947-70E740481C1C}">
                <a14:useLocalDpi xmlns:a14="http://schemas.microsoft.com/office/drawing/2010/main" val="0"/>
              </a:ext>
            </a:extLst>
          </a:blip>
          <a:srcRect l="29919" r="14563"/>
          <a:stretch>
            <a:fillRect/>
          </a:stretch>
        </p:blipFill>
        <p:spPr bwMode="auto">
          <a:xfrm>
            <a:off x="4891013" y="508603"/>
            <a:ext cx="2311400" cy="234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 Box 7">
            <a:extLst>
              <a:ext uri="{FF2B5EF4-FFF2-40B4-BE49-F238E27FC236}">
                <a16:creationId xmlns:a16="http://schemas.microsoft.com/office/drawing/2014/main" id="{D853DD0E-C7EC-4459-807A-7BAF010B0142}"/>
              </a:ext>
            </a:extLst>
          </p:cNvPr>
          <p:cNvSpPr txBox="1">
            <a:spLocks noChangeArrowheads="1"/>
          </p:cNvSpPr>
          <p:nvPr/>
        </p:nvSpPr>
        <p:spPr bwMode="auto">
          <a:xfrm>
            <a:off x="4670350" y="2315178"/>
            <a:ext cx="2736850" cy="707886"/>
          </a:xfrm>
          <a:prstGeom prst="rect">
            <a:avLst/>
          </a:prstGeom>
          <a:solidFill>
            <a:schemeClr val="bg1"/>
          </a:solidFill>
          <a:ln w="28575">
            <a:solidFill>
              <a:srgbClr val="0070C0"/>
            </a:solidFill>
            <a:headEnd/>
            <a:tailEnd/>
          </a:ln>
        </p:spPr>
        <p:style>
          <a:lnRef idx="3">
            <a:schemeClr val="lt1"/>
          </a:lnRef>
          <a:fillRef idx="1">
            <a:schemeClr val="accent5"/>
          </a:fillRef>
          <a:effectRef idx="1">
            <a:schemeClr val="accent5"/>
          </a:effectRef>
          <a:fontRef idx="minor">
            <a:schemeClr val="lt1"/>
          </a:fontRef>
        </p:style>
        <p:txBody>
          <a:bodyPr lIns="91440" tIns="45720" rIns="91440" bIns="45720" anchor="t">
            <a:spAutoFit/>
          </a:bodyPr>
          <a:lstStyle/>
          <a:p>
            <a:pPr algn="ctr">
              <a:spcBef>
                <a:spcPct val="50000"/>
              </a:spcBef>
              <a:defRPr/>
            </a:pPr>
            <a:r>
              <a:rPr lang="en-GB" sz="2000" dirty="0">
                <a:solidFill>
                  <a:schemeClr val="tx1"/>
                </a:solidFill>
                <a:latin typeface="+mj-lt"/>
              </a:rPr>
              <a:t>Thomas Andrews </a:t>
            </a:r>
            <a:br>
              <a:rPr lang="en-GB" sz="2000" dirty="0">
                <a:solidFill>
                  <a:schemeClr val="tx1"/>
                </a:solidFill>
                <a:latin typeface="+mj-lt"/>
              </a:rPr>
            </a:br>
            <a:r>
              <a:rPr lang="en-GB" sz="2000" dirty="0">
                <a:solidFill>
                  <a:schemeClr val="tx1"/>
                </a:solidFill>
                <a:latin typeface="+mj-lt"/>
              </a:rPr>
              <a:t>The Ship's designer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14 Titanic - The Blame Lyrics">
            <a:hlinkClick r:id="" action="ppaction://media"/>
            <a:extLst>
              <a:ext uri="{FF2B5EF4-FFF2-40B4-BE49-F238E27FC236}">
                <a16:creationId xmlns:a16="http://schemas.microsoft.com/office/drawing/2014/main" id="{C8F84C12-1DD8-43CF-B7C4-441123F9132E}"/>
              </a:ext>
            </a:extLst>
          </p:cNvPr>
          <p:cNvPicPr>
            <a:picLocks noRot="1" noChangeAspect="1"/>
          </p:cNvPicPr>
          <p:nvPr>
            <a:videoFile r:link="rId1"/>
          </p:nvPr>
        </p:nvPicPr>
        <p:blipFill>
          <a:blip r:embed="rId4"/>
          <a:stretch>
            <a:fillRect/>
          </a:stretch>
        </p:blipFill>
        <p:spPr>
          <a:xfrm>
            <a:off x="1824214" y="224904"/>
            <a:ext cx="8544256" cy="640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CC305A9B-8696-456B-83FA-2D0D8772B3EC}"/>
              </a:ext>
            </a:extLst>
          </p:cNvPr>
          <p:cNvGraphicFramePr>
            <a:graphicFrameLocks/>
          </p:cNvGraphicFramePr>
          <p:nvPr>
            <p:extLst>
              <p:ext uri="{D42A27DB-BD31-4B8C-83A1-F6EECF244321}">
                <p14:modId xmlns:p14="http://schemas.microsoft.com/office/powerpoint/2010/main" val="547134381"/>
              </p:ext>
            </p:extLst>
          </p:nvPr>
        </p:nvGraphicFramePr>
        <p:xfrm>
          <a:off x="0" y="117568"/>
          <a:ext cx="12191999" cy="6633158"/>
        </p:xfrm>
        <a:graphic>
          <a:graphicData uri="http://schemas.openxmlformats.org/drawingml/2006/table">
            <a:tbl>
              <a:tblPr firstRow="1" bandRow="1">
                <a:tableStyleId>{5C22544A-7EE6-4342-B048-85BDC9FD1C3A}</a:tableStyleId>
              </a:tblPr>
              <a:tblGrid>
                <a:gridCol w="4478694">
                  <a:extLst>
                    <a:ext uri="{9D8B030D-6E8A-4147-A177-3AD203B41FA5}">
                      <a16:colId xmlns:a16="http://schemas.microsoft.com/office/drawing/2014/main" val="20000"/>
                    </a:ext>
                  </a:extLst>
                </a:gridCol>
                <a:gridCol w="3890865">
                  <a:extLst>
                    <a:ext uri="{9D8B030D-6E8A-4147-A177-3AD203B41FA5}">
                      <a16:colId xmlns:a16="http://schemas.microsoft.com/office/drawing/2014/main" val="20001"/>
                    </a:ext>
                  </a:extLst>
                </a:gridCol>
                <a:gridCol w="3822440">
                  <a:extLst>
                    <a:ext uri="{9D8B030D-6E8A-4147-A177-3AD203B41FA5}">
                      <a16:colId xmlns:a16="http://schemas.microsoft.com/office/drawing/2014/main" val="20002"/>
                    </a:ext>
                  </a:extLst>
                </a:gridCol>
              </a:tblGrid>
              <a:tr h="281087">
                <a:tc>
                  <a:txBody>
                    <a:bodyPr/>
                    <a:lstStyle/>
                    <a:p>
                      <a:pPr algn="ctr"/>
                      <a:r>
                        <a:rPr lang="en-GB" sz="1100" dirty="0">
                          <a:solidFill>
                            <a:schemeClr val="tx1"/>
                          </a:solidFill>
                          <a:latin typeface="+mn-lt"/>
                        </a:rPr>
                        <a:t>Problem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100" baseline="0" dirty="0">
                          <a:solidFill>
                            <a:schemeClr val="tx1"/>
                          </a:solidFill>
                          <a:latin typeface="+mn-lt"/>
                        </a:rPr>
                        <a:t>Who was to blame? Why?</a:t>
                      </a:r>
                      <a:endParaRPr lang="en-GB" sz="11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100" dirty="0">
                          <a:solidFill>
                            <a:schemeClr val="tx1"/>
                          </a:solidFill>
                          <a:latin typeface="+mn-lt"/>
                        </a:rPr>
                        <a:t>What could have been done differently?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33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Many lifeboats were being launched with very small numbers of people being on them.  If they had been filled up, many more lives could have been saved. Only 50 members of the crew had been trained to man the lifeboats and there had been no drill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113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The ship only had 20 lifeboats, which was only enough for about half of the passengers.  There should have been more, but they were removed to make more space for first class passengers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593186"/>
                  </a:ext>
                </a:extLst>
              </a:tr>
              <a:tr h="6448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Bruce </a:t>
                      </a:r>
                      <a:r>
                        <a:rPr lang="en-GB" altLang="en-US" sz="1100" dirty="0" err="1">
                          <a:latin typeface="+mn-lt"/>
                        </a:rPr>
                        <a:t>Ismay</a:t>
                      </a:r>
                      <a:r>
                        <a:rPr lang="en-GB" altLang="en-US" sz="1100" dirty="0">
                          <a:latin typeface="+mn-lt"/>
                        </a:rPr>
                        <a:t> was overheard suggesting to Captain Smith that he should sail the ship at full speed so as they could reach New York sooner than expected.  This meant that the ship did not have enough time to steer clear of the iceberg.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8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The lookouts were not provided with binoculars as these had been locked away. The ship was also not fitted with a search light, making it impossible to see the iceberg.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826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The nearest ship, the California, sent out an ice berg warning.  However, they then turned their radios off, meaning the Titanic could not contact them.  When they saw the flares, they assumed they were fireworks and ignored them.  If they had noticed the distress signals, there would have been enough time to save everyone on board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826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First Officer William Murdock had been left in charge of the ship.  When he was notified of the ice berg straight ahead, he steered to try and avoid it, meaning the ice berg hit the side of the ship, smashing it open.  Some experts believe if they had hit it head on, they would have broken through it and caused no damage to the ship.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826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There were some major errors with the design and build of the ship.  One of these is that poor quality rivets were used to connect the panels, which broke easily.  Secondly, the water tight compartments were smaller than they should have been to make more room for first class passengers.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6893460"/>
                  </a:ext>
                </a:extLst>
              </a:tr>
              <a:tr h="6448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latin typeface="+mn-lt"/>
                        </a:rPr>
                        <a:t>Although Smith was an experienced Captain, he had never sailed a ship as large as the Titanic.  He nearly collided with another ship in the first few days, and had previously had this same problem when captaining the Olympic. He also ignored 7 iceberg warnings and was actually asleep when it hit the iceberg.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1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219201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937B404-4412-4865-9F39-0E15FBF2FD42}"/>
              </a:ext>
            </a:extLst>
          </p:cNvPr>
          <p:cNvSpPr>
            <a:spLocks noGrp="1"/>
          </p:cNvSpPr>
          <p:nvPr>
            <p:ph idx="1"/>
          </p:nvPr>
        </p:nvSpPr>
        <p:spPr>
          <a:xfrm>
            <a:off x="1910503" y="1640025"/>
            <a:ext cx="8865780" cy="2913321"/>
          </a:xfrm>
          <a:solidFill>
            <a:schemeClr val="bg1"/>
          </a:solidFill>
          <a:ln w="38100">
            <a:solidFill>
              <a:srgbClr val="00B0F0"/>
            </a:solidFill>
          </a:ln>
        </p:spPr>
        <p:txBody>
          <a:bodyPr>
            <a:normAutofit/>
          </a:bodyPr>
          <a:lstStyle/>
          <a:p>
            <a:pPr marL="514350" indent="-514350">
              <a:buFont typeface="+mj-lt"/>
              <a:buAutoNum type="arabicPeriod"/>
            </a:pPr>
            <a:endParaRPr lang="en-GB" sz="4000" dirty="0"/>
          </a:p>
          <a:p>
            <a:pPr marL="514350" indent="-514350">
              <a:buFont typeface="+mj-lt"/>
              <a:buAutoNum type="arabicPeriod"/>
            </a:pPr>
            <a:r>
              <a:rPr lang="en-GB" sz="4000" dirty="0"/>
              <a:t>Who do you think was to blame?</a:t>
            </a:r>
          </a:p>
          <a:p>
            <a:pPr marL="514350" indent="-514350">
              <a:buFont typeface="+mj-lt"/>
              <a:buAutoNum type="arabicPeriod"/>
            </a:pPr>
            <a:endParaRPr lang="en-GB" sz="4000" dirty="0"/>
          </a:p>
          <a:p>
            <a:pPr marL="514350" indent="-514350">
              <a:buFont typeface="+mj-lt"/>
              <a:buAutoNum type="arabicPeriod"/>
            </a:pPr>
            <a:r>
              <a:rPr lang="en-GB" sz="4000" dirty="0"/>
              <a:t>Why?</a:t>
            </a:r>
          </a:p>
          <a:p>
            <a:pPr marL="0" indent="0">
              <a:buNone/>
            </a:pPr>
            <a:endParaRPr lang="en-GB" sz="3600" dirty="0"/>
          </a:p>
        </p:txBody>
      </p:sp>
    </p:spTree>
    <p:extLst>
      <p:ext uri="{BB962C8B-B14F-4D97-AF65-F5344CB8AC3E}">
        <p14:creationId xmlns:p14="http://schemas.microsoft.com/office/powerpoint/2010/main" val="3157848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croll: Vertical 3">
            <a:extLst>
              <a:ext uri="{FF2B5EF4-FFF2-40B4-BE49-F238E27FC236}">
                <a16:creationId xmlns:a16="http://schemas.microsoft.com/office/drawing/2014/main" id="{C65D5F52-CB3B-45C9-9F6B-272E5E551B0A}"/>
              </a:ext>
            </a:extLst>
          </p:cNvPr>
          <p:cNvSpPr/>
          <p:nvPr/>
        </p:nvSpPr>
        <p:spPr>
          <a:xfrm>
            <a:off x="1057062" y="600739"/>
            <a:ext cx="9769976" cy="5656521"/>
          </a:xfrm>
          <a:prstGeom prst="verticalScroll">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961537-283A-4FDD-962C-222C4997BCA2}"/>
              </a:ext>
            </a:extLst>
          </p:cNvPr>
          <p:cNvSpPr/>
          <p:nvPr/>
        </p:nvSpPr>
        <p:spPr>
          <a:xfrm>
            <a:off x="4377522" y="1362001"/>
            <a:ext cx="3395481" cy="646331"/>
          </a:xfrm>
          <a:prstGeom prst="rect">
            <a:avLst/>
          </a:prstGeom>
          <a:noFill/>
        </p:spPr>
        <p:txBody>
          <a:bodyPr wrap="none" lIns="91440" tIns="45720" rIns="91440" bIns="45720">
            <a:spAutoFit/>
          </a:bodyPr>
          <a:lstStyle/>
          <a:p>
            <a:pPr algn="ctr"/>
            <a:r>
              <a:rPr lang="en-GB" sz="3600" u="sng" dirty="0">
                <a:ln w="0"/>
                <a:solidFill>
                  <a:schemeClr val="accent1"/>
                </a:solidFill>
                <a:effectLst>
                  <a:outerShdw blurRad="38100" dist="25400" dir="5400000" algn="ctr" rotWithShape="0">
                    <a:srgbClr val="6E747A">
                      <a:alpha val="43000"/>
                    </a:srgbClr>
                  </a:outerShdw>
                </a:effectLst>
              </a:rPr>
              <a:t>American</a:t>
            </a:r>
            <a:r>
              <a:rPr lang="en-GB" sz="3600" b="0" u="sng" cap="none" spc="0" dirty="0">
                <a:ln w="0"/>
                <a:solidFill>
                  <a:schemeClr val="accent1"/>
                </a:solidFill>
                <a:effectLst>
                  <a:outerShdw blurRad="38100" dist="25400" dir="5400000" algn="ctr" rotWithShape="0">
                    <a:srgbClr val="6E747A">
                      <a:alpha val="43000"/>
                    </a:srgbClr>
                  </a:outerShdw>
                </a:effectLst>
              </a:rPr>
              <a:t> Inquiry</a:t>
            </a:r>
          </a:p>
        </p:txBody>
      </p:sp>
      <p:sp>
        <p:nvSpPr>
          <p:cNvPr id="6" name="Rectangle 2">
            <a:extLst>
              <a:ext uri="{FF2B5EF4-FFF2-40B4-BE49-F238E27FC236}">
                <a16:creationId xmlns:a16="http://schemas.microsoft.com/office/drawing/2014/main" id="{0D475CDF-474A-4F94-9F39-18F52794C625}"/>
              </a:ext>
            </a:extLst>
          </p:cNvPr>
          <p:cNvSpPr>
            <a:spLocks noChangeArrowheads="1"/>
          </p:cNvSpPr>
          <p:nvPr/>
        </p:nvSpPr>
        <p:spPr bwMode="auto">
          <a:xfrm>
            <a:off x="1873677" y="1969851"/>
            <a:ext cx="813674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r>
              <a:rPr lang="en-GB" sz="1400" b="0" i="0" dirty="0">
                <a:solidFill>
                  <a:srgbClr val="202122"/>
                </a:solidFill>
                <a:effectLst/>
                <a:latin typeface="+mj-lt"/>
              </a:rPr>
              <a:t>The report's key findings were:</a:t>
            </a:r>
          </a:p>
          <a:p>
            <a:pPr algn="l">
              <a:buFont typeface="Arial" panose="020B0604020202020204" pitchFamily="34" charset="0"/>
              <a:buChar char="•"/>
            </a:pPr>
            <a:r>
              <a:rPr lang="en-GB" sz="1400" b="0" i="0" dirty="0">
                <a:solidFill>
                  <a:srgbClr val="202122"/>
                </a:solidFill>
                <a:effectLst/>
                <a:latin typeface="+mj-lt"/>
              </a:rPr>
              <a:t>A lack of emergency preparations had left </a:t>
            </a:r>
            <a:r>
              <a:rPr lang="en-GB" sz="1400" b="0" i="1" dirty="0">
                <a:solidFill>
                  <a:srgbClr val="202122"/>
                </a:solidFill>
                <a:effectLst/>
                <a:latin typeface="+mj-lt"/>
              </a:rPr>
              <a:t>Titanic</a:t>
            </a:r>
            <a:r>
              <a:rPr lang="en-GB" sz="1400" b="0" i="0" dirty="0">
                <a:solidFill>
                  <a:srgbClr val="202122"/>
                </a:solidFill>
                <a:effectLst/>
                <a:latin typeface="+mj-lt"/>
              </a:rPr>
              <a:t>'s passengers and crew in "a state of absolute unpreparedness", and the evacuation had been chaotic: "No general alarm was given, no ship's officers formally assembled, no orderly routine was attempted or organized system of safety begun."</a:t>
            </a:r>
          </a:p>
          <a:p>
            <a:pPr algn="l">
              <a:buFont typeface="Arial" panose="020B0604020202020204" pitchFamily="34" charset="0"/>
              <a:buChar char="•"/>
            </a:pPr>
            <a:r>
              <a:rPr lang="en-GB" sz="1400" b="0" i="0" dirty="0">
                <a:solidFill>
                  <a:srgbClr val="202122"/>
                </a:solidFill>
                <a:effectLst/>
                <a:latin typeface="+mj-lt"/>
              </a:rPr>
              <a:t>The ship's safety and life-saving equipment had not been properly tested.</a:t>
            </a:r>
          </a:p>
          <a:p>
            <a:pPr algn="l">
              <a:buFont typeface="Arial" panose="020B0604020202020204" pitchFamily="34" charset="0"/>
              <a:buChar char="•"/>
            </a:pPr>
            <a:r>
              <a:rPr lang="en-GB" sz="1400" b="0" i="1" dirty="0">
                <a:solidFill>
                  <a:srgbClr val="202122"/>
                </a:solidFill>
                <a:effectLst/>
                <a:latin typeface="+mj-lt"/>
              </a:rPr>
              <a:t>Titanic</a:t>
            </a:r>
            <a:r>
              <a:rPr lang="en-GB" sz="1400" b="0" i="0" dirty="0">
                <a:solidFill>
                  <a:srgbClr val="202122"/>
                </a:solidFill>
                <a:effectLst/>
                <a:latin typeface="+mj-lt"/>
              </a:rPr>
              <a:t>'s Captain </a:t>
            </a:r>
            <a:r>
              <a:rPr lang="en-GB" sz="1400" b="0" i="0" u="none" strike="noStrike" dirty="0">
                <a:effectLst/>
                <a:latin typeface="+mj-lt"/>
              </a:rPr>
              <a:t>Edward Smith</a:t>
            </a:r>
            <a:r>
              <a:rPr lang="en-GB" sz="1400" b="0" i="0" dirty="0">
                <a:effectLst/>
                <a:latin typeface="+mj-lt"/>
              </a:rPr>
              <a:t> </a:t>
            </a:r>
            <a:r>
              <a:rPr lang="en-GB" sz="1400" b="0" i="0" dirty="0">
                <a:solidFill>
                  <a:srgbClr val="202122"/>
                </a:solidFill>
                <a:effectLst/>
                <a:latin typeface="+mj-lt"/>
              </a:rPr>
              <a:t>had shown an "indifference to danger [that] was one of the direct and contributing causes of this unnecessary tragedy."</a:t>
            </a:r>
          </a:p>
          <a:p>
            <a:pPr algn="l">
              <a:buFont typeface="Arial" panose="020B0604020202020204" pitchFamily="34" charset="0"/>
              <a:buChar char="•"/>
            </a:pPr>
            <a:r>
              <a:rPr lang="en-GB" sz="1400" b="0" i="0" dirty="0">
                <a:solidFill>
                  <a:srgbClr val="202122"/>
                </a:solidFill>
                <a:effectLst/>
                <a:latin typeface="+mj-lt"/>
              </a:rPr>
              <a:t>The lack of lifeboats was the fault of the British Board of Trade, "to whose laxity of regulation and hasty inspection the world is largely indebted for this awful tragedy."</a:t>
            </a:r>
          </a:p>
          <a:p>
            <a:pPr algn="l">
              <a:buFont typeface="Arial" panose="020B0604020202020204" pitchFamily="34" charset="0"/>
              <a:buChar char="•"/>
            </a:pPr>
            <a:r>
              <a:rPr lang="en-GB" sz="1400" b="0" i="0" dirty="0">
                <a:solidFill>
                  <a:srgbClr val="202122"/>
                </a:solidFill>
                <a:effectLst/>
                <a:latin typeface="+mj-lt"/>
              </a:rPr>
              <a:t>The SS </a:t>
            </a:r>
            <a:r>
              <a:rPr lang="en-GB" sz="1400" b="0" i="1" dirty="0">
                <a:solidFill>
                  <a:srgbClr val="202122"/>
                </a:solidFill>
                <a:effectLst/>
                <a:latin typeface="+mj-lt"/>
              </a:rPr>
              <a:t>Californian</a:t>
            </a:r>
            <a:r>
              <a:rPr lang="en-GB" sz="1400" b="0" i="0" dirty="0">
                <a:solidFill>
                  <a:srgbClr val="202122"/>
                </a:solidFill>
                <a:effectLst/>
                <a:latin typeface="+mj-lt"/>
              </a:rPr>
              <a:t> had been "much nearer [to </a:t>
            </a:r>
            <a:r>
              <a:rPr lang="en-GB" sz="1400" b="0" i="1" dirty="0">
                <a:solidFill>
                  <a:srgbClr val="202122"/>
                </a:solidFill>
                <a:effectLst/>
                <a:latin typeface="+mj-lt"/>
              </a:rPr>
              <a:t>Titanic</a:t>
            </a:r>
            <a:r>
              <a:rPr lang="en-GB" sz="1400" b="0" i="0" dirty="0">
                <a:solidFill>
                  <a:srgbClr val="202122"/>
                </a:solidFill>
                <a:effectLst/>
                <a:latin typeface="+mj-lt"/>
              </a:rPr>
              <a:t>] than the captain is willing to admit" and the British Government should take "drastic action" against him for his actions.</a:t>
            </a:r>
          </a:p>
          <a:p>
            <a:pPr algn="l">
              <a:buFont typeface="Arial" panose="020B0604020202020204" pitchFamily="34" charset="0"/>
              <a:buChar char="•"/>
            </a:pPr>
            <a:r>
              <a:rPr lang="en-GB" sz="1400" b="0" i="0" dirty="0">
                <a:solidFill>
                  <a:srgbClr val="202122"/>
                </a:solidFill>
                <a:effectLst/>
                <a:latin typeface="+mj-lt"/>
              </a:rPr>
              <a:t>J. Bruce </a:t>
            </a:r>
            <a:r>
              <a:rPr lang="en-GB" sz="1400" b="0" i="0" dirty="0" err="1">
                <a:solidFill>
                  <a:srgbClr val="202122"/>
                </a:solidFill>
                <a:effectLst/>
                <a:latin typeface="+mj-lt"/>
              </a:rPr>
              <a:t>Ismay</a:t>
            </a:r>
            <a:r>
              <a:rPr lang="en-GB" sz="1400" b="0" i="0" dirty="0">
                <a:solidFill>
                  <a:srgbClr val="202122"/>
                </a:solidFill>
                <a:effectLst/>
                <a:latin typeface="+mj-lt"/>
              </a:rPr>
              <a:t> had not ordered Captain Smith to put on extra speed, but </a:t>
            </a:r>
            <a:r>
              <a:rPr lang="en-GB" sz="1400" b="0" i="0" dirty="0" err="1">
                <a:solidFill>
                  <a:srgbClr val="202122"/>
                </a:solidFill>
                <a:effectLst/>
                <a:latin typeface="+mj-lt"/>
              </a:rPr>
              <a:t>Ismay's</a:t>
            </a:r>
            <a:r>
              <a:rPr lang="en-GB" sz="1400" b="0" i="0" dirty="0">
                <a:solidFill>
                  <a:srgbClr val="202122"/>
                </a:solidFill>
                <a:effectLst/>
                <a:latin typeface="+mj-lt"/>
              </a:rPr>
              <a:t> presence on board may have contributed to the captain's decision to do so. </a:t>
            </a:r>
          </a:p>
          <a:p>
            <a:pPr algn="l">
              <a:buFont typeface="Arial" panose="020B0604020202020204" pitchFamily="34" charset="0"/>
              <a:buChar char="•"/>
            </a:pPr>
            <a:endParaRPr lang="en-GB" sz="1400" dirty="0">
              <a:solidFill>
                <a:srgbClr val="202122"/>
              </a:solidFill>
              <a:latin typeface="+mj-lt"/>
            </a:endParaRPr>
          </a:p>
          <a:p>
            <a:pPr algn="l"/>
            <a:r>
              <a:rPr lang="en-GB" sz="1400" b="0" i="0" dirty="0">
                <a:solidFill>
                  <a:srgbClr val="202122"/>
                </a:solidFill>
                <a:effectLst/>
                <a:latin typeface="+mj-lt"/>
              </a:rPr>
              <a:t>The report was strongly critical of established seafaring practices and the roles that </a:t>
            </a:r>
            <a:r>
              <a:rPr lang="en-GB" sz="1400" b="0" i="1" dirty="0">
                <a:solidFill>
                  <a:srgbClr val="202122"/>
                </a:solidFill>
                <a:effectLst/>
                <a:latin typeface="+mj-lt"/>
              </a:rPr>
              <a:t>Titanic</a:t>
            </a:r>
            <a:r>
              <a:rPr lang="en-GB" sz="1400" b="0" i="0" dirty="0">
                <a:solidFill>
                  <a:srgbClr val="202122"/>
                </a:solidFill>
                <a:effectLst/>
                <a:latin typeface="+mj-lt"/>
              </a:rPr>
              <a:t>'s builders, owners, officers and crew had played in contributing to the disaster. It highlighted the arrogance and complacency that had been prevalent aboard the ship and more generally in the shipping industry and the British Board of Trade.</a:t>
            </a:r>
            <a:r>
              <a:rPr lang="en-GB" sz="1400" b="0" i="0" baseline="30000" dirty="0">
                <a:solidFill>
                  <a:srgbClr val="3366CC"/>
                </a:solidFill>
                <a:effectLst/>
                <a:latin typeface="+mj-lt"/>
              </a:rPr>
              <a:t>  </a:t>
            </a:r>
            <a:r>
              <a:rPr lang="en-GB" sz="1400" b="0" i="0" dirty="0">
                <a:solidFill>
                  <a:srgbClr val="202122"/>
                </a:solidFill>
                <a:effectLst/>
                <a:latin typeface="+mj-lt"/>
              </a:rPr>
              <a:t>However, it did not find White Star Line negligent under existing maritime laws, as they had merely followed standard practice, and the disaster could thus only be categorised as </a:t>
            </a:r>
            <a:r>
              <a:rPr lang="en-GB" sz="1400" b="0" i="0" dirty="0">
                <a:effectLst/>
                <a:latin typeface="+mj-lt"/>
              </a:rPr>
              <a:t>an "</a:t>
            </a:r>
            <a:r>
              <a:rPr lang="en-GB" sz="1400" b="0" i="0" u="none" strike="noStrike" dirty="0">
                <a:effectLst/>
                <a:latin typeface="+mj-lt"/>
              </a:rPr>
              <a:t>act of God</a:t>
            </a:r>
            <a:r>
              <a:rPr lang="en-GB" sz="1400" b="0" i="0" dirty="0">
                <a:effectLst/>
                <a:latin typeface="+mj-lt"/>
              </a:rPr>
              <a:t>"</a:t>
            </a:r>
          </a:p>
        </p:txBody>
      </p:sp>
    </p:spTree>
    <p:extLst>
      <p:ext uri="{BB962C8B-B14F-4D97-AF65-F5344CB8AC3E}">
        <p14:creationId xmlns:p14="http://schemas.microsoft.com/office/powerpoint/2010/main" val="2863832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croll: Vertical 3">
            <a:extLst>
              <a:ext uri="{FF2B5EF4-FFF2-40B4-BE49-F238E27FC236}">
                <a16:creationId xmlns:a16="http://schemas.microsoft.com/office/drawing/2014/main" id="{C65D5F52-CB3B-45C9-9F6B-272E5E551B0A}"/>
              </a:ext>
            </a:extLst>
          </p:cNvPr>
          <p:cNvSpPr/>
          <p:nvPr/>
        </p:nvSpPr>
        <p:spPr>
          <a:xfrm>
            <a:off x="1345820" y="600739"/>
            <a:ext cx="9769976" cy="5656521"/>
          </a:xfrm>
          <a:prstGeom prst="verticalScroll">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961537-283A-4FDD-962C-222C4997BCA2}"/>
              </a:ext>
            </a:extLst>
          </p:cNvPr>
          <p:cNvSpPr/>
          <p:nvPr/>
        </p:nvSpPr>
        <p:spPr>
          <a:xfrm>
            <a:off x="4959309" y="1362001"/>
            <a:ext cx="2809423" cy="646331"/>
          </a:xfrm>
          <a:prstGeom prst="rect">
            <a:avLst/>
          </a:prstGeom>
          <a:noFill/>
        </p:spPr>
        <p:txBody>
          <a:bodyPr wrap="none" lIns="91440" tIns="45720" rIns="91440" bIns="45720">
            <a:spAutoFit/>
          </a:bodyPr>
          <a:lstStyle/>
          <a:p>
            <a:pPr algn="ctr"/>
            <a:r>
              <a:rPr lang="en-GB" sz="3600" b="0" u="sng" cap="none" spc="0" dirty="0">
                <a:ln w="0"/>
                <a:solidFill>
                  <a:schemeClr val="accent1"/>
                </a:solidFill>
                <a:effectLst>
                  <a:outerShdw blurRad="38100" dist="25400" dir="5400000" algn="ctr" rotWithShape="0">
                    <a:srgbClr val="6E747A">
                      <a:alpha val="43000"/>
                    </a:srgbClr>
                  </a:outerShdw>
                </a:effectLst>
              </a:rPr>
              <a:t>British Inquiry</a:t>
            </a:r>
          </a:p>
        </p:txBody>
      </p:sp>
      <p:sp>
        <p:nvSpPr>
          <p:cNvPr id="6" name="Rectangle 2">
            <a:extLst>
              <a:ext uri="{FF2B5EF4-FFF2-40B4-BE49-F238E27FC236}">
                <a16:creationId xmlns:a16="http://schemas.microsoft.com/office/drawing/2014/main" id="{0D475CDF-474A-4F94-9F39-18F52794C625}"/>
              </a:ext>
            </a:extLst>
          </p:cNvPr>
          <p:cNvSpPr>
            <a:spLocks noChangeArrowheads="1"/>
          </p:cNvSpPr>
          <p:nvPr/>
        </p:nvSpPr>
        <p:spPr bwMode="auto">
          <a:xfrm>
            <a:off x="2162435" y="1916377"/>
            <a:ext cx="813674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2"/>
                </a:solidFill>
                <a:effectLst/>
                <a:latin typeface="+mj-lt"/>
              </a:rPr>
              <a:t>The report found that </a:t>
            </a:r>
            <a:r>
              <a:rPr kumimoji="0" lang="en-US" altLang="en-US" sz="1400" b="0" i="1" u="none" strike="noStrike" cap="none" normalizeH="0" baseline="0" dirty="0">
                <a:ln>
                  <a:noFill/>
                </a:ln>
                <a:solidFill>
                  <a:srgbClr val="202122"/>
                </a:solidFill>
                <a:effectLst/>
                <a:latin typeface="+mj-lt"/>
              </a:rPr>
              <a:t>Titanic</a:t>
            </a:r>
            <a:r>
              <a:rPr kumimoji="0" lang="en-US" altLang="en-US" sz="1400" b="0" i="0" u="none" strike="noStrike" cap="none" normalizeH="0" baseline="0" dirty="0">
                <a:ln>
                  <a:noFill/>
                </a:ln>
                <a:solidFill>
                  <a:srgbClr val="202122"/>
                </a:solidFill>
                <a:effectLst/>
                <a:latin typeface="+mj-lt"/>
              </a:rPr>
              <a:t>'s sinking was solely the result of colliding with the iceberg, not due to any inherent flaws with the ship, and that the collision had been brought about by a dangerously fast speed in icy waters:</a:t>
            </a:r>
            <a:endParaRPr kumimoji="0" lang="en-US" altLang="en-US" sz="1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mj-lt"/>
              </a:rPr>
              <a:t>The Court, having carefully inquired into the circumstances of the above mentioned shipping casualty, finds, for the reasons appearing in the annex hereto, that the loss of the said ship was due to collision with an iceberg, brought about by the excessive speed at which the ship was being navigated.”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2"/>
                </a:solidFill>
                <a:effectLst/>
                <a:latin typeface="+mj-lt"/>
              </a:rPr>
              <a:t>It also found that the lookout being kept was inadequate given the navigational hazards </a:t>
            </a:r>
            <a:r>
              <a:rPr kumimoji="0" lang="en-US" altLang="en-US" sz="1400" b="0" i="1" u="none" strike="noStrike" cap="none" normalizeH="0" baseline="0" dirty="0">
                <a:ln>
                  <a:noFill/>
                </a:ln>
                <a:solidFill>
                  <a:srgbClr val="202122"/>
                </a:solidFill>
                <a:effectLst/>
                <a:latin typeface="+mj-lt"/>
              </a:rPr>
              <a:t>Titanic</a:t>
            </a:r>
            <a:r>
              <a:rPr kumimoji="0" lang="en-US" altLang="en-US" sz="1400" b="0" i="0" u="none" strike="noStrike" cap="none" normalizeH="0" baseline="0" dirty="0">
                <a:ln>
                  <a:noFill/>
                </a:ln>
                <a:solidFill>
                  <a:srgbClr val="202122"/>
                </a:solidFill>
                <a:effectLst/>
                <a:latin typeface="+mj-lt"/>
              </a:rPr>
              <a:t> faced, and that the ship's officers had been complacent. There were too few lifeboats available and they had not been properly filled or manned with trained seamen, though they had been lowered correctly. The inquiry concluded that </a:t>
            </a:r>
            <a:r>
              <a:rPr kumimoji="0" lang="en-US" altLang="en-US" sz="1400" b="0" i="1" u="none" strike="noStrike" cap="none" normalizeH="0" baseline="0" dirty="0">
                <a:ln>
                  <a:noFill/>
                </a:ln>
                <a:solidFill>
                  <a:srgbClr val="202122"/>
                </a:solidFill>
                <a:effectLst/>
                <a:latin typeface="+mj-lt"/>
              </a:rPr>
              <a:t>Californian</a:t>
            </a:r>
            <a:r>
              <a:rPr kumimoji="0" lang="en-US" altLang="en-US" sz="1400" b="0" i="0" u="none" strike="noStrike" cap="none" normalizeH="0" baseline="0" dirty="0">
                <a:ln>
                  <a:noFill/>
                </a:ln>
                <a:solidFill>
                  <a:srgbClr val="202122"/>
                </a:solidFill>
                <a:effectLst/>
                <a:latin typeface="+mj-lt"/>
              </a:rPr>
              <a:t> "could have pushed through the ice to the open water without any serious risk and so have come to the assistance of the </a:t>
            </a:r>
            <a:r>
              <a:rPr kumimoji="0" lang="en-US" altLang="en-US" sz="1400" b="0" i="1" u="none" strike="noStrike" cap="none" normalizeH="0" baseline="0" dirty="0">
                <a:ln>
                  <a:noFill/>
                </a:ln>
                <a:solidFill>
                  <a:srgbClr val="202122"/>
                </a:solidFill>
                <a:effectLst/>
                <a:latin typeface="+mj-lt"/>
              </a:rPr>
              <a:t>Titanic</a:t>
            </a:r>
            <a:r>
              <a:rPr kumimoji="0" lang="en-US" altLang="en-US" sz="1400" b="0" i="0" u="none" strike="noStrike" cap="none" normalizeH="0" baseline="0" dirty="0">
                <a:ln>
                  <a:noFill/>
                </a:ln>
                <a:solidFill>
                  <a:srgbClr val="202122"/>
                </a:solidFill>
                <a:effectLst/>
                <a:latin typeface="+mj-lt"/>
              </a:rPr>
              <a:t>. Had she done so she might have saved many if not all of the lives that were lost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202122"/>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GB" sz="1400" b="0" i="0" dirty="0">
                <a:solidFill>
                  <a:srgbClr val="202122"/>
                </a:solidFill>
                <a:effectLst/>
                <a:latin typeface="+mj-lt"/>
              </a:rPr>
              <a:t>The Mersey report did not condemn the failures of the Board of Trade, the White Star Line or </a:t>
            </a:r>
            <a:r>
              <a:rPr lang="en-GB" sz="1400" b="0" i="1" dirty="0">
                <a:solidFill>
                  <a:srgbClr val="202122"/>
                </a:solidFill>
                <a:effectLst/>
                <a:latin typeface="+mj-lt"/>
              </a:rPr>
              <a:t>Titanic</a:t>
            </a:r>
            <a:r>
              <a:rPr lang="en-GB" sz="1400" b="0" i="0" dirty="0">
                <a:solidFill>
                  <a:srgbClr val="202122"/>
                </a:solidFill>
                <a:effectLst/>
                <a:latin typeface="+mj-lt"/>
              </a:rPr>
              <a:t>'s captain, </a:t>
            </a:r>
            <a:r>
              <a:rPr lang="en-GB" sz="1400" b="0" i="0" u="none" strike="noStrike" dirty="0">
                <a:effectLst/>
                <a:latin typeface="+mj-lt"/>
              </a:rPr>
              <a:t>Edward Smith</a:t>
            </a:r>
            <a:r>
              <a:rPr lang="en-GB" sz="1400" b="0" i="0" dirty="0">
                <a:solidFill>
                  <a:srgbClr val="202122"/>
                </a:solidFill>
                <a:effectLst/>
                <a:latin typeface="+mj-lt"/>
              </a:rPr>
              <a:t>. The report found that although Smith was at fault for not changing course or slowing down, he had not been negligent because he had followed long-standing practice which had not previously been shown to be unsafe. It concluded that Smith had merely done </a:t>
            </a:r>
            <a:r>
              <a:rPr lang="en-GB" sz="1400" b="0" i="1" dirty="0">
                <a:solidFill>
                  <a:srgbClr val="202122"/>
                </a:solidFill>
                <a:effectLst/>
                <a:latin typeface="+mj-lt"/>
              </a:rPr>
              <a:t>"only that which other skilled men would have done in the same position”.</a:t>
            </a:r>
            <a:endParaRPr kumimoji="0" lang="en-US" altLang="en-US" sz="1400" b="1" i="1"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674352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8D1398-4DE9-443C-85AD-138FAF2DD032}"/>
              </a:ext>
            </a:extLst>
          </p:cNvPr>
          <p:cNvSpPr>
            <a:spLocks noGrp="1"/>
          </p:cNvSpPr>
          <p:nvPr>
            <p:ph idx="1"/>
          </p:nvPr>
        </p:nvSpPr>
        <p:spPr>
          <a:xfrm>
            <a:off x="1663110" y="1269750"/>
            <a:ext cx="8865780" cy="4318500"/>
          </a:xfrm>
          <a:solidFill>
            <a:schemeClr val="bg1"/>
          </a:solidFill>
          <a:ln w="38100">
            <a:solidFill>
              <a:srgbClr val="00B0F0"/>
            </a:solidFill>
          </a:ln>
        </p:spPr>
        <p:txBody>
          <a:bodyPr>
            <a:normAutofit fontScale="92500" lnSpcReduction="20000"/>
          </a:bodyPr>
          <a:lstStyle/>
          <a:p>
            <a:pPr marL="514350" indent="-514350">
              <a:buFont typeface="+mj-lt"/>
              <a:buAutoNum type="arabicPeriod"/>
            </a:pPr>
            <a:endParaRPr lang="en-GB" sz="3600" dirty="0"/>
          </a:p>
          <a:p>
            <a:pPr marL="514350" indent="-514350">
              <a:buFont typeface="+mj-lt"/>
              <a:buAutoNum type="arabicPeriod"/>
            </a:pPr>
            <a:r>
              <a:rPr lang="en-GB" sz="3600" dirty="0"/>
              <a:t>Who does the American Inquiry blame for the Titanic disaster? Why?</a:t>
            </a:r>
          </a:p>
          <a:p>
            <a:pPr marL="514350" indent="-514350">
              <a:buFont typeface="+mj-lt"/>
              <a:buAutoNum type="arabicPeriod"/>
            </a:pPr>
            <a:endParaRPr lang="en-GB" sz="3600" dirty="0"/>
          </a:p>
          <a:p>
            <a:pPr marL="514350" indent="-514350">
              <a:buFont typeface="+mj-lt"/>
              <a:buAutoNum type="arabicPeriod"/>
            </a:pPr>
            <a:r>
              <a:rPr lang="en-GB" sz="3600" dirty="0"/>
              <a:t>Who does the British Inquiry blame for the Titanic disaster? Why?</a:t>
            </a:r>
          </a:p>
          <a:p>
            <a:pPr marL="514350" indent="-514350">
              <a:buFont typeface="+mj-lt"/>
              <a:buAutoNum type="arabicPeriod"/>
            </a:pPr>
            <a:endParaRPr lang="en-GB" sz="3600" dirty="0"/>
          </a:p>
          <a:p>
            <a:pPr marL="514350" indent="-514350">
              <a:buFont typeface="+mj-lt"/>
              <a:buAutoNum type="arabicPeriod"/>
            </a:pPr>
            <a:r>
              <a:rPr lang="en-GB" sz="3600" dirty="0"/>
              <a:t>Why do you think these might have different interpretations about who was to blame?</a:t>
            </a:r>
          </a:p>
          <a:p>
            <a:pPr marL="514350" indent="-514350">
              <a:buFont typeface="+mj-lt"/>
              <a:buAutoNum type="arabicPeriod"/>
            </a:pPr>
            <a:endParaRPr lang="en-GB" sz="3600" dirty="0"/>
          </a:p>
          <a:p>
            <a:pPr marL="0" indent="0">
              <a:buNone/>
            </a:pPr>
            <a:endParaRPr lang="en-GB" sz="3600" dirty="0"/>
          </a:p>
        </p:txBody>
      </p:sp>
    </p:spTree>
    <p:extLst>
      <p:ext uri="{BB962C8B-B14F-4D97-AF65-F5344CB8AC3E}">
        <p14:creationId xmlns:p14="http://schemas.microsoft.com/office/powerpoint/2010/main" val="3522227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1181895" y="1301750"/>
            <a:ext cx="9828209" cy="4060379"/>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ctr" latinLnBrk="0" hangingPunct="1">
                <a:lnSpc>
                  <a:spcPct val="107000"/>
                </a:lnSpc>
                <a:spcBef>
                  <a:spcPts val="0"/>
                </a:spcBef>
                <a:spcAft>
                  <a:spcPts val="800"/>
                </a:spcAft>
                <a:buClr>
                  <a:srgbClr val="000000"/>
                </a:buClr>
                <a:buSzTx/>
                <a:buFont typeface="Arial"/>
                <a:buNone/>
                <a:tabLst/>
                <a:defRPr/>
              </a:pPr>
              <a:endParaRPr kumimoji="0" lang="en-GB" sz="1800" b="0" i="0" u="none" strike="noStrike" kern="0" cap="none" spc="0" normalizeH="0" baseline="0" noProof="0" dirty="0">
                <a:ln>
                  <a:noFill/>
                </a:ln>
                <a:solidFill>
                  <a:srgbClr val="FFFFFF"/>
                </a:solidFill>
                <a:effectLst/>
                <a:uLnTx/>
                <a:uFillTx/>
                <a:latin typeface="Arial" panose="020B0604020202020204" pitchFamily="34" charset="0"/>
                <a:ea typeface="+mn-ea"/>
                <a:cs typeface="+mn-cs"/>
                <a:sym typeface="Arial"/>
              </a:endParaRPr>
            </a:p>
            <a:p>
              <a:pPr marL="0" marR="0" lvl="0" indent="0" algn="l" defTabSz="914400" rtl="0" eaLnBrk="1" fontAlgn="ctr" latinLnBrk="0" hangingPunct="1">
                <a:lnSpc>
                  <a:spcPct val="107000"/>
                </a:lnSpc>
                <a:spcBef>
                  <a:spcPts val="0"/>
                </a:spcBef>
                <a:spcAft>
                  <a:spcPts val="800"/>
                </a:spcAft>
                <a:buClr>
                  <a:srgbClr val="000000"/>
                </a:buClr>
                <a:buSzTx/>
                <a:buFont typeface="Arial"/>
                <a:buNone/>
                <a:tabLst/>
                <a:defRPr/>
              </a:pPr>
              <a:r>
                <a:rPr kumimoji="0" lang="en-GB" sz="18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Remembering Titanic Lessons © 2023 by Wonyong Park, Neta Shaby, Rachele Newman, Megan Barton, Christopher Dale, Ashleigh Fair, Natalie Harrison, Mary Shepherd and Christopher </a:t>
              </a:r>
              <a:r>
                <a:rPr kumimoji="0" lang="en-GB" sz="1800" b="0" i="0" u="none" strike="noStrike" kern="0" cap="none" spc="0" normalizeH="0" baseline="0" noProof="0" dirty="0" err="1">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Zieba</a:t>
              </a:r>
              <a:r>
                <a:rPr kumimoji="0" lang="en-GB" sz="18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 is licensed under </a:t>
              </a:r>
              <a:r>
                <a:rPr kumimoji="0" lang="en-GB" sz="1800" b="0" i="0" u="sng"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hlinkClick r:id="rId4"/>
                </a:rPr>
                <a:t>CC BY-NC-SA 4.0</a:t>
              </a:r>
              <a:r>
                <a:rPr kumimoji="0" lang="en-GB" sz="18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 You can share and adapt the materials, as long as you give appropriate credit and do not use them for commercial purposes.</a:t>
              </a:r>
              <a:endParaRPr kumimoji="0" lang="en-GB" sz="1800" b="0" i="0" u="none" strike="noStrike" kern="0" cap="none" spc="0" normalizeH="0" baseline="0" noProof="0" dirty="0">
                <a:ln>
                  <a:noFill/>
                </a:ln>
                <a:solidFill>
                  <a:srgbClr val="FFFFFF"/>
                </a:solidFill>
                <a:effectLst/>
                <a:uLnTx/>
                <a:uFillTx/>
                <a:latin typeface="Arial" panose="020B060402020202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dirty="0">
                <a:ln>
                  <a:noFill/>
                </a:ln>
                <a:solidFill>
                  <a:sysClr val="windowText" lastClr="000000"/>
                </a:solidFill>
                <a:effectLst/>
                <a:uLnTx/>
                <a:uFillTx/>
                <a:latin typeface="Arial"/>
                <a:ea typeface="+mn-ea"/>
                <a:cs typeface="+mn-cs"/>
                <a:sym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4e09ebd-c8f1-4362-991a-c49006e523f9" xsi:nil="true"/>
    <lcf76f155ced4ddcb4097134ff3c332f xmlns="d5a874f9-67e5-4deb-a0f2-d102b20c5fd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8CC194-BCF6-4F15-8157-B56EA6C12688}">
  <ds:schemaRefs>
    <ds:schemaRef ds:uri="http://schemas.microsoft.com/sharepoint/v3/contenttype/forms"/>
  </ds:schemaRefs>
</ds:datastoreItem>
</file>

<file path=customXml/itemProps2.xml><?xml version="1.0" encoding="utf-8"?>
<ds:datastoreItem xmlns:ds="http://schemas.openxmlformats.org/officeDocument/2006/customXml" ds:itemID="{2A37404F-338E-4E21-AC72-57A1527FAC75}">
  <ds:schemaRefs>
    <ds:schemaRef ds:uri="http://schemas.microsoft.com/office/2006/metadata/properties"/>
    <ds:schemaRef ds:uri="http://schemas.microsoft.com/office/infopath/2007/PartnerControls"/>
    <ds:schemaRef ds:uri="814f39ce-6887-4a60-9466-22d6cf0cb08b"/>
    <ds:schemaRef ds:uri="05ea98c5-3eb1-463a-a1e2-526793aaf39b"/>
    <ds:schemaRef ds:uri="94e09ebd-c8f1-4362-991a-c49006e523f9"/>
    <ds:schemaRef ds:uri="d5a874f9-67e5-4deb-a0f2-d102b20c5fd8"/>
  </ds:schemaRefs>
</ds:datastoreItem>
</file>

<file path=customXml/itemProps3.xml><?xml version="1.0" encoding="utf-8"?>
<ds:datastoreItem xmlns:ds="http://schemas.openxmlformats.org/officeDocument/2006/customXml" ds:itemID="{B4CEF84D-9DD2-4B19-987F-3126E1758348}"/>
</file>

<file path=docProps/app.xml><?xml version="1.0" encoding="utf-8"?>
<Properties xmlns="http://schemas.openxmlformats.org/officeDocument/2006/extended-properties" xmlns:vt="http://schemas.openxmlformats.org/officeDocument/2006/docPropsVTypes">
  <TotalTime>77910</TotalTime>
  <Words>1548</Words>
  <Application>Microsoft Office PowerPoint</Application>
  <PresentationFormat>Widescreen</PresentationFormat>
  <Paragraphs>83</Paragraphs>
  <Slides>13</Slides>
  <Notes>7</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Calibri Light</vt:lpstr>
      <vt:lpstr>Comic Sans MS</vt:lpstr>
      <vt:lpstr>Times New Roman</vt:lpstr>
      <vt:lpstr>Office Theme</vt:lpstr>
      <vt:lpstr>1_Office Theme</vt:lpstr>
      <vt:lpstr>Lesson 3:Who was most to blame for the sinking of the Titanic?</vt:lpstr>
      <vt:lpstr>Lesson 3:Who was most to blame for the sinking of the Titanic?</vt:lpstr>
      <vt:lpstr>Lesson 3:Who was most to blame for the disaster of the Titanic?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Cams Hill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sort of King was James I?</dc:title>
  <dc:creator>Chris Dale</dc:creator>
  <cp:lastModifiedBy>Wonyong Park</cp:lastModifiedBy>
  <cp:revision>46</cp:revision>
  <cp:lastPrinted>2023-07-05T12:58:37Z</cp:lastPrinted>
  <dcterms:created xsi:type="dcterms:W3CDTF">2022-09-04T20:04:29Z</dcterms:created>
  <dcterms:modified xsi:type="dcterms:W3CDTF">2023-12-14T23:14:52Z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