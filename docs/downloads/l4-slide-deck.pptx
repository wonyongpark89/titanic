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 id="2147483660" r:id="rId5"/>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220B31-7662-43BF-B1F3-0D54D46D4D45}" v="3" dt="2023-12-14T18:51:15.060"/>
  </p1510:revLst>
</p1510:revInfo>
</file>

<file path=ppt/tableStyles.xml><?xml version="1.0" encoding="utf-8"?>
<a:tblStyleLst xmlns:a="http://schemas.openxmlformats.org/drawingml/2006/main" def="{2C36E6D6-60CD-426F-B26E-F7AA0E03EA77}">
  <a:tblStyle styleId="{2C36E6D6-60CD-426F-B26E-F7AA0E03EA7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1" d="100"/>
          <a:sy n="141" d="100"/>
        </p:scale>
        <p:origin x="74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onyong Park" userId="d9415017-2acf-4c90-b8cd-5d467cfa0bec" providerId="ADAL" clId="{79220B31-7662-43BF-B1F3-0D54D46D4D45}"/>
    <pc:docChg chg="addSld delSld modSld">
      <pc:chgData name="Wonyong Park" userId="d9415017-2acf-4c90-b8cd-5d467cfa0bec" providerId="ADAL" clId="{79220B31-7662-43BF-B1F3-0D54D46D4D45}" dt="2023-12-14T18:51:13.498" v="1"/>
      <pc:docMkLst>
        <pc:docMk/>
      </pc:docMkLst>
      <pc:sldChg chg="add del setBg">
        <pc:chgData name="Wonyong Park" userId="d9415017-2acf-4c90-b8cd-5d467cfa0bec" providerId="ADAL" clId="{79220B31-7662-43BF-B1F3-0D54D46D4D45}" dt="2023-12-14T18:51:13.498" v="1"/>
        <pc:sldMkLst>
          <pc:docMk/>
          <pc:sldMk cId="375251473" sldId="269"/>
        </pc:sldMkLst>
      </pc:sldChg>
    </pc:docChg>
  </pc:docChgLst>
  <pc:docChgLst>
    <pc:chgData name="Rachele Newman" userId="S::rm1c10@soton.ac.uk::69351afb-65e9-4c98-abf6-3350785a7d10" providerId="AD" clId="Web-{57B279EB-41B5-56A7-25FB-9D2B670F2121}"/>
    <pc:docChg chg="modSld">
      <pc:chgData name="Rachele Newman" userId="S::rm1c10@soton.ac.uk::69351afb-65e9-4c98-abf6-3350785a7d10" providerId="AD" clId="Web-{57B279EB-41B5-56A7-25FB-9D2B670F2121}" dt="2023-12-08T09:21:56.811" v="43" actId="14100"/>
      <pc:docMkLst>
        <pc:docMk/>
      </pc:docMkLst>
      <pc:sldChg chg="modSp">
        <pc:chgData name="Rachele Newman" userId="S::rm1c10@soton.ac.uk::69351afb-65e9-4c98-abf6-3350785a7d10" providerId="AD" clId="Web-{57B279EB-41B5-56A7-25FB-9D2B670F2121}" dt="2023-12-08T09:17:42.817" v="1" actId="20577"/>
        <pc:sldMkLst>
          <pc:docMk/>
          <pc:sldMk cId="0" sldId="260"/>
        </pc:sldMkLst>
        <pc:spChg chg="mod">
          <ac:chgData name="Rachele Newman" userId="S::rm1c10@soton.ac.uk::69351afb-65e9-4c98-abf6-3350785a7d10" providerId="AD" clId="Web-{57B279EB-41B5-56A7-25FB-9D2B670F2121}" dt="2023-12-08T09:17:42.817" v="1" actId="20577"/>
          <ac:spMkLst>
            <pc:docMk/>
            <pc:sldMk cId="0" sldId="260"/>
            <ac:spMk id="80" creationId="{00000000-0000-0000-0000-000000000000}"/>
          </ac:spMkLst>
        </pc:spChg>
      </pc:sldChg>
      <pc:sldChg chg="modSp">
        <pc:chgData name="Rachele Newman" userId="S::rm1c10@soton.ac.uk::69351afb-65e9-4c98-abf6-3350785a7d10" providerId="AD" clId="Web-{57B279EB-41B5-56A7-25FB-9D2B670F2121}" dt="2023-12-08T09:21:56.811" v="43" actId="14100"/>
        <pc:sldMkLst>
          <pc:docMk/>
          <pc:sldMk cId="0" sldId="268"/>
        </pc:sldMkLst>
        <pc:spChg chg="mod">
          <ac:chgData name="Rachele Newman" userId="S::rm1c10@soton.ac.uk::69351afb-65e9-4c98-abf6-3350785a7d10" providerId="AD" clId="Web-{57B279EB-41B5-56A7-25FB-9D2B670F2121}" dt="2023-12-08T09:21:56.811" v="43" actId="14100"/>
          <ac:spMkLst>
            <pc:docMk/>
            <pc:sldMk cId="0" sldId="268"/>
            <ac:spMk id="13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titanicinquiry.org/"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e4aa1a8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e4aa1a8e3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52d4681ad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52d4681ad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52d4681ad8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252d4681ad8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1e4aa1a8e3d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1e4aa1a8e3d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563b25b15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563b25b15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Worksheet to use for the source analysis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7d7be3f9b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7d7be3f9b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Worksheet to use for the source analysis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52d4681ad8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252d4681ad8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Source 1 is discussed in the starter task and could be used to model the task.  Information about the sources are available in the lesson plan.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563b25b152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563b25b152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563b25b152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563b25b152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Further information and extracts of both inquiries can be found here: </a:t>
            </a:r>
            <a:r>
              <a:rPr lang="en-GB" u="sng">
                <a:solidFill>
                  <a:schemeClr val="hlink"/>
                </a:solidFill>
                <a:hlinkClick r:id="rId3"/>
              </a:rPr>
              <a:t>https://www.titanicinquiry.org/</a:t>
            </a:r>
            <a:r>
              <a:rPr lang="en-GB"/>
              <a: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1e4adacd89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1e4adacd89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e4adacd899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1e4adacd899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e4adacd899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1e4adacd899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40069993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9"/>
        <p:cNvGrpSpPr/>
        <p:nvPr/>
      </p:nvGrpSpPr>
      <p:grpSpPr>
        <a:xfrm>
          <a:off x="0" y="0"/>
          <a:ext cx="0" cy="0"/>
          <a:chOff x="0" y="0"/>
          <a:chExt cx="0" cy="0"/>
        </a:xfrm>
      </p:grpSpPr>
      <p:sp>
        <p:nvSpPr>
          <p:cNvPr id="20" name="Google Shape;20;p1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22" name="Google Shape;22;p1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986176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5"/>
        <p:cNvGrpSpPr/>
        <p:nvPr/>
      </p:nvGrpSpPr>
      <p:grpSpPr>
        <a:xfrm>
          <a:off x="0" y="0"/>
          <a:ext cx="0" cy="0"/>
          <a:chOff x="0" y="0"/>
          <a:chExt cx="0" cy="0"/>
        </a:xfrm>
      </p:grpSpPr>
      <p:sp>
        <p:nvSpPr>
          <p:cNvPr id="26" name="Google Shape;26;p16"/>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6"/>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
        <p:nvSpPr>
          <p:cNvPr id="28" name="Google Shape;28;p1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3424458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1"/>
        <p:cNvGrpSpPr/>
        <p:nvPr/>
      </p:nvGrpSpPr>
      <p:grpSpPr>
        <a:xfrm>
          <a:off x="0" y="0"/>
          <a:ext cx="0" cy="0"/>
          <a:chOff x="0" y="0"/>
          <a:chExt cx="0" cy="0"/>
        </a:xfrm>
      </p:grpSpPr>
      <p:sp>
        <p:nvSpPr>
          <p:cNvPr id="32" name="Google Shape;32;p17"/>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7"/>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888888"/>
              </a:buClr>
              <a:buSzPts val="2400"/>
              <a:buNone/>
              <a:defRPr sz="1800">
                <a:solidFill>
                  <a:srgbClr val="888888"/>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34" name="Google Shape;34;p1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7690914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7"/>
        <p:cNvGrpSpPr/>
        <p:nvPr/>
      </p:nvGrpSpPr>
      <p:grpSpPr>
        <a:xfrm>
          <a:off x="0" y="0"/>
          <a:ext cx="0" cy="0"/>
          <a:chOff x="0" y="0"/>
          <a:chExt cx="0" cy="0"/>
        </a:xfrm>
      </p:grpSpPr>
      <p:sp>
        <p:nvSpPr>
          <p:cNvPr id="38" name="Google Shape;38;p18"/>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8"/>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0" name="Google Shape;40;p18"/>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1" name="Google Shape;41;p1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42185507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4"/>
        <p:cNvGrpSpPr/>
        <p:nvPr/>
      </p:nvGrpSpPr>
      <p:grpSpPr>
        <a:xfrm>
          <a:off x="0" y="0"/>
          <a:ext cx="0" cy="0"/>
          <a:chOff x="0" y="0"/>
          <a:chExt cx="0" cy="0"/>
        </a:xfrm>
      </p:grpSpPr>
      <p:sp>
        <p:nvSpPr>
          <p:cNvPr id="45" name="Google Shape;45;p19"/>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9"/>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47" name="Google Shape;47;p19"/>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8" name="Google Shape;48;p19"/>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49" name="Google Shape;49;p19"/>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0" name="Google Shape;50;p1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3841054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3"/>
        <p:cNvGrpSpPr/>
        <p:nvPr/>
      </p:nvGrpSpPr>
      <p:grpSpPr>
        <a:xfrm>
          <a:off x="0" y="0"/>
          <a:ext cx="0" cy="0"/>
          <a:chOff x="0" y="0"/>
          <a:chExt cx="0" cy="0"/>
        </a:xfrm>
      </p:grpSpPr>
      <p:sp>
        <p:nvSpPr>
          <p:cNvPr id="54" name="Google Shape;54;p20"/>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3772501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21"/>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1"/>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chemeClr val="dk1"/>
              </a:buClr>
              <a:buSzPts val="3200"/>
              <a:buChar char="•"/>
              <a:defRPr sz="2400"/>
            </a:lvl1pPr>
            <a:lvl2pPr marL="685800" lvl="1" indent="-304800" algn="l">
              <a:lnSpc>
                <a:spcPct val="90000"/>
              </a:lnSpc>
              <a:spcBef>
                <a:spcPts val="375"/>
              </a:spcBef>
              <a:spcAft>
                <a:spcPts val="0"/>
              </a:spcAft>
              <a:buClr>
                <a:schemeClr val="dk1"/>
              </a:buClr>
              <a:buSzPts val="2800"/>
              <a:buChar char="•"/>
              <a:defRPr sz="2100"/>
            </a:lvl2pPr>
            <a:lvl3pPr marL="1028700" lvl="2" indent="-285750" algn="l">
              <a:lnSpc>
                <a:spcPct val="90000"/>
              </a:lnSpc>
              <a:spcBef>
                <a:spcPts val="375"/>
              </a:spcBef>
              <a:spcAft>
                <a:spcPts val="0"/>
              </a:spcAft>
              <a:buClr>
                <a:schemeClr val="dk1"/>
              </a:buClr>
              <a:buSzPts val="2400"/>
              <a:buChar char="•"/>
              <a:defRPr sz="1800"/>
            </a:lvl3pPr>
            <a:lvl4pPr marL="1371600" lvl="3" indent="-266700" algn="l">
              <a:lnSpc>
                <a:spcPct val="90000"/>
              </a:lnSpc>
              <a:spcBef>
                <a:spcPts val="375"/>
              </a:spcBef>
              <a:spcAft>
                <a:spcPts val="0"/>
              </a:spcAft>
              <a:buClr>
                <a:schemeClr val="dk1"/>
              </a:buClr>
              <a:buSzPts val="2000"/>
              <a:buChar char="•"/>
              <a:defRPr sz="1500"/>
            </a:lvl4pPr>
            <a:lvl5pPr marL="1714500" lvl="4" indent="-266700" algn="l">
              <a:lnSpc>
                <a:spcPct val="90000"/>
              </a:lnSpc>
              <a:spcBef>
                <a:spcPts val="375"/>
              </a:spcBef>
              <a:spcAft>
                <a:spcPts val="0"/>
              </a:spcAft>
              <a:buClr>
                <a:schemeClr val="dk1"/>
              </a:buClr>
              <a:buSzPts val="2000"/>
              <a:buChar char="•"/>
              <a:defRPr sz="1500"/>
            </a:lvl5pPr>
            <a:lvl6pPr marL="2057400" lvl="5" indent="-266700" algn="l">
              <a:lnSpc>
                <a:spcPct val="90000"/>
              </a:lnSpc>
              <a:spcBef>
                <a:spcPts val="375"/>
              </a:spcBef>
              <a:spcAft>
                <a:spcPts val="0"/>
              </a:spcAft>
              <a:buClr>
                <a:schemeClr val="dk1"/>
              </a:buClr>
              <a:buSzPts val="2000"/>
              <a:buChar char="•"/>
              <a:defRPr sz="1500"/>
            </a:lvl6pPr>
            <a:lvl7pPr marL="2400300" lvl="6" indent="-266700" algn="l">
              <a:lnSpc>
                <a:spcPct val="90000"/>
              </a:lnSpc>
              <a:spcBef>
                <a:spcPts val="375"/>
              </a:spcBef>
              <a:spcAft>
                <a:spcPts val="0"/>
              </a:spcAft>
              <a:buClr>
                <a:schemeClr val="dk1"/>
              </a:buClr>
              <a:buSzPts val="2000"/>
              <a:buChar char="•"/>
              <a:defRPr sz="1500"/>
            </a:lvl7pPr>
            <a:lvl8pPr marL="2743200" lvl="7" indent="-266700" algn="l">
              <a:lnSpc>
                <a:spcPct val="90000"/>
              </a:lnSpc>
              <a:spcBef>
                <a:spcPts val="375"/>
              </a:spcBef>
              <a:spcAft>
                <a:spcPts val="0"/>
              </a:spcAft>
              <a:buClr>
                <a:schemeClr val="dk1"/>
              </a:buClr>
              <a:buSzPts val="2000"/>
              <a:buChar char="•"/>
              <a:defRPr sz="1500"/>
            </a:lvl8pPr>
            <a:lvl9pPr marL="3086100" lvl="8" indent="-266700" algn="l">
              <a:lnSpc>
                <a:spcPct val="90000"/>
              </a:lnSpc>
              <a:spcBef>
                <a:spcPts val="375"/>
              </a:spcBef>
              <a:spcAft>
                <a:spcPts val="0"/>
              </a:spcAft>
              <a:buClr>
                <a:schemeClr val="dk1"/>
              </a:buClr>
              <a:buSzPts val="2000"/>
              <a:buChar char="•"/>
              <a:defRPr sz="1500"/>
            </a:lvl9pPr>
          </a:lstStyle>
          <a:p>
            <a:endParaRPr/>
          </a:p>
        </p:txBody>
      </p:sp>
      <p:sp>
        <p:nvSpPr>
          <p:cNvPr id="61" name="Google Shape;61;p21"/>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2" name="Google Shape;62;p2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8717009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22"/>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2"/>
          <p:cNvSpPr>
            <a:spLocks noGrp="1"/>
          </p:cNvSpPr>
          <p:nvPr>
            <p:ph type="pic" idx="2"/>
          </p:nvPr>
        </p:nvSpPr>
        <p:spPr>
          <a:xfrm>
            <a:off x="3887391" y="740569"/>
            <a:ext cx="4629150" cy="3655219"/>
          </a:xfrm>
          <a:prstGeom prst="rect">
            <a:avLst/>
          </a:prstGeom>
          <a:noFill/>
          <a:ln>
            <a:noFill/>
          </a:ln>
        </p:spPr>
      </p:sp>
      <p:sp>
        <p:nvSpPr>
          <p:cNvPr id="68" name="Google Shape;68;p22"/>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9" name="Google Shape;69;p2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346760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2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3"/>
          <p:cNvSpPr txBox="1">
            <a:spLocks noGrp="1"/>
          </p:cNvSpPr>
          <p:nvPr>
            <p:ph type="body" idx="1"/>
          </p:nvPr>
        </p:nvSpPr>
        <p:spPr>
          <a:xfrm rot="5400000">
            <a:off x="2940248" y="-942380"/>
            <a:ext cx="3263504" cy="78867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5" name="Google Shape;75;p2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5123205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24"/>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4"/>
          <p:cNvSpPr txBox="1">
            <a:spLocks noGrp="1"/>
          </p:cNvSpPr>
          <p:nvPr>
            <p:ph type="body" idx="1"/>
          </p:nvPr>
        </p:nvSpPr>
        <p:spPr>
          <a:xfrm rot="5400000">
            <a:off x="1349573" y="-447080"/>
            <a:ext cx="4358879" cy="5800725"/>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1" name="Google Shape;81;p2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929447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03409102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4" Type="http://schemas.openxmlformats.org/officeDocument/2006/relationships/hyperlink" Target="http://creativecommons.org/licenses/by-nc-sa/4.0/?ref=chooser-v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181650" y="138850"/>
            <a:ext cx="8780700" cy="1108200"/>
          </a:xfrm>
          <a:prstGeom prst="rect">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3000">
                <a:latin typeface="Calibri"/>
                <a:ea typeface="Calibri"/>
                <a:cs typeface="Calibri"/>
                <a:sym typeface="Calibri"/>
              </a:rPr>
              <a:t>Lesson:  How far did the Titanic disaster have an impact on the world?</a:t>
            </a:r>
            <a:endParaRPr sz="3000">
              <a:latin typeface="Calibri"/>
              <a:ea typeface="Calibri"/>
              <a:cs typeface="Calibri"/>
              <a:sym typeface="Calibri"/>
            </a:endParaRPr>
          </a:p>
        </p:txBody>
      </p:sp>
      <p:sp>
        <p:nvSpPr>
          <p:cNvPr id="55" name="Google Shape;55;p13"/>
          <p:cNvSpPr txBox="1"/>
          <p:nvPr/>
        </p:nvSpPr>
        <p:spPr>
          <a:xfrm>
            <a:off x="181650" y="1463550"/>
            <a:ext cx="8780700" cy="3201600"/>
          </a:xfrm>
          <a:prstGeom prst="rect">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2800">
                <a:latin typeface="Calibri"/>
                <a:ea typeface="Calibri"/>
                <a:cs typeface="Calibri"/>
                <a:sym typeface="Calibri"/>
              </a:rPr>
              <a:t>Objectives:  </a:t>
            </a:r>
            <a:endParaRPr sz="2800">
              <a:latin typeface="Calibri"/>
              <a:ea typeface="Calibri"/>
              <a:cs typeface="Calibri"/>
              <a:sym typeface="Calibri"/>
            </a:endParaRPr>
          </a:p>
          <a:p>
            <a:pPr marL="0" lvl="0" indent="0" algn="l" rtl="0">
              <a:spcBef>
                <a:spcPts val="0"/>
              </a:spcBef>
              <a:spcAft>
                <a:spcPts val="0"/>
              </a:spcAft>
              <a:buNone/>
            </a:pPr>
            <a:endParaRPr sz="2800">
              <a:latin typeface="Calibri"/>
              <a:ea typeface="Calibri"/>
              <a:cs typeface="Calibri"/>
              <a:sym typeface="Calibri"/>
            </a:endParaRPr>
          </a:p>
          <a:p>
            <a:pPr marL="0" lvl="0" indent="0" algn="l" rtl="0">
              <a:spcBef>
                <a:spcPts val="0"/>
              </a:spcBef>
              <a:spcAft>
                <a:spcPts val="0"/>
              </a:spcAft>
              <a:buNone/>
            </a:pPr>
            <a:r>
              <a:rPr lang="en-GB" sz="2800">
                <a:latin typeface="Calibri"/>
                <a:ea typeface="Calibri"/>
                <a:cs typeface="Calibri"/>
                <a:sym typeface="Calibri"/>
              </a:rPr>
              <a:t>To make inferences from historical sources about the local and national impact of the Titanic disaster.</a:t>
            </a:r>
            <a:endParaRPr sz="2800">
              <a:latin typeface="Calibri"/>
              <a:ea typeface="Calibri"/>
              <a:cs typeface="Calibri"/>
              <a:sym typeface="Calibri"/>
            </a:endParaRPr>
          </a:p>
          <a:p>
            <a:pPr marL="0" lvl="0" indent="0" algn="l" rtl="0">
              <a:spcBef>
                <a:spcPts val="0"/>
              </a:spcBef>
              <a:spcAft>
                <a:spcPts val="0"/>
              </a:spcAft>
              <a:buNone/>
            </a:pPr>
            <a:endParaRPr sz="2800">
              <a:latin typeface="Calibri"/>
              <a:ea typeface="Calibri"/>
              <a:cs typeface="Calibri"/>
              <a:sym typeface="Calibri"/>
            </a:endParaRPr>
          </a:p>
          <a:p>
            <a:pPr marL="0" lvl="0" indent="0" algn="l" rtl="0">
              <a:spcBef>
                <a:spcPts val="0"/>
              </a:spcBef>
              <a:spcAft>
                <a:spcPts val="0"/>
              </a:spcAft>
              <a:buNone/>
            </a:pPr>
            <a:r>
              <a:rPr lang="en-GB" sz="2800">
                <a:latin typeface="Calibri"/>
                <a:ea typeface="Calibri"/>
                <a:cs typeface="Calibri"/>
                <a:sym typeface="Calibri"/>
              </a:rPr>
              <a:t>To analyse the impact on sailing and shipping by identifying change and continuity following the Titanic disaster.</a:t>
            </a:r>
            <a:endParaRPr sz="280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0" name="Google Shape;60;p14"/>
          <p:cNvPicPr preferRelativeResize="0"/>
          <p:nvPr/>
        </p:nvPicPr>
        <p:blipFill>
          <a:blip r:embed="rId3">
            <a:alphaModFix/>
          </a:blip>
          <a:stretch>
            <a:fillRect/>
          </a:stretch>
        </p:blipFill>
        <p:spPr>
          <a:xfrm>
            <a:off x="1754263" y="1908591"/>
            <a:ext cx="5634575" cy="2890525"/>
          </a:xfrm>
          <a:prstGeom prst="rect">
            <a:avLst/>
          </a:prstGeom>
          <a:noFill/>
          <a:ln>
            <a:noFill/>
          </a:ln>
        </p:spPr>
      </p:pic>
      <p:sp>
        <p:nvSpPr>
          <p:cNvPr id="61" name="Google Shape;61;p14"/>
          <p:cNvSpPr txBox="1"/>
          <p:nvPr/>
        </p:nvSpPr>
        <p:spPr>
          <a:xfrm>
            <a:off x="168900" y="199600"/>
            <a:ext cx="8805300" cy="15699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3000">
                <a:latin typeface="Calibri"/>
                <a:ea typeface="Calibri"/>
                <a:cs typeface="Calibri"/>
                <a:sym typeface="Calibri"/>
              </a:rPr>
              <a:t>Task:  Look at Source A; what can you infer from the source about the local impact of the sinking of the Titanic?</a:t>
            </a:r>
            <a:endParaRPr sz="30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2304663" y="1835673"/>
            <a:ext cx="4534667" cy="2326275"/>
          </a:xfrm>
          <a:prstGeom prst="rect">
            <a:avLst/>
          </a:prstGeom>
          <a:noFill/>
          <a:ln>
            <a:noFill/>
          </a:ln>
        </p:spPr>
      </p:pic>
      <p:sp>
        <p:nvSpPr>
          <p:cNvPr id="67" name="Google Shape;67;p15"/>
          <p:cNvSpPr txBox="1"/>
          <p:nvPr/>
        </p:nvSpPr>
        <p:spPr>
          <a:xfrm>
            <a:off x="196138" y="101950"/>
            <a:ext cx="8613600" cy="1569900"/>
          </a:xfrm>
          <a:prstGeom prst="rect">
            <a:avLst/>
          </a:prstGeom>
          <a:noFill/>
          <a:ln w="38100" cap="flat" cmpd="sng">
            <a:solidFill>
              <a:srgbClr val="9900FF"/>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3000">
                <a:latin typeface="Calibri"/>
                <a:ea typeface="Calibri"/>
                <a:cs typeface="Calibri"/>
                <a:sym typeface="Calibri"/>
              </a:rPr>
              <a:t>This is a cheque for one pound and ten shillings made out to the “Titanic Relief Fund”.  In 2023, this would be the equivalent of around £120.</a:t>
            </a:r>
            <a:endParaRPr sz="3000">
              <a:latin typeface="Calibri"/>
              <a:ea typeface="Calibri"/>
              <a:cs typeface="Calibri"/>
              <a:sym typeface="Calibri"/>
            </a:endParaRPr>
          </a:p>
        </p:txBody>
      </p:sp>
      <p:sp>
        <p:nvSpPr>
          <p:cNvPr id="68" name="Google Shape;68;p15"/>
          <p:cNvSpPr txBox="1"/>
          <p:nvPr/>
        </p:nvSpPr>
        <p:spPr>
          <a:xfrm>
            <a:off x="169350" y="4325775"/>
            <a:ext cx="8805300" cy="6465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3000">
                <a:latin typeface="Calibri"/>
                <a:ea typeface="Calibri"/>
                <a:cs typeface="Calibri"/>
                <a:sym typeface="Calibri"/>
              </a:rPr>
              <a:t>What does this reveal about the impact of the Titanic?</a:t>
            </a:r>
            <a:endParaRPr sz="30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92513" y="213675"/>
            <a:ext cx="8520600" cy="572700"/>
          </a:xfrm>
          <a:prstGeom prst="rect">
            <a:avLst/>
          </a:prstGeom>
          <a:ln w="3810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3000">
                <a:latin typeface="Calibri"/>
                <a:ea typeface="Calibri"/>
                <a:cs typeface="Calibri"/>
                <a:sym typeface="Calibri"/>
              </a:rPr>
              <a:t>The Titanic Relief Fund</a:t>
            </a:r>
            <a:endParaRPr sz="3000">
              <a:latin typeface="Calibri"/>
              <a:ea typeface="Calibri"/>
              <a:cs typeface="Calibri"/>
              <a:sym typeface="Calibri"/>
            </a:endParaRPr>
          </a:p>
        </p:txBody>
      </p:sp>
      <p:sp>
        <p:nvSpPr>
          <p:cNvPr id="74" name="Google Shape;74;p16"/>
          <p:cNvSpPr txBox="1">
            <a:spLocks noGrp="1"/>
          </p:cNvSpPr>
          <p:nvPr>
            <p:ph type="body" idx="1"/>
          </p:nvPr>
        </p:nvSpPr>
        <p:spPr>
          <a:xfrm>
            <a:off x="292525" y="960175"/>
            <a:ext cx="8520600" cy="4065900"/>
          </a:xfrm>
          <a:prstGeom prst="rect">
            <a:avLst/>
          </a:prstGeom>
          <a:ln w="3810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GB" sz="3000">
                <a:latin typeface="Calibri"/>
                <a:ea typeface="Calibri"/>
                <a:cs typeface="Calibri"/>
                <a:sym typeface="Calibri"/>
              </a:rPr>
              <a:t>This was a charity set up the Mayors of Southampton and London, the Daily Telegraph along with support from some American companies, and it provided support for those that had suffered after the disaster.</a:t>
            </a:r>
            <a:endParaRPr sz="3000">
              <a:latin typeface="Calibri"/>
              <a:ea typeface="Calibri"/>
              <a:cs typeface="Calibri"/>
              <a:sym typeface="Calibri"/>
            </a:endParaRPr>
          </a:p>
          <a:p>
            <a:pPr marL="0" lvl="0" indent="0" algn="l" rtl="0">
              <a:spcBef>
                <a:spcPts val="1200"/>
              </a:spcBef>
              <a:spcAft>
                <a:spcPts val="0"/>
              </a:spcAft>
              <a:buNone/>
            </a:pPr>
            <a:r>
              <a:rPr lang="en-GB" sz="3000">
                <a:latin typeface="Calibri"/>
                <a:ea typeface="Calibri"/>
                <a:cs typeface="Calibri"/>
                <a:sym typeface="Calibri"/>
              </a:rPr>
              <a:t>Many families lost their main source of income due to the death of the male in the household.</a:t>
            </a:r>
            <a:endParaRPr sz="3000">
              <a:latin typeface="Calibri"/>
              <a:ea typeface="Calibri"/>
              <a:cs typeface="Calibri"/>
              <a:sym typeface="Calibri"/>
            </a:endParaRPr>
          </a:p>
          <a:p>
            <a:pPr marL="0" lvl="0" indent="0" algn="l" rtl="0">
              <a:spcBef>
                <a:spcPts val="1200"/>
              </a:spcBef>
              <a:spcAft>
                <a:spcPts val="0"/>
              </a:spcAft>
              <a:buNone/>
            </a:pPr>
            <a:r>
              <a:rPr lang="en-GB" sz="3000">
                <a:latin typeface="Calibri"/>
                <a:ea typeface="Calibri"/>
                <a:cs typeface="Calibri"/>
                <a:sym typeface="Calibri"/>
              </a:rPr>
              <a:t>It was in business until 1958.</a:t>
            </a:r>
            <a:endParaRPr sz="3000">
              <a:latin typeface="Calibri"/>
              <a:ea typeface="Calibri"/>
              <a:cs typeface="Calibri"/>
              <a:sym typeface="Calibri"/>
            </a:endParaRPr>
          </a:p>
          <a:p>
            <a:pPr marL="0" lvl="0" indent="0" algn="l" rtl="0">
              <a:spcBef>
                <a:spcPts val="1200"/>
              </a:spcBef>
              <a:spcAft>
                <a:spcPts val="0"/>
              </a:spcAft>
              <a:buNone/>
            </a:pPr>
            <a:endParaRPr sz="3000">
              <a:latin typeface="Calibri"/>
              <a:ea typeface="Calibri"/>
              <a:cs typeface="Calibri"/>
              <a:sym typeface="Calibri"/>
            </a:endParaRPr>
          </a:p>
          <a:p>
            <a:pPr marL="0" lvl="0" indent="0" algn="l" rtl="0">
              <a:spcBef>
                <a:spcPts val="1200"/>
              </a:spcBef>
              <a:spcAft>
                <a:spcPts val="1200"/>
              </a:spcAft>
              <a:buNone/>
            </a:pPr>
            <a:endParaRPr sz="30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p:nvPr/>
        </p:nvSpPr>
        <p:spPr>
          <a:xfrm>
            <a:off x="0" y="0"/>
            <a:ext cx="9058500" cy="1569900"/>
          </a:xfrm>
          <a:prstGeom prst="rect">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3000">
                <a:latin typeface="Calibri"/>
                <a:ea typeface="Calibri"/>
                <a:cs typeface="Calibri"/>
                <a:sym typeface="Calibri"/>
              </a:rPr>
              <a:t>Task  focus: To make inferences from historical sources about the local and national impact of the Titanic disaster.</a:t>
            </a:r>
            <a:endParaRPr sz="3000">
              <a:latin typeface="Calibri"/>
              <a:ea typeface="Calibri"/>
              <a:cs typeface="Calibri"/>
              <a:sym typeface="Calibri"/>
            </a:endParaRPr>
          </a:p>
        </p:txBody>
      </p:sp>
      <p:sp>
        <p:nvSpPr>
          <p:cNvPr id="80" name="Google Shape;80;p17"/>
          <p:cNvSpPr txBox="1">
            <a:spLocks noGrp="1"/>
          </p:cNvSpPr>
          <p:nvPr>
            <p:ph type="body" idx="4294967295"/>
          </p:nvPr>
        </p:nvSpPr>
        <p:spPr>
          <a:xfrm>
            <a:off x="69425" y="2047550"/>
            <a:ext cx="8850300" cy="2882400"/>
          </a:xfrm>
          <a:prstGeom prst="rect">
            <a:avLst/>
          </a:prstGeom>
          <a:ln w="38100" cap="flat" cmpd="sng">
            <a:solidFill>
              <a:srgbClr val="9900FF"/>
            </a:solidFill>
            <a:prstDash val="solid"/>
            <a:round/>
            <a:headEnd type="none" w="sm" len="sm"/>
            <a:tailEnd type="none" w="sm" len="sm"/>
          </a:ln>
        </p:spPr>
        <p:txBody>
          <a:bodyPr spcFirstLastPara="1" wrap="square" lIns="91425" tIns="91425" rIns="91425" bIns="91425" anchor="t" anchorCtr="0">
            <a:noAutofit/>
          </a:bodyPr>
          <a:lstStyle/>
          <a:p>
            <a:pPr marL="0" indent="0">
              <a:buNone/>
            </a:pPr>
            <a:r>
              <a:rPr lang="en-GB" sz="2200" dirty="0">
                <a:solidFill>
                  <a:schemeClr val="dk1"/>
                </a:solidFill>
                <a:latin typeface="Calibri"/>
                <a:ea typeface="Calibri"/>
                <a:cs typeface="Calibri"/>
                <a:sym typeface="Calibri"/>
              </a:rPr>
              <a:t>Using the sources, students are going to explore how Southampton and the UK reacted to the disaster to identify the impact it had at the time.  Questions to use are below or on the worksheet.  Use slide 1 to model the first example - the cheque from the starter </a:t>
            </a:r>
            <a:r>
              <a:rPr lang="en-GB" sz="2200" dirty="0" err="1">
                <a:solidFill>
                  <a:schemeClr val="dk1"/>
                </a:solidFill>
                <a:latin typeface="Calibri"/>
                <a:ea typeface="Calibri"/>
                <a:cs typeface="Calibri"/>
                <a:sym typeface="Calibri"/>
              </a:rPr>
              <a:t>task.bDoes</a:t>
            </a:r>
            <a:r>
              <a:rPr lang="en-GB" sz="2200" dirty="0">
                <a:solidFill>
                  <a:schemeClr val="dk1"/>
                </a:solidFill>
                <a:latin typeface="Calibri"/>
                <a:ea typeface="Calibri"/>
                <a:cs typeface="Calibri"/>
                <a:sym typeface="Calibri"/>
              </a:rPr>
              <a:t> the source show:  </a:t>
            </a:r>
            <a:endParaRPr sz="2200">
              <a:solidFill>
                <a:schemeClr val="dk1"/>
              </a:solidFill>
              <a:latin typeface="Calibri"/>
              <a:ea typeface="Calibri"/>
              <a:cs typeface="Calibri"/>
              <a:sym typeface="Calibri"/>
            </a:endParaRPr>
          </a:p>
          <a:p>
            <a:pPr marL="0" indent="0">
              <a:buNone/>
            </a:pPr>
            <a:r>
              <a:rPr lang="en-GB" sz="2200" dirty="0">
                <a:solidFill>
                  <a:schemeClr val="dk1"/>
                </a:solidFill>
                <a:latin typeface="Calibri"/>
                <a:ea typeface="Calibri"/>
                <a:cs typeface="Calibri"/>
                <a:sym typeface="Calibri"/>
              </a:rPr>
              <a:t>1)  Immediate/short term/long term impact?</a:t>
            </a:r>
            <a:endParaRPr sz="2200" dirty="0">
              <a:solidFill>
                <a:schemeClr val="dk1"/>
              </a:solidFill>
              <a:latin typeface="Calibri"/>
              <a:ea typeface="Calibri"/>
              <a:cs typeface="Calibri"/>
              <a:sym typeface="Calibri"/>
            </a:endParaRPr>
          </a:p>
          <a:p>
            <a:pPr marL="0" indent="0">
              <a:buClr>
                <a:schemeClr val="dk1"/>
              </a:buClr>
              <a:buSzPts val="1100"/>
              <a:buNone/>
            </a:pPr>
            <a:r>
              <a:rPr lang="en-GB" sz="2200" dirty="0">
                <a:solidFill>
                  <a:schemeClr val="dk1"/>
                </a:solidFill>
                <a:latin typeface="Calibri"/>
                <a:ea typeface="Calibri"/>
                <a:cs typeface="Calibri"/>
                <a:sym typeface="Calibri"/>
              </a:rPr>
              <a:t>2)  Local or national</a:t>
            </a:r>
            <a:endParaRPr sz="2200" dirty="0">
              <a:solidFill>
                <a:schemeClr val="dk1"/>
              </a:solidFill>
              <a:latin typeface="Calibri"/>
              <a:ea typeface="Calibri"/>
              <a:cs typeface="Calibri"/>
              <a:sym typeface="Calibri"/>
            </a:endParaRPr>
          </a:p>
          <a:p>
            <a:pPr marL="0" indent="0">
              <a:buClr>
                <a:schemeClr val="dk1"/>
              </a:buClr>
              <a:buSzPts val="1100"/>
              <a:buNone/>
            </a:pPr>
            <a:r>
              <a:rPr lang="en-GB" sz="2200" dirty="0">
                <a:solidFill>
                  <a:schemeClr val="dk1"/>
                </a:solidFill>
                <a:latin typeface="Calibri"/>
                <a:ea typeface="Calibri"/>
                <a:cs typeface="Calibri"/>
                <a:sym typeface="Calibri"/>
              </a:rPr>
              <a:t>3)  What can we learn about the impact it had on Southampton and the UK?</a:t>
            </a:r>
            <a:endParaRPr sz="2200" dirty="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graphicFrame>
        <p:nvGraphicFramePr>
          <p:cNvPr id="85" name="Google Shape;85;p18"/>
          <p:cNvGraphicFramePr/>
          <p:nvPr/>
        </p:nvGraphicFramePr>
        <p:xfrm>
          <a:off x="129550" y="158125"/>
          <a:ext cx="8852775" cy="4738255"/>
        </p:xfrm>
        <a:graphic>
          <a:graphicData uri="http://schemas.openxmlformats.org/drawingml/2006/table">
            <a:tbl>
              <a:tblPr>
                <a:noFill/>
                <a:tableStyleId>{2C36E6D6-60CD-426F-B26E-F7AA0E03EA77}</a:tableStyleId>
              </a:tblPr>
              <a:tblGrid>
                <a:gridCol w="446000">
                  <a:extLst>
                    <a:ext uri="{9D8B030D-6E8A-4147-A177-3AD203B41FA5}">
                      <a16:colId xmlns:a16="http://schemas.microsoft.com/office/drawing/2014/main" val="20000"/>
                    </a:ext>
                  </a:extLst>
                </a:gridCol>
                <a:gridCol w="2119750">
                  <a:extLst>
                    <a:ext uri="{9D8B030D-6E8A-4147-A177-3AD203B41FA5}">
                      <a16:colId xmlns:a16="http://schemas.microsoft.com/office/drawing/2014/main" val="20001"/>
                    </a:ext>
                  </a:extLst>
                </a:gridCol>
                <a:gridCol w="1876700">
                  <a:extLst>
                    <a:ext uri="{9D8B030D-6E8A-4147-A177-3AD203B41FA5}">
                      <a16:colId xmlns:a16="http://schemas.microsoft.com/office/drawing/2014/main" val="20002"/>
                    </a:ext>
                  </a:extLst>
                </a:gridCol>
                <a:gridCol w="4410325">
                  <a:extLst>
                    <a:ext uri="{9D8B030D-6E8A-4147-A177-3AD203B41FA5}">
                      <a16:colId xmlns:a16="http://schemas.microsoft.com/office/drawing/2014/main" val="20003"/>
                    </a:ext>
                  </a:extLst>
                </a:gridCol>
              </a:tblGrid>
              <a:tr h="744025">
                <a:tc>
                  <a:txBody>
                    <a:bodyPr/>
                    <a:lstStyle/>
                    <a:p>
                      <a:pPr marL="0" lvl="0" indent="0" algn="l" rtl="0">
                        <a:lnSpc>
                          <a:spcPct val="115000"/>
                        </a:lnSpc>
                        <a:spcBef>
                          <a:spcPts val="0"/>
                        </a:spcBef>
                        <a:spcAft>
                          <a:spcPts val="0"/>
                        </a:spcAft>
                        <a:buNone/>
                      </a:pPr>
                      <a:endParaRPr sz="1100">
                        <a:solidFill>
                          <a:schemeClr val="lt1"/>
                        </a:solidFill>
                        <a:latin typeface="Calibri"/>
                        <a:ea typeface="Calibri"/>
                        <a:cs typeface="Calibri"/>
                        <a:sym typeface="Calibri"/>
                      </a:endParaRPr>
                    </a:p>
                  </a:txBody>
                  <a:tcPr marL="91425" marR="91425" marT="91425" marB="91425">
                    <a:solidFill>
                      <a:schemeClr val="dk1"/>
                    </a:solidFill>
                  </a:tcPr>
                </a:tc>
                <a:tc>
                  <a:txBody>
                    <a:bodyPr/>
                    <a:lstStyle/>
                    <a:p>
                      <a:pPr marL="0" lvl="0" indent="0" algn="l" rtl="0">
                        <a:lnSpc>
                          <a:spcPct val="115000"/>
                        </a:lnSpc>
                        <a:spcBef>
                          <a:spcPts val="0"/>
                        </a:spcBef>
                        <a:spcAft>
                          <a:spcPts val="0"/>
                        </a:spcAft>
                        <a:buClr>
                          <a:schemeClr val="dk1"/>
                        </a:buClr>
                        <a:buSzPts val="1100"/>
                        <a:buFont typeface="Arial"/>
                        <a:buNone/>
                      </a:pPr>
                      <a:r>
                        <a:rPr lang="en-GB" sz="1100">
                          <a:solidFill>
                            <a:schemeClr val="lt1"/>
                          </a:solidFill>
                          <a:latin typeface="Calibri"/>
                          <a:ea typeface="Calibri"/>
                          <a:cs typeface="Calibri"/>
                          <a:sym typeface="Calibri"/>
                        </a:rPr>
                        <a:t>Does the source show Immediate/short term/long term impact?</a:t>
                      </a:r>
                      <a:endParaRPr>
                        <a:solidFill>
                          <a:schemeClr val="lt1"/>
                        </a:solidFill>
                        <a:latin typeface="Calibri"/>
                        <a:ea typeface="Calibri"/>
                        <a:cs typeface="Calibri"/>
                        <a:sym typeface="Calibri"/>
                      </a:endParaRPr>
                    </a:p>
                  </a:txBody>
                  <a:tcPr marL="91425" marR="91425" marT="91425" marB="91425">
                    <a:solidFill>
                      <a:schemeClr val="dk1"/>
                    </a:solidFill>
                  </a:tcPr>
                </a:tc>
                <a:tc>
                  <a:txBody>
                    <a:bodyPr/>
                    <a:lstStyle/>
                    <a:p>
                      <a:pPr marL="0" lvl="0" indent="0" algn="l" rtl="0">
                        <a:lnSpc>
                          <a:spcPct val="115000"/>
                        </a:lnSpc>
                        <a:spcBef>
                          <a:spcPts val="0"/>
                        </a:spcBef>
                        <a:spcAft>
                          <a:spcPts val="0"/>
                        </a:spcAft>
                        <a:buClr>
                          <a:schemeClr val="dk1"/>
                        </a:buClr>
                        <a:buSzPts val="1100"/>
                        <a:buFont typeface="Arial"/>
                        <a:buNone/>
                      </a:pPr>
                      <a:r>
                        <a:rPr lang="en-GB" sz="1100">
                          <a:solidFill>
                            <a:schemeClr val="lt1"/>
                          </a:solidFill>
                          <a:latin typeface="Calibri"/>
                          <a:ea typeface="Calibri"/>
                          <a:cs typeface="Calibri"/>
                          <a:sym typeface="Calibri"/>
                        </a:rPr>
                        <a:t>Does it demonstrate a local or national impact?</a:t>
                      </a:r>
                      <a:endParaRPr>
                        <a:solidFill>
                          <a:schemeClr val="lt1"/>
                        </a:solidFill>
                        <a:latin typeface="Calibri"/>
                        <a:ea typeface="Calibri"/>
                        <a:cs typeface="Calibri"/>
                        <a:sym typeface="Calibri"/>
                      </a:endParaRPr>
                    </a:p>
                  </a:txBody>
                  <a:tcPr marL="91425" marR="91425" marT="91425" marB="91425">
                    <a:solidFill>
                      <a:schemeClr val="dk1"/>
                    </a:solidFill>
                  </a:tcPr>
                </a:tc>
                <a:tc>
                  <a:txBody>
                    <a:bodyPr/>
                    <a:lstStyle/>
                    <a:p>
                      <a:pPr marL="0" lvl="0" indent="0" algn="l" rtl="0">
                        <a:lnSpc>
                          <a:spcPct val="115000"/>
                        </a:lnSpc>
                        <a:spcBef>
                          <a:spcPts val="0"/>
                        </a:spcBef>
                        <a:spcAft>
                          <a:spcPts val="0"/>
                        </a:spcAft>
                        <a:buClr>
                          <a:schemeClr val="dk1"/>
                        </a:buClr>
                        <a:buSzPts val="1100"/>
                        <a:buFont typeface="Arial"/>
                        <a:buNone/>
                      </a:pPr>
                      <a:r>
                        <a:rPr lang="en-GB" sz="1100">
                          <a:solidFill>
                            <a:schemeClr val="lt1"/>
                          </a:solidFill>
                          <a:latin typeface="Calibri"/>
                          <a:ea typeface="Calibri"/>
                          <a:cs typeface="Calibri"/>
                          <a:sym typeface="Calibri"/>
                        </a:rPr>
                        <a:t>What can we learn about the impact it had on Southampton and the UK?</a:t>
                      </a:r>
                      <a:endParaRPr>
                        <a:solidFill>
                          <a:schemeClr val="lt1"/>
                        </a:solidFill>
                        <a:latin typeface="Calibri"/>
                        <a:ea typeface="Calibri"/>
                        <a:cs typeface="Calibri"/>
                        <a:sym typeface="Calibri"/>
                      </a:endParaRPr>
                    </a:p>
                  </a:txBody>
                  <a:tcPr marL="91425" marR="91425" marT="91425" marB="91425">
                    <a:solidFill>
                      <a:schemeClr val="dk1"/>
                    </a:solidFill>
                  </a:tcPr>
                </a:tc>
                <a:extLst>
                  <a:ext uri="{0D108BD9-81ED-4DB2-BD59-A6C34878D82A}">
                    <a16:rowId xmlns:a16="http://schemas.microsoft.com/office/drawing/2014/main" val="10000"/>
                  </a:ext>
                </a:extLst>
              </a:tr>
              <a:tr h="664725">
                <a:tc>
                  <a:txBody>
                    <a:bodyPr/>
                    <a:lstStyle/>
                    <a:p>
                      <a:pPr marL="0" lvl="0" indent="0" algn="l" rtl="0">
                        <a:spcBef>
                          <a:spcPts val="0"/>
                        </a:spcBef>
                        <a:spcAft>
                          <a:spcPts val="0"/>
                        </a:spcAft>
                        <a:buNone/>
                      </a:pPr>
                      <a:r>
                        <a:rPr lang="en-GB">
                          <a:solidFill>
                            <a:schemeClr val="lt1"/>
                          </a:solidFill>
                          <a:latin typeface="Calibri"/>
                          <a:ea typeface="Calibri"/>
                          <a:cs typeface="Calibri"/>
                          <a:sym typeface="Calibri"/>
                        </a:rPr>
                        <a:t>1</a:t>
                      </a:r>
                      <a:endParaRPr>
                        <a:solidFill>
                          <a:schemeClr val="lt1"/>
                        </a:solidFill>
                        <a:latin typeface="Calibri"/>
                        <a:ea typeface="Calibri"/>
                        <a:cs typeface="Calibri"/>
                        <a:sym typeface="Calibri"/>
                      </a:endParaRPr>
                    </a:p>
                  </a:txBody>
                  <a:tcPr marL="91425" marR="91425" marT="91425" marB="91425">
                    <a:solidFill>
                      <a:schemeClr val="dk1"/>
                    </a:solidFill>
                  </a:tcPr>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extLst>
                  <a:ext uri="{0D108BD9-81ED-4DB2-BD59-A6C34878D82A}">
                    <a16:rowId xmlns:a16="http://schemas.microsoft.com/office/drawing/2014/main" val="10001"/>
                  </a:ext>
                </a:extLst>
              </a:tr>
              <a:tr h="664725">
                <a:tc>
                  <a:txBody>
                    <a:bodyPr/>
                    <a:lstStyle/>
                    <a:p>
                      <a:pPr marL="0" lvl="0" indent="0" algn="l" rtl="0">
                        <a:spcBef>
                          <a:spcPts val="0"/>
                        </a:spcBef>
                        <a:spcAft>
                          <a:spcPts val="0"/>
                        </a:spcAft>
                        <a:buNone/>
                      </a:pPr>
                      <a:r>
                        <a:rPr lang="en-GB">
                          <a:solidFill>
                            <a:schemeClr val="lt1"/>
                          </a:solidFill>
                          <a:latin typeface="Calibri"/>
                          <a:ea typeface="Calibri"/>
                          <a:cs typeface="Calibri"/>
                          <a:sym typeface="Calibri"/>
                        </a:rPr>
                        <a:t>2</a:t>
                      </a:r>
                      <a:endParaRPr>
                        <a:solidFill>
                          <a:schemeClr val="lt1"/>
                        </a:solidFill>
                        <a:latin typeface="Calibri"/>
                        <a:ea typeface="Calibri"/>
                        <a:cs typeface="Calibri"/>
                        <a:sym typeface="Calibri"/>
                      </a:endParaRPr>
                    </a:p>
                  </a:txBody>
                  <a:tcPr marL="91425" marR="91425" marT="91425" marB="91425">
                    <a:solidFill>
                      <a:schemeClr val="dk1"/>
                    </a:solidFill>
                  </a:tcPr>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extLst>
                  <a:ext uri="{0D108BD9-81ED-4DB2-BD59-A6C34878D82A}">
                    <a16:rowId xmlns:a16="http://schemas.microsoft.com/office/drawing/2014/main" val="10002"/>
                  </a:ext>
                </a:extLst>
              </a:tr>
              <a:tr h="664725">
                <a:tc>
                  <a:txBody>
                    <a:bodyPr/>
                    <a:lstStyle/>
                    <a:p>
                      <a:pPr marL="0" lvl="0" indent="0" algn="l" rtl="0">
                        <a:spcBef>
                          <a:spcPts val="0"/>
                        </a:spcBef>
                        <a:spcAft>
                          <a:spcPts val="0"/>
                        </a:spcAft>
                        <a:buNone/>
                      </a:pPr>
                      <a:r>
                        <a:rPr lang="en-GB">
                          <a:solidFill>
                            <a:schemeClr val="lt1"/>
                          </a:solidFill>
                          <a:latin typeface="Calibri"/>
                          <a:ea typeface="Calibri"/>
                          <a:cs typeface="Calibri"/>
                          <a:sym typeface="Calibri"/>
                        </a:rPr>
                        <a:t>3</a:t>
                      </a:r>
                      <a:endParaRPr>
                        <a:solidFill>
                          <a:schemeClr val="lt1"/>
                        </a:solidFill>
                        <a:latin typeface="Calibri"/>
                        <a:ea typeface="Calibri"/>
                        <a:cs typeface="Calibri"/>
                        <a:sym typeface="Calibri"/>
                      </a:endParaRPr>
                    </a:p>
                  </a:txBody>
                  <a:tcPr marL="91425" marR="91425" marT="91425" marB="91425">
                    <a:solidFill>
                      <a:schemeClr val="dk1"/>
                    </a:solidFill>
                  </a:tcPr>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extLst>
                  <a:ext uri="{0D108BD9-81ED-4DB2-BD59-A6C34878D82A}">
                    <a16:rowId xmlns:a16="http://schemas.microsoft.com/office/drawing/2014/main" val="10003"/>
                  </a:ext>
                </a:extLst>
              </a:tr>
              <a:tr h="664725">
                <a:tc>
                  <a:txBody>
                    <a:bodyPr/>
                    <a:lstStyle/>
                    <a:p>
                      <a:pPr marL="0" lvl="0" indent="0" algn="l" rtl="0">
                        <a:spcBef>
                          <a:spcPts val="0"/>
                        </a:spcBef>
                        <a:spcAft>
                          <a:spcPts val="0"/>
                        </a:spcAft>
                        <a:buNone/>
                      </a:pPr>
                      <a:r>
                        <a:rPr lang="en-GB">
                          <a:solidFill>
                            <a:schemeClr val="lt1"/>
                          </a:solidFill>
                          <a:latin typeface="Calibri"/>
                          <a:ea typeface="Calibri"/>
                          <a:cs typeface="Calibri"/>
                          <a:sym typeface="Calibri"/>
                        </a:rPr>
                        <a:t>4</a:t>
                      </a:r>
                      <a:endParaRPr>
                        <a:solidFill>
                          <a:schemeClr val="lt1"/>
                        </a:solidFill>
                        <a:latin typeface="Calibri"/>
                        <a:ea typeface="Calibri"/>
                        <a:cs typeface="Calibri"/>
                        <a:sym typeface="Calibri"/>
                      </a:endParaRPr>
                    </a:p>
                  </a:txBody>
                  <a:tcPr marL="91425" marR="91425" marT="91425" marB="91425">
                    <a:solidFill>
                      <a:schemeClr val="dk1"/>
                    </a:solidFill>
                  </a:tcPr>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extLst>
                  <a:ext uri="{0D108BD9-81ED-4DB2-BD59-A6C34878D82A}">
                    <a16:rowId xmlns:a16="http://schemas.microsoft.com/office/drawing/2014/main" val="10004"/>
                  </a:ext>
                </a:extLst>
              </a:tr>
              <a:tr h="664725">
                <a:tc>
                  <a:txBody>
                    <a:bodyPr/>
                    <a:lstStyle/>
                    <a:p>
                      <a:pPr marL="0" lvl="0" indent="0" algn="l" rtl="0">
                        <a:spcBef>
                          <a:spcPts val="0"/>
                        </a:spcBef>
                        <a:spcAft>
                          <a:spcPts val="0"/>
                        </a:spcAft>
                        <a:buNone/>
                      </a:pPr>
                      <a:r>
                        <a:rPr lang="en-GB">
                          <a:solidFill>
                            <a:schemeClr val="lt1"/>
                          </a:solidFill>
                          <a:latin typeface="Calibri"/>
                          <a:ea typeface="Calibri"/>
                          <a:cs typeface="Calibri"/>
                          <a:sym typeface="Calibri"/>
                        </a:rPr>
                        <a:t>5</a:t>
                      </a:r>
                      <a:endParaRPr>
                        <a:solidFill>
                          <a:schemeClr val="lt1"/>
                        </a:solidFill>
                        <a:latin typeface="Calibri"/>
                        <a:ea typeface="Calibri"/>
                        <a:cs typeface="Calibri"/>
                        <a:sym typeface="Calibri"/>
                      </a:endParaRPr>
                    </a:p>
                  </a:txBody>
                  <a:tcPr marL="91425" marR="91425" marT="91425" marB="91425">
                    <a:solidFill>
                      <a:schemeClr val="dk1"/>
                    </a:solidFill>
                  </a:tcPr>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extLst>
                  <a:ext uri="{0D108BD9-81ED-4DB2-BD59-A6C34878D82A}">
                    <a16:rowId xmlns:a16="http://schemas.microsoft.com/office/drawing/2014/main" val="10005"/>
                  </a:ext>
                </a:extLst>
              </a:tr>
              <a:tr h="664725">
                <a:tc>
                  <a:txBody>
                    <a:bodyPr/>
                    <a:lstStyle/>
                    <a:p>
                      <a:pPr marL="0" lvl="0" indent="0" algn="l" rtl="0">
                        <a:spcBef>
                          <a:spcPts val="0"/>
                        </a:spcBef>
                        <a:spcAft>
                          <a:spcPts val="0"/>
                        </a:spcAft>
                        <a:buNone/>
                      </a:pPr>
                      <a:r>
                        <a:rPr lang="en-GB">
                          <a:solidFill>
                            <a:schemeClr val="lt1"/>
                          </a:solidFill>
                          <a:latin typeface="Calibri"/>
                          <a:ea typeface="Calibri"/>
                          <a:cs typeface="Calibri"/>
                          <a:sym typeface="Calibri"/>
                        </a:rPr>
                        <a:t>6</a:t>
                      </a:r>
                      <a:endParaRPr>
                        <a:solidFill>
                          <a:schemeClr val="lt1"/>
                        </a:solidFill>
                        <a:latin typeface="Calibri"/>
                        <a:ea typeface="Calibri"/>
                        <a:cs typeface="Calibri"/>
                        <a:sym typeface="Calibri"/>
                      </a:endParaRPr>
                    </a:p>
                  </a:txBody>
                  <a:tcPr marL="91425" marR="91425" marT="91425" marB="91425">
                    <a:solidFill>
                      <a:schemeClr val="dk1"/>
                    </a:solidFill>
                  </a:tcPr>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graphicFrame>
        <p:nvGraphicFramePr>
          <p:cNvPr id="90" name="Google Shape;90;p19"/>
          <p:cNvGraphicFramePr/>
          <p:nvPr/>
        </p:nvGraphicFramePr>
        <p:xfrm>
          <a:off x="129550" y="158125"/>
          <a:ext cx="8852775" cy="4978058"/>
        </p:xfrm>
        <a:graphic>
          <a:graphicData uri="http://schemas.openxmlformats.org/drawingml/2006/table">
            <a:tbl>
              <a:tblPr>
                <a:noFill/>
                <a:tableStyleId>{2C36E6D6-60CD-426F-B26E-F7AA0E03EA77}</a:tableStyleId>
              </a:tblPr>
              <a:tblGrid>
                <a:gridCol w="446000">
                  <a:extLst>
                    <a:ext uri="{9D8B030D-6E8A-4147-A177-3AD203B41FA5}">
                      <a16:colId xmlns:a16="http://schemas.microsoft.com/office/drawing/2014/main" val="20000"/>
                    </a:ext>
                  </a:extLst>
                </a:gridCol>
                <a:gridCol w="2119750">
                  <a:extLst>
                    <a:ext uri="{9D8B030D-6E8A-4147-A177-3AD203B41FA5}">
                      <a16:colId xmlns:a16="http://schemas.microsoft.com/office/drawing/2014/main" val="20001"/>
                    </a:ext>
                  </a:extLst>
                </a:gridCol>
                <a:gridCol w="1876700">
                  <a:extLst>
                    <a:ext uri="{9D8B030D-6E8A-4147-A177-3AD203B41FA5}">
                      <a16:colId xmlns:a16="http://schemas.microsoft.com/office/drawing/2014/main" val="20002"/>
                    </a:ext>
                  </a:extLst>
                </a:gridCol>
                <a:gridCol w="4410325">
                  <a:extLst>
                    <a:ext uri="{9D8B030D-6E8A-4147-A177-3AD203B41FA5}">
                      <a16:colId xmlns:a16="http://schemas.microsoft.com/office/drawing/2014/main" val="20003"/>
                    </a:ext>
                  </a:extLst>
                </a:gridCol>
              </a:tblGrid>
              <a:tr h="744025">
                <a:tc>
                  <a:txBody>
                    <a:bodyPr/>
                    <a:lstStyle/>
                    <a:p>
                      <a:pPr marL="0" lvl="0" indent="0" algn="l" rtl="0">
                        <a:lnSpc>
                          <a:spcPct val="115000"/>
                        </a:lnSpc>
                        <a:spcBef>
                          <a:spcPts val="0"/>
                        </a:spcBef>
                        <a:spcAft>
                          <a:spcPts val="0"/>
                        </a:spcAft>
                        <a:buNone/>
                      </a:pPr>
                      <a:endParaRPr sz="1100">
                        <a:solidFill>
                          <a:schemeClr val="lt1"/>
                        </a:solidFill>
                        <a:latin typeface="Calibri"/>
                        <a:ea typeface="Calibri"/>
                        <a:cs typeface="Calibri"/>
                        <a:sym typeface="Calibri"/>
                      </a:endParaRPr>
                    </a:p>
                  </a:txBody>
                  <a:tcPr marL="91425" marR="91425" marT="91425" marB="91425">
                    <a:solidFill>
                      <a:schemeClr val="dk1"/>
                    </a:solidFill>
                  </a:tcPr>
                </a:tc>
                <a:tc>
                  <a:txBody>
                    <a:bodyPr/>
                    <a:lstStyle/>
                    <a:p>
                      <a:pPr marL="0" lvl="0" indent="0" algn="l" rtl="0">
                        <a:lnSpc>
                          <a:spcPct val="115000"/>
                        </a:lnSpc>
                        <a:spcBef>
                          <a:spcPts val="0"/>
                        </a:spcBef>
                        <a:spcAft>
                          <a:spcPts val="0"/>
                        </a:spcAft>
                        <a:buClr>
                          <a:schemeClr val="dk1"/>
                        </a:buClr>
                        <a:buSzPts val="1100"/>
                        <a:buFont typeface="Arial"/>
                        <a:buNone/>
                      </a:pPr>
                      <a:r>
                        <a:rPr lang="en-GB" sz="1100">
                          <a:solidFill>
                            <a:schemeClr val="lt1"/>
                          </a:solidFill>
                          <a:latin typeface="Calibri"/>
                          <a:ea typeface="Calibri"/>
                          <a:cs typeface="Calibri"/>
                          <a:sym typeface="Calibri"/>
                        </a:rPr>
                        <a:t>Does the source show Immediate/short term/long term impact?</a:t>
                      </a:r>
                      <a:endParaRPr>
                        <a:solidFill>
                          <a:schemeClr val="lt1"/>
                        </a:solidFill>
                        <a:latin typeface="Calibri"/>
                        <a:ea typeface="Calibri"/>
                        <a:cs typeface="Calibri"/>
                        <a:sym typeface="Calibri"/>
                      </a:endParaRPr>
                    </a:p>
                  </a:txBody>
                  <a:tcPr marL="91425" marR="91425" marT="91425" marB="91425">
                    <a:solidFill>
                      <a:schemeClr val="dk1"/>
                    </a:solidFill>
                  </a:tcPr>
                </a:tc>
                <a:tc>
                  <a:txBody>
                    <a:bodyPr/>
                    <a:lstStyle/>
                    <a:p>
                      <a:pPr marL="0" lvl="0" indent="0" algn="l" rtl="0">
                        <a:lnSpc>
                          <a:spcPct val="115000"/>
                        </a:lnSpc>
                        <a:spcBef>
                          <a:spcPts val="0"/>
                        </a:spcBef>
                        <a:spcAft>
                          <a:spcPts val="0"/>
                        </a:spcAft>
                        <a:buClr>
                          <a:schemeClr val="dk1"/>
                        </a:buClr>
                        <a:buSzPts val="1100"/>
                        <a:buFont typeface="Arial"/>
                        <a:buNone/>
                      </a:pPr>
                      <a:r>
                        <a:rPr lang="en-GB" sz="1100">
                          <a:solidFill>
                            <a:schemeClr val="lt1"/>
                          </a:solidFill>
                          <a:latin typeface="Calibri"/>
                          <a:ea typeface="Calibri"/>
                          <a:cs typeface="Calibri"/>
                          <a:sym typeface="Calibri"/>
                        </a:rPr>
                        <a:t>Does it demonstrate a local or national impact?</a:t>
                      </a:r>
                      <a:endParaRPr>
                        <a:solidFill>
                          <a:schemeClr val="lt1"/>
                        </a:solidFill>
                        <a:latin typeface="Calibri"/>
                        <a:ea typeface="Calibri"/>
                        <a:cs typeface="Calibri"/>
                        <a:sym typeface="Calibri"/>
                      </a:endParaRPr>
                    </a:p>
                  </a:txBody>
                  <a:tcPr marL="91425" marR="91425" marT="91425" marB="91425">
                    <a:solidFill>
                      <a:schemeClr val="dk1"/>
                    </a:solidFill>
                  </a:tcPr>
                </a:tc>
                <a:tc>
                  <a:txBody>
                    <a:bodyPr/>
                    <a:lstStyle/>
                    <a:p>
                      <a:pPr marL="0" lvl="0" indent="0" algn="l" rtl="0">
                        <a:lnSpc>
                          <a:spcPct val="115000"/>
                        </a:lnSpc>
                        <a:spcBef>
                          <a:spcPts val="0"/>
                        </a:spcBef>
                        <a:spcAft>
                          <a:spcPts val="0"/>
                        </a:spcAft>
                        <a:buClr>
                          <a:schemeClr val="dk1"/>
                        </a:buClr>
                        <a:buSzPts val="1100"/>
                        <a:buFont typeface="Arial"/>
                        <a:buNone/>
                      </a:pPr>
                      <a:r>
                        <a:rPr lang="en-GB" sz="1100">
                          <a:solidFill>
                            <a:schemeClr val="lt1"/>
                          </a:solidFill>
                          <a:latin typeface="Calibri"/>
                          <a:ea typeface="Calibri"/>
                          <a:cs typeface="Calibri"/>
                          <a:sym typeface="Calibri"/>
                        </a:rPr>
                        <a:t>What can we learn about the impact it had on Southampton and the UK?</a:t>
                      </a:r>
                      <a:endParaRPr>
                        <a:solidFill>
                          <a:schemeClr val="lt1"/>
                        </a:solidFill>
                        <a:latin typeface="Calibri"/>
                        <a:ea typeface="Calibri"/>
                        <a:cs typeface="Calibri"/>
                        <a:sym typeface="Calibri"/>
                      </a:endParaRPr>
                    </a:p>
                  </a:txBody>
                  <a:tcPr marL="91425" marR="91425" marT="91425" marB="91425">
                    <a:solidFill>
                      <a:schemeClr val="dk1"/>
                    </a:solidFill>
                  </a:tcPr>
                </a:tc>
                <a:extLst>
                  <a:ext uri="{0D108BD9-81ED-4DB2-BD59-A6C34878D82A}">
                    <a16:rowId xmlns:a16="http://schemas.microsoft.com/office/drawing/2014/main" val="10000"/>
                  </a:ext>
                </a:extLst>
              </a:tr>
              <a:tr h="629750">
                <a:tc>
                  <a:txBody>
                    <a:bodyPr/>
                    <a:lstStyle/>
                    <a:p>
                      <a:pPr marL="0" lvl="0" indent="0" algn="l" rtl="0">
                        <a:spcBef>
                          <a:spcPts val="0"/>
                        </a:spcBef>
                        <a:spcAft>
                          <a:spcPts val="0"/>
                        </a:spcAft>
                        <a:buNone/>
                      </a:pPr>
                      <a:r>
                        <a:rPr lang="en-GB">
                          <a:solidFill>
                            <a:schemeClr val="lt1"/>
                          </a:solidFill>
                          <a:latin typeface="Calibri"/>
                          <a:ea typeface="Calibri"/>
                          <a:cs typeface="Calibri"/>
                          <a:sym typeface="Calibri"/>
                        </a:rPr>
                        <a:t>1</a:t>
                      </a:r>
                      <a:endParaRPr>
                        <a:solidFill>
                          <a:schemeClr val="lt1"/>
                        </a:solidFill>
                        <a:latin typeface="Calibri"/>
                        <a:ea typeface="Calibri"/>
                        <a:cs typeface="Calibri"/>
                        <a:sym typeface="Calibri"/>
                      </a:endParaRPr>
                    </a:p>
                  </a:txBody>
                  <a:tcPr marL="91425" marR="91425" marT="91425" marB="91425">
                    <a:solidFill>
                      <a:schemeClr val="dk1"/>
                    </a:solidFill>
                  </a:tcPr>
                </a:tc>
                <a:tc>
                  <a:txBody>
                    <a:bodyPr/>
                    <a:lstStyle/>
                    <a:p>
                      <a:pPr marL="0" lvl="0" indent="0" algn="l" rtl="0">
                        <a:spcBef>
                          <a:spcPts val="0"/>
                        </a:spcBef>
                        <a:spcAft>
                          <a:spcPts val="0"/>
                        </a:spcAft>
                        <a:buNone/>
                      </a:pPr>
                      <a:r>
                        <a:rPr lang="en-GB">
                          <a:latin typeface="Calibri"/>
                          <a:ea typeface="Calibri"/>
                          <a:cs typeface="Calibri"/>
                          <a:sym typeface="Calibri"/>
                        </a:rPr>
                        <a:t>Short term</a:t>
                      </a: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GB">
                          <a:latin typeface="Calibri"/>
                          <a:ea typeface="Calibri"/>
                          <a:cs typeface="Calibri"/>
                          <a:sym typeface="Calibri"/>
                        </a:rPr>
                        <a:t>National</a:t>
                      </a:r>
                      <a:endParaRPr>
                        <a:latin typeface="Calibri"/>
                        <a:ea typeface="Calibri"/>
                        <a:cs typeface="Calibri"/>
                        <a:sym typeface="Calibri"/>
                      </a:endParaRPr>
                    </a:p>
                  </a:txBody>
                  <a:tcPr marL="91425" marR="91425" marT="91425" marB="91425"/>
                </a:tc>
                <a:tc>
                  <a:txBody>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latin typeface="Calibri"/>
                          <a:ea typeface="Calibri"/>
                          <a:cs typeface="Calibri"/>
                          <a:sym typeface="Calibri"/>
                        </a:rPr>
                        <a:t>People were still donating money to the charity in 1917, 5 years after the disaster showing there was still a need from the families affected.</a:t>
                      </a:r>
                      <a:endParaRPr>
                        <a:latin typeface="Calibri"/>
                        <a:ea typeface="Calibri"/>
                        <a:cs typeface="Calibri"/>
                        <a:sym typeface="Calibri"/>
                      </a:endParaRPr>
                    </a:p>
                  </a:txBody>
                  <a:tcPr marL="91425" marR="91425" marT="91425" marB="91425"/>
                </a:tc>
                <a:extLst>
                  <a:ext uri="{0D108BD9-81ED-4DB2-BD59-A6C34878D82A}">
                    <a16:rowId xmlns:a16="http://schemas.microsoft.com/office/drawing/2014/main" val="10001"/>
                  </a:ext>
                </a:extLst>
              </a:tr>
              <a:tr h="664725">
                <a:tc>
                  <a:txBody>
                    <a:bodyPr/>
                    <a:lstStyle/>
                    <a:p>
                      <a:pPr marL="0" lvl="0" indent="0" algn="l" rtl="0">
                        <a:spcBef>
                          <a:spcPts val="0"/>
                        </a:spcBef>
                        <a:spcAft>
                          <a:spcPts val="0"/>
                        </a:spcAft>
                        <a:buNone/>
                      </a:pPr>
                      <a:r>
                        <a:rPr lang="en-GB">
                          <a:solidFill>
                            <a:schemeClr val="lt1"/>
                          </a:solidFill>
                          <a:latin typeface="Calibri"/>
                          <a:ea typeface="Calibri"/>
                          <a:cs typeface="Calibri"/>
                          <a:sym typeface="Calibri"/>
                        </a:rPr>
                        <a:t>2</a:t>
                      </a:r>
                      <a:endParaRPr>
                        <a:solidFill>
                          <a:schemeClr val="lt1"/>
                        </a:solidFill>
                        <a:latin typeface="Calibri"/>
                        <a:ea typeface="Calibri"/>
                        <a:cs typeface="Calibri"/>
                        <a:sym typeface="Calibri"/>
                      </a:endParaRPr>
                    </a:p>
                  </a:txBody>
                  <a:tcPr marL="91425" marR="91425" marT="91425" marB="91425">
                    <a:solidFill>
                      <a:schemeClr val="dk1"/>
                    </a:solidFill>
                  </a:tcPr>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extLst>
                  <a:ext uri="{0D108BD9-81ED-4DB2-BD59-A6C34878D82A}">
                    <a16:rowId xmlns:a16="http://schemas.microsoft.com/office/drawing/2014/main" val="10002"/>
                  </a:ext>
                </a:extLst>
              </a:tr>
              <a:tr h="664725">
                <a:tc>
                  <a:txBody>
                    <a:bodyPr/>
                    <a:lstStyle/>
                    <a:p>
                      <a:pPr marL="0" lvl="0" indent="0" algn="l" rtl="0">
                        <a:spcBef>
                          <a:spcPts val="0"/>
                        </a:spcBef>
                        <a:spcAft>
                          <a:spcPts val="0"/>
                        </a:spcAft>
                        <a:buNone/>
                      </a:pPr>
                      <a:r>
                        <a:rPr lang="en-GB">
                          <a:solidFill>
                            <a:schemeClr val="lt1"/>
                          </a:solidFill>
                          <a:latin typeface="Calibri"/>
                          <a:ea typeface="Calibri"/>
                          <a:cs typeface="Calibri"/>
                          <a:sym typeface="Calibri"/>
                        </a:rPr>
                        <a:t>3</a:t>
                      </a:r>
                      <a:endParaRPr>
                        <a:solidFill>
                          <a:schemeClr val="lt1"/>
                        </a:solidFill>
                        <a:latin typeface="Calibri"/>
                        <a:ea typeface="Calibri"/>
                        <a:cs typeface="Calibri"/>
                        <a:sym typeface="Calibri"/>
                      </a:endParaRPr>
                    </a:p>
                  </a:txBody>
                  <a:tcPr marL="91425" marR="91425" marT="91425" marB="91425">
                    <a:solidFill>
                      <a:schemeClr val="dk1"/>
                    </a:solidFill>
                  </a:tcPr>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extLst>
                  <a:ext uri="{0D108BD9-81ED-4DB2-BD59-A6C34878D82A}">
                    <a16:rowId xmlns:a16="http://schemas.microsoft.com/office/drawing/2014/main" val="10003"/>
                  </a:ext>
                </a:extLst>
              </a:tr>
              <a:tr h="664725">
                <a:tc>
                  <a:txBody>
                    <a:bodyPr/>
                    <a:lstStyle/>
                    <a:p>
                      <a:pPr marL="0" lvl="0" indent="0" algn="l" rtl="0">
                        <a:spcBef>
                          <a:spcPts val="0"/>
                        </a:spcBef>
                        <a:spcAft>
                          <a:spcPts val="0"/>
                        </a:spcAft>
                        <a:buNone/>
                      </a:pPr>
                      <a:r>
                        <a:rPr lang="en-GB">
                          <a:solidFill>
                            <a:schemeClr val="lt1"/>
                          </a:solidFill>
                          <a:latin typeface="Calibri"/>
                          <a:ea typeface="Calibri"/>
                          <a:cs typeface="Calibri"/>
                          <a:sym typeface="Calibri"/>
                        </a:rPr>
                        <a:t>4</a:t>
                      </a:r>
                      <a:endParaRPr>
                        <a:solidFill>
                          <a:schemeClr val="lt1"/>
                        </a:solidFill>
                        <a:latin typeface="Calibri"/>
                        <a:ea typeface="Calibri"/>
                        <a:cs typeface="Calibri"/>
                        <a:sym typeface="Calibri"/>
                      </a:endParaRPr>
                    </a:p>
                  </a:txBody>
                  <a:tcPr marL="91425" marR="91425" marT="91425" marB="91425">
                    <a:solidFill>
                      <a:schemeClr val="dk1"/>
                    </a:solidFill>
                  </a:tcPr>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extLst>
                  <a:ext uri="{0D108BD9-81ED-4DB2-BD59-A6C34878D82A}">
                    <a16:rowId xmlns:a16="http://schemas.microsoft.com/office/drawing/2014/main" val="10004"/>
                  </a:ext>
                </a:extLst>
              </a:tr>
              <a:tr h="664725">
                <a:tc>
                  <a:txBody>
                    <a:bodyPr/>
                    <a:lstStyle/>
                    <a:p>
                      <a:pPr marL="0" lvl="0" indent="0" algn="l" rtl="0">
                        <a:spcBef>
                          <a:spcPts val="0"/>
                        </a:spcBef>
                        <a:spcAft>
                          <a:spcPts val="0"/>
                        </a:spcAft>
                        <a:buNone/>
                      </a:pPr>
                      <a:r>
                        <a:rPr lang="en-GB">
                          <a:solidFill>
                            <a:schemeClr val="lt1"/>
                          </a:solidFill>
                          <a:latin typeface="Calibri"/>
                          <a:ea typeface="Calibri"/>
                          <a:cs typeface="Calibri"/>
                          <a:sym typeface="Calibri"/>
                        </a:rPr>
                        <a:t>5</a:t>
                      </a:r>
                      <a:endParaRPr>
                        <a:solidFill>
                          <a:schemeClr val="lt1"/>
                        </a:solidFill>
                        <a:latin typeface="Calibri"/>
                        <a:ea typeface="Calibri"/>
                        <a:cs typeface="Calibri"/>
                        <a:sym typeface="Calibri"/>
                      </a:endParaRPr>
                    </a:p>
                  </a:txBody>
                  <a:tcPr marL="91425" marR="91425" marT="91425" marB="91425">
                    <a:solidFill>
                      <a:schemeClr val="dk1"/>
                    </a:solidFill>
                  </a:tcPr>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extLst>
                  <a:ext uri="{0D108BD9-81ED-4DB2-BD59-A6C34878D82A}">
                    <a16:rowId xmlns:a16="http://schemas.microsoft.com/office/drawing/2014/main" val="10005"/>
                  </a:ext>
                </a:extLst>
              </a:tr>
              <a:tr h="664725">
                <a:tc>
                  <a:txBody>
                    <a:bodyPr/>
                    <a:lstStyle/>
                    <a:p>
                      <a:pPr marL="0" lvl="0" indent="0" algn="l" rtl="0">
                        <a:spcBef>
                          <a:spcPts val="0"/>
                        </a:spcBef>
                        <a:spcAft>
                          <a:spcPts val="0"/>
                        </a:spcAft>
                        <a:buNone/>
                      </a:pPr>
                      <a:r>
                        <a:rPr lang="en-GB">
                          <a:solidFill>
                            <a:schemeClr val="lt1"/>
                          </a:solidFill>
                          <a:latin typeface="Calibri"/>
                          <a:ea typeface="Calibri"/>
                          <a:cs typeface="Calibri"/>
                          <a:sym typeface="Calibri"/>
                        </a:rPr>
                        <a:t>6</a:t>
                      </a:r>
                      <a:endParaRPr>
                        <a:solidFill>
                          <a:schemeClr val="lt1"/>
                        </a:solidFill>
                        <a:latin typeface="Calibri"/>
                        <a:ea typeface="Calibri"/>
                        <a:cs typeface="Calibri"/>
                        <a:sym typeface="Calibri"/>
                      </a:endParaRPr>
                    </a:p>
                  </a:txBody>
                  <a:tcPr marL="91425" marR="91425" marT="91425" marB="91425">
                    <a:solidFill>
                      <a:schemeClr val="dk1"/>
                    </a:solidFill>
                  </a:tcPr>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endParaRPr>
                        <a:latin typeface="Calibri"/>
                        <a:ea typeface="Calibri"/>
                        <a:cs typeface="Calibri"/>
                        <a:sym typeface="Calibri"/>
                      </a:endParaRPr>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5" name="Google Shape;95;p20"/>
          <p:cNvPicPr preferRelativeResize="0"/>
          <p:nvPr/>
        </p:nvPicPr>
        <p:blipFill>
          <a:blip r:embed="rId3">
            <a:alphaModFix/>
          </a:blip>
          <a:stretch>
            <a:fillRect/>
          </a:stretch>
        </p:blipFill>
        <p:spPr>
          <a:xfrm>
            <a:off x="1624213" y="1379816"/>
            <a:ext cx="5634575" cy="2890525"/>
          </a:xfrm>
          <a:prstGeom prst="rect">
            <a:avLst/>
          </a:prstGeom>
          <a:noFill/>
          <a:ln>
            <a:noFill/>
          </a:ln>
        </p:spPr>
      </p:pic>
      <p:sp>
        <p:nvSpPr>
          <p:cNvPr id="96" name="Google Shape;96;p20"/>
          <p:cNvSpPr txBox="1"/>
          <p:nvPr/>
        </p:nvSpPr>
        <p:spPr>
          <a:xfrm>
            <a:off x="168900" y="199600"/>
            <a:ext cx="8805300" cy="646500"/>
          </a:xfrm>
          <a:prstGeom prst="rect">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3000" b="1" u="sng">
                <a:latin typeface="Calibri"/>
                <a:ea typeface="Calibri"/>
                <a:cs typeface="Calibri"/>
                <a:sym typeface="Calibri"/>
              </a:rPr>
              <a:t>Source 1</a:t>
            </a:r>
            <a:endParaRPr sz="3000" b="1" u="sng">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1"/>
          <p:cNvSpPr/>
          <p:nvPr/>
        </p:nvSpPr>
        <p:spPr>
          <a:xfrm>
            <a:off x="488625" y="308600"/>
            <a:ext cx="7573800" cy="4346400"/>
          </a:xfrm>
          <a:prstGeom prst="cloudCallout">
            <a:avLst>
              <a:gd name="adj1" fmla="val -46265"/>
              <a:gd name="adj2" fmla="val 50885"/>
            </a:avLst>
          </a:prstGeom>
          <a:solidFill>
            <a:schemeClr val="lt1"/>
          </a:solid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a:latin typeface="Calibri"/>
                <a:ea typeface="Calibri"/>
                <a:cs typeface="Calibri"/>
                <a:sym typeface="Calibri"/>
              </a:rPr>
              <a:t>With the impact of the Titanic stretching across the UK,  what changes do you think there would be after the disaster?</a:t>
            </a:r>
            <a:endParaRPr sz="30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2"/>
          <p:cNvSpPr txBox="1"/>
          <p:nvPr/>
        </p:nvSpPr>
        <p:spPr>
          <a:xfrm>
            <a:off x="308600" y="360050"/>
            <a:ext cx="8701800" cy="1108200"/>
          </a:xfrm>
          <a:prstGeom prst="rect">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3000">
                <a:latin typeface="Calibri"/>
                <a:ea typeface="Calibri"/>
                <a:cs typeface="Calibri"/>
                <a:sym typeface="Calibri"/>
              </a:rPr>
              <a:t>Recommendations from the British and American Inquiries</a:t>
            </a:r>
            <a:endParaRPr sz="3000">
              <a:latin typeface="Calibri"/>
              <a:ea typeface="Calibri"/>
              <a:cs typeface="Calibri"/>
              <a:sym typeface="Calibri"/>
            </a:endParaRPr>
          </a:p>
        </p:txBody>
      </p:sp>
      <p:sp>
        <p:nvSpPr>
          <p:cNvPr id="107" name="Google Shape;107;p22"/>
          <p:cNvSpPr txBox="1"/>
          <p:nvPr/>
        </p:nvSpPr>
        <p:spPr>
          <a:xfrm>
            <a:off x="261150" y="1740600"/>
            <a:ext cx="8621700" cy="2031900"/>
          </a:xfrm>
          <a:prstGeom prst="rect">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3000">
                <a:latin typeface="Calibri"/>
                <a:ea typeface="Calibri"/>
                <a:cs typeface="Calibri"/>
                <a:sym typeface="Calibri"/>
              </a:rPr>
              <a:t>To provide sufficient lifeboats for all passengers</a:t>
            </a:r>
            <a:endParaRPr sz="3000">
              <a:latin typeface="Calibri"/>
              <a:ea typeface="Calibri"/>
              <a:cs typeface="Calibri"/>
              <a:sym typeface="Calibri"/>
            </a:endParaRPr>
          </a:p>
          <a:p>
            <a:pPr marL="0" lvl="0" indent="0" algn="l" rtl="0">
              <a:spcBef>
                <a:spcPts val="0"/>
              </a:spcBef>
              <a:spcAft>
                <a:spcPts val="0"/>
              </a:spcAft>
              <a:buNone/>
            </a:pPr>
            <a:r>
              <a:rPr lang="en-GB" sz="3000">
                <a:latin typeface="Calibri"/>
                <a:ea typeface="Calibri"/>
                <a:cs typeface="Calibri"/>
                <a:sym typeface="Calibri"/>
              </a:rPr>
              <a:t>For radios to be manned 24 hours a day</a:t>
            </a:r>
            <a:endParaRPr sz="3000">
              <a:latin typeface="Calibri"/>
              <a:ea typeface="Calibri"/>
              <a:cs typeface="Calibri"/>
              <a:sym typeface="Calibri"/>
            </a:endParaRPr>
          </a:p>
          <a:p>
            <a:pPr marL="0" lvl="0" indent="0" algn="l" rtl="0">
              <a:spcBef>
                <a:spcPts val="0"/>
              </a:spcBef>
              <a:spcAft>
                <a:spcPts val="0"/>
              </a:spcAft>
              <a:buNone/>
            </a:pPr>
            <a:r>
              <a:rPr lang="en-GB" sz="3000">
                <a:latin typeface="Calibri"/>
                <a:ea typeface="Calibri"/>
                <a:cs typeface="Calibri"/>
                <a:sym typeface="Calibri"/>
              </a:rPr>
              <a:t>For regular drills to be completed on board</a:t>
            </a:r>
            <a:endParaRPr sz="3000">
              <a:latin typeface="Calibri"/>
              <a:ea typeface="Calibri"/>
              <a:cs typeface="Calibri"/>
              <a:sym typeface="Calibri"/>
            </a:endParaRPr>
          </a:p>
          <a:p>
            <a:pPr marL="0" lvl="0" indent="0" algn="l" rtl="0">
              <a:spcBef>
                <a:spcPts val="0"/>
              </a:spcBef>
              <a:spcAft>
                <a:spcPts val="0"/>
              </a:spcAft>
              <a:buNone/>
            </a:pPr>
            <a:r>
              <a:rPr lang="en-GB" sz="3000">
                <a:latin typeface="Calibri"/>
                <a:ea typeface="Calibri"/>
                <a:cs typeface="Calibri"/>
                <a:sym typeface="Calibri"/>
              </a:rPr>
              <a:t>To reduce speed in bad weather.</a:t>
            </a:r>
            <a:endParaRPr sz="300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cxnSp>
        <p:nvCxnSpPr>
          <p:cNvPr id="112" name="Google Shape;112;p23"/>
          <p:cNvCxnSpPr/>
          <p:nvPr/>
        </p:nvCxnSpPr>
        <p:spPr>
          <a:xfrm>
            <a:off x="287425" y="3865200"/>
            <a:ext cx="8653200" cy="22800"/>
          </a:xfrm>
          <a:prstGeom prst="straightConnector1">
            <a:avLst/>
          </a:prstGeom>
          <a:noFill/>
          <a:ln w="38100" cap="flat" cmpd="sng">
            <a:solidFill>
              <a:schemeClr val="dk2"/>
            </a:solidFill>
            <a:prstDash val="solid"/>
            <a:round/>
            <a:headEnd type="none" w="med" len="med"/>
            <a:tailEnd type="none" w="med" len="med"/>
          </a:ln>
        </p:spPr>
      </p:cxnSp>
      <p:sp>
        <p:nvSpPr>
          <p:cNvPr id="113" name="Google Shape;113;p23"/>
          <p:cNvSpPr txBox="1"/>
          <p:nvPr/>
        </p:nvSpPr>
        <p:spPr>
          <a:xfrm>
            <a:off x="8176625" y="3396225"/>
            <a:ext cx="9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t>Change</a:t>
            </a:r>
            <a:endParaRPr/>
          </a:p>
        </p:txBody>
      </p:sp>
      <p:sp>
        <p:nvSpPr>
          <p:cNvPr id="114" name="Google Shape;114;p23"/>
          <p:cNvSpPr txBox="1"/>
          <p:nvPr/>
        </p:nvSpPr>
        <p:spPr>
          <a:xfrm>
            <a:off x="76750" y="3359525"/>
            <a:ext cx="1080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t>Continuity</a:t>
            </a:r>
            <a:endParaRPr/>
          </a:p>
        </p:txBody>
      </p:sp>
      <p:sp>
        <p:nvSpPr>
          <p:cNvPr id="115" name="Google Shape;115;p23"/>
          <p:cNvSpPr txBox="1"/>
          <p:nvPr/>
        </p:nvSpPr>
        <p:spPr>
          <a:xfrm>
            <a:off x="0" y="0"/>
            <a:ext cx="9058500" cy="1108200"/>
          </a:xfrm>
          <a:prstGeom prst="rect">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3000">
                <a:latin typeface="Calibri"/>
                <a:ea typeface="Calibri"/>
                <a:cs typeface="Calibri"/>
                <a:sym typeface="Calibri"/>
              </a:rPr>
              <a:t>Task  focus: </a:t>
            </a:r>
            <a:r>
              <a:rPr lang="en-GB" sz="3000">
                <a:solidFill>
                  <a:schemeClr val="dk1"/>
                </a:solidFill>
                <a:latin typeface="Calibri"/>
                <a:ea typeface="Calibri"/>
                <a:cs typeface="Calibri"/>
                <a:sym typeface="Calibri"/>
              </a:rPr>
              <a:t>To analyse the impact on sailing and shipping by identifying changes over time.</a:t>
            </a:r>
            <a:endParaRPr sz="3000">
              <a:latin typeface="Calibri"/>
              <a:ea typeface="Calibri"/>
              <a:cs typeface="Calibri"/>
              <a:sym typeface="Calibri"/>
            </a:endParaRPr>
          </a:p>
        </p:txBody>
      </p:sp>
      <p:sp>
        <p:nvSpPr>
          <p:cNvPr id="116" name="Google Shape;116;p23"/>
          <p:cNvSpPr txBox="1"/>
          <p:nvPr/>
        </p:nvSpPr>
        <p:spPr>
          <a:xfrm>
            <a:off x="42750" y="1196225"/>
            <a:ext cx="9058500" cy="11082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3000">
                <a:latin typeface="Calibri"/>
                <a:ea typeface="Calibri"/>
                <a:cs typeface="Calibri"/>
                <a:sym typeface="Calibri"/>
              </a:rPr>
              <a:t>Place the information cards along the line, what has changed over time?</a:t>
            </a:r>
            <a:endParaRPr sz="30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cxnSp>
        <p:nvCxnSpPr>
          <p:cNvPr id="121" name="Google Shape;121;p24"/>
          <p:cNvCxnSpPr/>
          <p:nvPr/>
        </p:nvCxnSpPr>
        <p:spPr>
          <a:xfrm>
            <a:off x="287425" y="3865200"/>
            <a:ext cx="8653200" cy="22800"/>
          </a:xfrm>
          <a:prstGeom prst="straightConnector1">
            <a:avLst/>
          </a:prstGeom>
          <a:noFill/>
          <a:ln w="38100" cap="flat" cmpd="sng">
            <a:solidFill>
              <a:schemeClr val="dk2"/>
            </a:solidFill>
            <a:prstDash val="solid"/>
            <a:round/>
            <a:headEnd type="none" w="med" len="med"/>
            <a:tailEnd type="none" w="med" len="med"/>
          </a:ln>
        </p:spPr>
      </p:cxnSp>
      <p:sp>
        <p:nvSpPr>
          <p:cNvPr id="122" name="Google Shape;122;p24"/>
          <p:cNvSpPr txBox="1"/>
          <p:nvPr/>
        </p:nvSpPr>
        <p:spPr>
          <a:xfrm>
            <a:off x="8176625" y="3396225"/>
            <a:ext cx="9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t>Change</a:t>
            </a:r>
            <a:endParaRPr/>
          </a:p>
        </p:txBody>
      </p:sp>
      <p:sp>
        <p:nvSpPr>
          <p:cNvPr id="123" name="Google Shape;123;p24"/>
          <p:cNvSpPr txBox="1"/>
          <p:nvPr/>
        </p:nvSpPr>
        <p:spPr>
          <a:xfrm>
            <a:off x="76750" y="3359525"/>
            <a:ext cx="1080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t>Continuity</a:t>
            </a:r>
            <a:endParaRPr/>
          </a:p>
        </p:txBody>
      </p:sp>
      <p:sp>
        <p:nvSpPr>
          <p:cNvPr id="124" name="Google Shape;124;p24"/>
          <p:cNvSpPr txBox="1"/>
          <p:nvPr/>
        </p:nvSpPr>
        <p:spPr>
          <a:xfrm>
            <a:off x="0" y="0"/>
            <a:ext cx="9058500" cy="1108200"/>
          </a:xfrm>
          <a:prstGeom prst="rect">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3000">
                <a:latin typeface="Calibri"/>
                <a:ea typeface="Calibri"/>
                <a:cs typeface="Calibri"/>
                <a:sym typeface="Calibri"/>
              </a:rPr>
              <a:t>Task  focus: </a:t>
            </a:r>
            <a:r>
              <a:rPr lang="en-GB" sz="3000">
                <a:solidFill>
                  <a:schemeClr val="dk1"/>
                </a:solidFill>
                <a:latin typeface="Calibri"/>
                <a:ea typeface="Calibri"/>
                <a:cs typeface="Calibri"/>
                <a:sym typeface="Calibri"/>
              </a:rPr>
              <a:t>To analyse the impact on sailing and shipping by identifying changes over time.</a:t>
            </a:r>
            <a:endParaRPr sz="3000">
              <a:latin typeface="Calibri"/>
              <a:ea typeface="Calibri"/>
              <a:cs typeface="Calibri"/>
              <a:sym typeface="Calibri"/>
            </a:endParaRPr>
          </a:p>
        </p:txBody>
      </p:sp>
      <p:sp>
        <p:nvSpPr>
          <p:cNvPr id="125" name="Google Shape;125;p24"/>
          <p:cNvSpPr txBox="1"/>
          <p:nvPr/>
        </p:nvSpPr>
        <p:spPr>
          <a:xfrm>
            <a:off x="42750" y="1196225"/>
            <a:ext cx="9058500" cy="11082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3000">
                <a:latin typeface="Calibri"/>
                <a:ea typeface="Calibri"/>
                <a:cs typeface="Calibri"/>
                <a:sym typeface="Calibri"/>
              </a:rPr>
              <a:t>What does this new information tell us about the impact of the Titanic?</a:t>
            </a:r>
            <a:endParaRPr sz="30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5"/>
          <p:cNvSpPr txBox="1"/>
          <p:nvPr/>
        </p:nvSpPr>
        <p:spPr>
          <a:xfrm>
            <a:off x="0" y="0"/>
            <a:ext cx="9058500" cy="1108200"/>
          </a:xfrm>
          <a:prstGeom prst="rect">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3000">
                <a:latin typeface="Calibri"/>
                <a:ea typeface="Calibri"/>
                <a:cs typeface="Calibri"/>
                <a:sym typeface="Calibri"/>
              </a:rPr>
              <a:t>Plenary: What lessons have been learned from the Titanic disaster?</a:t>
            </a:r>
            <a:endParaRPr sz="3000">
              <a:latin typeface="Calibri"/>
              <a:ea typeface="Calibri"/>
              <a:cs typeface="Calibri"/>
              <a:sym typeface="Calibri"/>
            </a:endParaRPr>
          </a:p>
        </p:txBody>
      </p:sp>
      <p:sp>
        <p:nvSpPr>
          <p:cNvPr id="131" name="Google Shape;131;p25"/>
          <p:cNvSpPr txBox="1"/>
          <p:nvPr/>
        </p:nvSpPr>
        <p:spPr>
          <a:xfrm>
            <a:off x="181525" y="1543050"/>
            <a:ext cx="8759100" cy="2523738"/>
          </a:xfrm>
          <a:prstGeom prst="rect">
            <a:avLst/>
          </a:prstGeom>
          <a:noFill/>
          <a:ln>
            <a:noFill/>
          </a:ln>
        </p:spPr>
        <p:txBody>
          <a:bodyPr spcFirstLastPara="1" wrap="square" lIns="91425" tIns="91425" rIns="91425" bIns="91425" anchor="t" anchorCtr="0">
            <a:spAutoFit/>
          </a:bodyPr>
          <a:lstStyle/>
          <a:p>
            <a:r>
              <a:rPr lang="en-GB" sz="1900" dirty="0">
                <a:latin typeface="Calibri"/>
                <a:ea typeface="Calibri"/>
                <a:cs typeface="Calibri"/>
                <a:sym typeface="Calibri"/>
              </a:rPr>
              <a:t>Students can do this in a number of ways.  </a:t>
            </a:r>
            <a:endParaRPr sz="1900">
              <a:latin typeface="Calibri"/>
              <a:ea typeface="Calibri"/>
              <a:cs typeface="Calibri"/>
              <a:sym typeface="Calibri"/>
            </a:endParaRPr>
          </a:p>
          <a:p>
            <a:pPr marL="0" lvl="0" indent="0" algn="l" rtl="0">
              <a:spcBef>
                <a:spcPts val="0"/>
              </a:spcBef>
              <a:spcAft>
                <a:spcPts val="0"/>
              </a:spcAft>
              <a:buNone/>
            </a:pPr>
            <a:endParaRPr sz="1900">
              <a:latin typeface="Calibri"/>
              <a:ea typeface="Calibri"/>
              <a:cs typeface="Calibri"/>
              <a:sym typeface="Calibri"/>
            </a:endParaRPr>
          </a:p>
          <a:p>
            <a:pPr marL="457200" indent="-349250">
              <a:buSzPts val="1900"/>
              <a:buFont typeface="Calibri"/>
              <a:buAutoNum type="arabicParenR"/>
            </a:pPr>
            <a:r>
              <a:rPr lang="en-GB" sz="1900" dirty="0">
                <a:latin typeface="Calibri"/>
                <a:ea typeface="Calibri"/>
                <a:cs typeface="Calibri"/>
                <a:sym typeface="Calibri"/>
              </a:rPr>
              <a:t>Complete a formal piece of writing detailing your findings about the impact (locally, nationally or internationally) or your views on change and continuity.</a:t>
            </a:r>
            <a:endParaRPr sz="1900" dirty="0">
              <a:latin typeface="Calibri"/>
              <a:ea typeface="Calibri"/>
              <a:cs typeface="Calibri"/>
              <a:sym typeface="Calibri"/>
            </a:endParaRPr>
          </a:p>
          <a:p>
            <a:pPr marL="457200" indent="-349250">
              <a:buSzPts val="1900"/>
              <a:buFont typeface="Calibri"/>
              <a:buAutoNum type="arabicParenR"/>
            </a:pPr>
            <a:r>
              <a:rPr lang="en-GB" sz="1900" dirty="0">
                <a:latin typeface="Calibri"/>
                <a:ea typeface="Calibri"/>
                <a:cs typeface="Calibri"/>
                <a:sym typeface="Calibri"/>
              </a:rPr>
              <a:t>Explain your position with regards to how far you agree there was change.  This could be done verbally, physically or written.</a:t>
            </a:r>
            <a:endParaRPr sz="1900" dirty="0">
              <a:latin typeface="Calibri"/>
              <a:ea typeface="Calibri"/>
              <a:cs typeface="Calibri"/>
              <a:sym typeface="Calibri"/>
            </a:endParaRPr>
          </a:p>
          <a:p>
            <a:pPr marL="457200" indent="-349250">
              <a:buSzPts val="1900"/>
              <a:buFont typeface="Calibri"/>
              <a:buAutoNum type="arabicParenR"/>
            </a:pPr>
            <a:r>
              <a:rPr lang="en-GB" sz="1900" dirty="0">
                <a:latin typeface="Calibri"/>
                <a:ea typeface="Calibri"/>
                <a:cs typeface="Calibri"/>
                <a:sym typeface="Calibri"/>
              </a:rPr>
              <a:t>Write your response to the following question: “Why could the lessons learnt from the Titanic not prevent further disasters?”.</a:t>
            </a:r>
            <a:endParaRPr sz="1900" dirty="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5F2A391-A914-42AA-6A10-3BED581ACDD7}"/>
              </a:ext>
            </a:extLst>
          </p:cNvPr>
          <p:cNvGrpSpPr/>
          <p:nvPr/>
        </p:nvGrpSpPr>
        <p:grpSpPr>
          <a:xfrm>
            <a:off x="886422" y="976313"/>
            <a:ext cx="7371157" cy="3045284"/>
            <a:chOff x="1363666" y="1238250"/>
            <a:chExt cx="9828209" cy="4060379"/>
          </a:xfrm>
        </p:grpSpPr>
        <p:pic>
          <p:nvPicPr>
            <p:cNvPr id="1025" name="Picture 12">
              <a:extLst>
                <a:ext uri="{FF2B5EF4-FFF2-40B4-BE49-F238E27FC236}">
                  <a16:creationId xmlns:a16="http://schemas.microsoft.com/office/drawing/2014/main" id="{226744DC-81A0-D60F-58FC-A984246544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3666" y="4258593"/>
              <a:ext cx="1991337" cy="69894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A6A329D-31C1-36B9-E32E-41DD2C0B6D5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43295" y="1238250"/>
              <a:ext cx="7305410" cy="2190750"/>
            </a:xfrm>
            <a:prstGeom prst="rect">
              <a:avLst/>
            </a:prstGeom>
            <a:noFill/>
            <a:ln>
              <a:noFill/>
            </a:ln>
          </p:spPr>
        </p:pic>
        <p:sp>
          <p:nvSpPr>
            <p:cNvPr id="6" name="Rectangle 5">
              <a:extLst>
                <a:ext uri="{FF2B5EF4-FFF2-40B4-BE49-F238E27FC236}">
                  <a16:creationId xmlns:a16="http://schemas.microsoft.com/office/drawing/2014/main" id="{3B0602F3-B99C-265F-21DB-70AB82AFFADF}"/>
                </a:ext>
              </a:extLst>
            </p:cNvPr>
            <p:cNvSpPr/>
            <p:nvPr/>
          </p:nvSpPr>
          <p:spPr>
            <a:xfrm>
              <a:off x="3650278" y="3917504"/>
              <a:ext cx="7541597" cy="1381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fontAlgn="ctr">
                <a:lnSpc>
                  <a:spcPct val="107000"/>
                </a:lnSpc>
                <a:spcAft>
                  <a:spcPts val="600"/>
                </a:spcAft>
              </a:pPr>
              <a:endParaRPr lang="en-GB" sz="1350" dirty="0">
                <a:solidFill>
                  <a:srgbClr val="FFFFFF"/>
                </a:solidFill>
                <a:latin typeface="Arial" panose="020B0604020202020204" pitchFamily="34" charset="0"/>
              </a:endParaRPr>
            </a:p>
            <a:p>
              <a:pPr defTabSz="685800" fontAlgn="ctr">
                <a:lnSpc>
                  <a:spcPct val="107000"/>
                </a:lnSpc>
                <a:spcAft>
                  <a:spcPts val="600"/>
                </a:spcAft>
              </a:pPr>
              <a:r>
                <a:rPr lang="en-GB" sz="135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Remembering Titanic Lessons © 2023 by Wonyong Park, Neta Shaby, Rachele Newman, Megan Barton, Christopher Dale, Ashleigh Fair, Natalie Harrison, Mary Shepherd and Christopher </a:t>
              </a:r>
              <a:r>
                <a:rPr lang="en-GB" sz="135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Zieba</a:t>
              </a:r>
              <a:r>
                <a:rPr lang="en-GB" sz="135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is licensed under </a:t>
              </a:r>
              <a:r>
                <a:rPr lang="en-GB" sz="1350" u="sng" dirty="0">
                  <a:solidFill>
                    <a:srgbClr val="000000"/>
                  </a:solidFill>
                  <a:latin typeface="Times New Roman" panose="02020603050405020304" pitchFamily="18" charset="0"/>
                  <a:ea typeface="Calibri" panose="020F0502020204030204" pitchFamily="34" charset="0"/>
                  <a:cs typeface="Times New Roman" panose="02020603050405020304" pitchFamily="18" charset="0"/>
                  <a:hlinkClick r:id="rId4"/>
                </a:rPr>
                <a:t>CC BY-NC-SA 4.0</a:t>
              </a:r>
              <a:r>
                <a:rPr lang="en-GB" sz="135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You can share and adapt the materials, as long as you give appropriate credit and do not use them for commercial purposes.</a:t>
              </a:r>
              <a:endParaRPr lang="en-GB" sz="1350" dirty="0">
                <a:solidFill>
                  <a:srgbClr val="FFFFFF"/>
                </a:solidFill>
                <a:latin typeface="Arial" panose="020B0604020202020204" pitchFamily="34" charset="0"/>
              </a:endParaRPr>
            </a:p>
            <a:p>
              <a:pPr algn="ctr" defTabSz="685800"/>
              <a:endParaRPr lang="en-GB" sz="1050" dirty="0">
                <a:solidFill>
                  <a:sysClr val="windowText" lastClr="000000"/>
                </a:solidFill>
                <a:latin typeface="Arial"/>
              </a:endParaRPr>
            </a:p>
          </p:txBody>
        </p:sp>
      </p:grpSp>
    </p:spTree>
    <p:extLst>
      <p:ext uri="{BB962C8B-B14F-4D97-AF65-F5344CB8AC3E}">
        <p14:creationId xmlns:p14="http://schemas.microsoft.com/office/powerpoint/2010/main" val="37525147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AEFD908B32B245A3A0D21C6B593B2B" ma:contentTypeVersion="14" ma:contentTypeDescription="Create a new document." ma:contentTypeScope="" ma:versionID="38d37b1c7b188a6d838f48e4416de3c1">
  <xsd:schema xmlns:xsd="http://www.w3.org/2001/XMLSchema" xmlns:xs="http://www.w3.org/2001/XMLSchema" xmlns:p="http://schemas.microsoft.com/office/2006/metadata/properties" xmlns:ns2="d5a874f9-67e5-4deb-a0f2-d102b20c5fd8" xmlns:ns3="94e09ebd-c8f1-4362-991a-c49006e523f9" targetNamespace="http://schemas.microsoft.com/office/2006/metadata/properties" ma:root="true" ma:fieldsID="bf319a33755e26be25ca2a6fc21578ae" ns2:_="" ns3:_="">
    <xsd:import namespace="d5a874f9-67e5-4deb-a0f2-d102b20c5fd8"/>
    <xsd:import namespace="94e09ebd-c8f1-4362-991a-c49006e523f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a874f9-67e5-4deb-a0f2-d102b20c5f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bf2f534-9c3d-494b-83fb-768e807180c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4e09ebd-c8f1-4362-991a-c49006e523f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61c53bc1-37db-457b-9811-fd494ad9fb6b}" ma:internalName="TaxCatchAll" ma:showField="CatchAllData" ma:web="94e09ebd-c8f1-4362-991a-c49006e523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5a874f9-67e5-4deb-a0f2-d102b20c5fd8">
      <Terms xmlns="http://schemas.microsoft.com/office/infopath/2007/PartnerControls"/>
    </lcf76f155ced4ddcb4097134ff3c332f>
    <TaxCatchAll xmlns="94e09ebd-c8f1-4362-991a-c49006e523f9" xsi:nil="true"/>
  </documentManagement>
</p:properties>
</file>

<file path=customXml/itemProps1.xml><?xml version="1.0" encoding="utf-8"?>
<ds:datastoreItem xmlns:ds="http://schemas.openxmlformats.org/officeDocument/2006/customXml" ds:itemID="{369522E5-8076-47B5-B57B-440B47CC15BB}"/>
</file>

<file path=customXml/itemProps2.xml><?xml version="1.0" encoding="utf-8"?>
<ds:datastoreItem xmlns:ds="http://schemas.openxmlformats.org/officeDocument/2006/customXml" ds:itemID="{E6E016C6-55C7-417C-82EE-7A29BB20C038}">
  <ds:schemaRefs>
    <ds:schemaRef ds:uri="http://schemas.microsoft.com/sharepoint/v3/contenttype/forms"/>
  </ds:schemaRefs>
</ds:datastoreItem>
</file>

<file path=customXml/itemProps3.xml><?xml version="1.0" encoding="utf-8"?>
<ds:datastoreItem xmlns:ds="http://schemas.openxmlformats.org/officeDocument/2006/customXml" ds:itemID="{1E7C3056-981F-4271-9A6F-8AF637C67CAA}">
  <ds:schemaRefs>
    <ds:schemaRef ds:uri="http://schemas.microsoft.com/office/2006/metadata/properties"/>
    <ds:schemaRef ds:uri="http://schemas.microsoft.com/office/infopath/2007/PartnerControls"/>
    <ds:schemaRef ds:uri="d5a874f9-67e5-4deb-a0f2-d102b20c5fd8"/>
    <ds:schemaRef ds:uri="94e09ebd-c8f1-4362-991a-c49006e523f9"/>
  </ds:schemaRefs>
</ds:datastoreItem>
</file>

<file path=docProps/app.xml><?xml version="1.0" encoding="utf-8"?>
<Properties xmlns="http://schemas.openxmlformats.org/officeDocument/2006/extended-properties" xmlns:vt="http://schemas.openxmlformats.org/officeDocument/2006/docPropsVTypes">
  <TotalTime>0</TotalTime>
  <Words>764</Words>
  <Application>Microsoft Office PowerPoint</Application>
  <PresentationFormat>On-screen Show (16:9)</PresentationFormat>
  <Paragraphs>66</Paragraphs>
  <Slides>14</Slides>
  <Notes>13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14</vt:i4>
      </vt:variant>
    </vt:vector>
  </HeadingPairs>
  <TitlesOfParts>
    <vt:vector size="19" baseType="lpstr">
      <vt:lpstr>Arial</vt:lpstr>
      <vt:lpstr>Calibri</vt:lpstr>
      <vt:lpstr>Times New Roman</vt:lpstr>
      <vt:lpstr>Simple Light</vt:lpstr>
      <vt:lpstr>Office Theme</vt:lpstr>
      <vt:lpstr>PowerPoint Presentation</vt:lpstr>
      <vt:lpstr>PowerPoint Presentation</vt:lpstr>
      <vt:lpstr>PowerPoint Presentation</vt:lpstr>
      <vt:lpstr>The Titanic Relief Fund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Wonyong Park</cp:lastModifiedBy>
  <cp:revision>12</cp:revision>
  <dcterms:modified xsi:type="dcterms:W3CDTF">2023-12-14T18:51:15Z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0x010100D4AEFD908B32B245A3A0D21C6B593B2B</vt:lpwstr>
  </property>
  <property fmtid="{D5CDD505-2E9C-101B-9397-08002B2CF9AE}" pid="3" name="MediaServiceImageTags">
    <vt:lpwstr/>
  </property>
</Properties>
</file>