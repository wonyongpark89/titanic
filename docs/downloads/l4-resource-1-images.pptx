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 id="2147483660" r:id="rId5"/>
  </p:sldMasterIdLst>
  <p:notesMasterIdLst>
    <p:notesMasterId r:id="rId13"/>
  </p:notesMasterIdLst>
  <p:sldIdLst>
    <p:sldId id="256" r:id="rId6"/>
    <p:sldId id="257" r:id="rId7"/>
    <p:sldId id="258" r:id="rId8"/>
    <p:sldId id="259" r:id="rId9"/>
    <p:sldId id="260" r:id="rId10"/>
    <p:sldId id="261" r:id="rId11"/>
    <p:sldId id="268"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15B875-7321-495B-B349-B0FD8CA3966D}" v="1" dt="2023-12-14T18:51:28.7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74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nyong Park" userId="d9415017-2acf-4c90-b8cd-5d467cfa0bec" providerId="ADAL" clId="{2715B875-7321-495B-B349-B0FD8CA3966D}"/>
    <pc:docChg chg="undo custSel modSld sldOrd">
      <pc:chgData name="Wonyong Park" userId="d9415017-2acf-4c90-b8cd-5d467cfa0bec" providerId="ADAL" clId="{2715B875-7321-495B-B349-B0FD8CA3966D}" dt="2023-12-14T18:51:26.268" v="2" actId="20578"/>
      <pc:docMkLst>
        <pc:docMk/>
      </pc:docMkLst>
      <pc:sldChg chg="ord modNotes">
        <pc:chgData name="Wonyong Park" userId="d9415017-2acf-4c90-b8cd-5d467cfa0bec" providerId="ADAL" clId="{2715B875-7321-495B-B349-B0FD8CA3966D}" dt="2023-12-14T18:51:26.268" v="2" actId="20578"/>
        <pc:sldMkLst>
          <pc:docMk/>
          <pc:sldMk cId="0"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804a984fb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804a984fb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Source 1 is discussed in the starter task and could be used to model the task.  Information about the sources are available in the lesson plan.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804a984fb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804a984fb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2804a984fb2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2804a984fb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804a984fb2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804a984fb2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804a984fb2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804a984fb2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804a984fb2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804a984fb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7086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
        <p:cNvGrpSpPr/>
        <p:nvPr/>
      </p:nvGrpSpPr>
      <p:grpSpPr>
        <a:xfrm>
          <a:off x="0" y="0"/>
          <a:ext cx="0" cy="0"/>
          <a:chOff x="0" y="0"/>
          <a:chExt cx="0" cy="0"/>
        </a:xfrm>
      </p:grpSpPr>
      <p:sp>
        <p:nvSpPr>
          <p:cNvPr id="20" name="Google Shape;20;p1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2" name="Google Shape;22;p1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083692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5"/>
        <p:cNvGrpSpPr/>
        <p:nvPr/>
      </p:nvGrpSpPr>
      <p:grpSpPr>
        <a:xfrm>
          <a:off x="0" y="0"/>
          <a:ext cx="0" cy="0"/>
          <a:chOff x="0" y="0"/>
          <a:chExt cx="0" cy="0"/>
        </a:xfrm>
      </p:grpSpPr>
      <p:sp>
        <p:nvSpPr>
          <p:cNvPr id="26" name="Google Shape;26;p16"/>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6"/>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28" name="Google Shape;28;p1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9610367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1"/>
        <p:cNvGrpSpPr/>
        <p:nvPr/>
      </p:nvGrpSpPr>
      <p:grpSpPr>
        <a:xfrm>
          <a:off x="0" y="0"/>
          <a:ext cx="0" cy="0"/>
          <a:chOff x="0" y="0"/>
          <a:chExt cx="0" cy="0"/>
        </a:xfrm>
      </p:grpSpPr>
      <p:sp>
        <p:nvSpPr>
          <p:cNvPr id="32" name="Google Shape;32;p1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34" name="Google Shape;34;p1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8062670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7"/>
        <p:cNvGrpSpPr/>
        <p:nvPr/>
      </p:nvGrpSpPr>
      <p:grpSpPr>
        <a:xfrm>
          <a:off x="0" y="0"/>
          <a:ext cx="0" cy="0"/>
          <a:chOff x="0" y="0"/>
          <a:chExt cx="0" cy="0"/>
        </a:xfrm>
      </p:grpSpPr>
      <p:sp>
        <p:nvSpPr>
          <p:cNvPr id="38" name="Google Shape;38;p18"/>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8"/>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18"/>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1" name="Google Shape;41;p1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0934073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4"/>
        <p:cNvGrpSpPr/>
        <p:nvPr/>
      </p:nvGrpSpPr>
      <p:grpSpPr>
        <a:xfrm>
          <a:off x="0" y="0"/>
          <a:ext cx="0" cy="0"/>
          <a:chOff x="0" y="0"/>
          <a:chExt cx="0" cy="0"/>
        </a:xfrm>
      </p:grpSpPr>
      <p:sp>
        <p:nvSpPr>
          <p:cNvPr id="45" name="Google Shape;45;p19"/>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9"/>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7" name="Google Shape;47;p19"/>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8" name="Google Shape;48;p19"/>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9" name="Google Shape;49;p19"/>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0" name="Google Shape;50;p1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4669468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3"/>
        <p:cNvGrpSpPr/>
        <p:nvPr/>
      </p:nvGrpSpPr>
      <p:grpSpPr>
        <a:xfrm>
          <a:off x="0" y="0"/>
          <a:ext cx="0" cy="0"/>
          <a:chOff x="0" y="0"/>
          <a:chExt cx="0" cy="0"/>
        </a:xfrm>
      </p:grpSpPr>
      <p:sp>
        <p:nvSpPr>
          <p:cNvPr id="54" name="Google Shape;54;p20"/>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8833214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1"/>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21"/>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2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7044564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2"/>
          <p:cNvSpPr>
            <a:spLocks noGrp="1"/>
          </p:cNvSpPr>
          <p:nvPr>
            <p:ph type="pic" idx="2"/>
          </p:nvPr>
        </p:nvSpPr>
        <p:spPr>
          <a:xfrm>
            <a:off x="3887391" y="740569"/>
            <a:ext cx="4629150" cy="3655219"/>
          </a:xfrm>
          <a:prstGeom prst="rect">
            <a:avLst/>
          </a:prstGeom>
          <a:noFill/>
          <a:ln>
            <a:noFill/>
          </a:ln>
        </p:spPr>
      </p:sp>
      <p:sp>
        <p:nvSpPr>
          <p:cNvPr id="68" name="Google Shape;68;p22"/>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2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64299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3"/>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2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206340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4"/>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2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63014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09901710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hyperlink" Target="https://www.dailyecho.co.uk/sport/saints/" TargetMode="External"/><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hyperlink" Target="http://creativecommons.org/licenses/by-nc-sa/4.0/?ref=chooser-v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624213" y="1379816"/>
            <a:ext cx="5634575" cy="2890525"/>
          </a:xfrm>
          <a:prstGeom prst="rect">
            <a:avLst/>
          </a:prstGeom>
          <a:noFill/>
          <a:ln>
            <a:noFill/>
          </a:ln>
        </p:spPr>
      </p:pic>
      <p:sp>
        <p:nvSpPr>
          <p:cNvPr id="55" name="Google Shape;55;p13"/>
          <p:cNvSpPr txBox="1"/>
          <p:nvPr/>
        </p:nvSpPr>
        <p:spPr>
          <a:xfrm>
            <a:off x="168900" y="199600"/>
            <a:ext cx="8805300" cy="6465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b="1" u="sng">
                <a:latin typeface="Calibri"/>
                <a:ea typeface="Calibri"/>
                <a:cs typeface="Calibri"/>
                <a:sym typeface="Calibri"/>
              </a:rPr>
              <a:t>Source 1</a:t>
            </a:r>
            <a:endParaRPr sz="3000" b="1" u="sng">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92125" y="1250763"/>
            <a:ext cx="2556750" cy="2641975"/>
          </a:xfrm>
          <a:prstGeom prst="rect">
            <a:avLst/>
          </a:prstGeom>
          <a:noFill/>
          <a:ln>
            <a:noFill/>
          </a:ln>
        </p:spPr>
      </p:pic>
      <p:sp>
        <p:nvSpPr>
          <p:cNvPr id="61" name="Google Shape;61;p14"/>
          <p:cNvSpPr txBox="1"/>
          <p:nvPr/>
        </p:nvSpPr>
        <p:spPr>
          <a:xfrm>
            <a:off x="2761225" y="944500"/>
            <a:ext cx="6072900" cy="408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latin typeface="Calibri"/>
                <a:ea typeface="Calibri"/>
                <a:cs typeface="Calibri"/>
                <a:sym typeface="Calibri"/>
              </a:rPr>
              <a:t>1911/12 F.A. Charity Shield was played on Saturday 4th May 1912 at White Hart Lane, Tottenham Hotspur FC with an attendance of 7,100.  The final score was:</a:t>
            </a:r>
            <a:endParaRPr sz="1800">
              <a:latin typeface="Calibri"/>
              <a:ea typeface="Calibri"/>
              <a:cs typeface="Calibri"/>
              <a:sym typeface="Calibri"/>
            </a:endParaRPr>
          </a:p>
          <a:p>
            <a:pPr marL="0" lvl="0" indent="0" algn="l" rtl="0">
              <a:lnSpc>
                <a:spcPct val="115000"/>
              </a:lnSpc>
              <a:spcBef>
                <a:spcPts val="1200"/>
              </a:spcBef>
              <a:spcAft>
                <a:spcPts val="0"/>
              </a:spcAft>
              <a:buNone/>
            </a:pPr>
            <a:r>
              <a:rPr lang="en-GB" sz="1800">
                <a:latin typeface="Calibri"/>
                <a:ea typeface="Calibri"/>
                <a:cs typeface="Calibri"/>
                <a:sym typeface="Calibri"/>
              </a:rPr>
              <a:t>Blackburn Rovers   2       Queens Park Rangers   1 </a:t>
            </a:r>
            <a:endParaRPr sz="1800">
              <a:latin typeface="Calibri"/>
              <a:ea typeface="Calibri"/>
              <a:cs typeface="Calibri"/>
              <a:sym typeface="Calibri"/>
            </a:endParaRPr>
          </a:p>
          <a:p>
            <a:pPr marL="0" lvl="0" indent="0" algn="just" rtl="0">
              <a:lnSpc>
                <a:spcPct val="115000"/>
              </a:lnSpc>
              <a:spcBef>
                <a:spcPts val="1200"/>
              </a:spcBef>
              <a:spcAft>
                <a:spcPts val="1200"/>
              </a:spcAft>
              <a:buNone/>
            </a:pPr>
            <a:r>
              <a:rPr lang="en-GB" sz="1800">
                <a:latin typeface="Calibri"/>
                <a:ea typeface="Calibri"/>
                <a:cs typeface="Calibri"/>
                <a:sym typeface="Calibri"/>
              </a:rPr>
              <a:t>The Charity Shield match was between the 1911/12 Football League champions, Blackburn Rovers, and 1911/12 Southern League champions Queens Park Rangers. The match was played at the end of the season in which they won their titles although it was originally scheduled for the start of the 1912/13 season. The match was then brought forward following the sinking of the Titanic.</a:t>
            </a:r>
            <a:endParaRPr sz="1800">
              <a:latin typeface="Calibri"/>
              <a:ea typeface="Calibri"/>
              <a:cs typeface="Calibri"/>
              <a:sym typeface="Calibri"/>
            </a:endParaRPr>
          </a:p>
        </p:txBody>
      </p:sp>
      <p:sp>
        <p:nvSpPr>
          <p:cNvPr id="62" name="Google Shape;62;p14"/>
          <p:cNvSpPr txBox="1"/>
          <p:nvPr/>
        </p:nvSpPr>
        <p:spPr>
          <a:xfrm>
            <a:off x="92125" y="161225"/>
            <a:ext cx="8742000" cy="6465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b="1" u="sng">
                <a:latin typeface="Calibri"/>
                <a:ea typeface="Calibri"/>
                <a:cs typeface="Calibri"/>
                <a:sym typeface="Calibri"/>
              </a:rPr>
              <a:t>Source 2</a:t>
            </a:r>
            <a:endParaRPr sz="3000" b="1" u="sng">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15"/>
          <p:cNvPicPr preferRelativeResize="0"/>
          <p:nvPr/>
        </p:nvPicPr>
        <p:blipFill>
          <a:blip r:embed="rId3">
            <a:alphaModFix/>
          </a:blip>
          <a:stretch>
            <a:fillRect/>
          </a:stretch>
        </p:blipFill>
        <p:spPr>
          <a:xfrm>
            <a:off x="1815725" y="846100"/>
            <a:ext cx="5905500" cy="4210050"/>
          </a:xfrm>
          <a:prstGeom prst="rect">
            <a:avLst/>
          </a:prstGeom>
          <a:noFill/>
          <a:ln>
            <a:noFill/>
          </a:ln>
        </p:spPr>
      </p:pic>
      <p:sp>
        <p:nvSpPr>
          <p:cNvPr id="68" name="Google Shape;68;p15"/>
          <p:cNvSpPr txBox="1"/>
          <p:nvPr/>
        </p:nvSpPr>
        <p:spPr>
          <a:xfrm>
            <a:off x="169350" y="87425"/>
            <a:ext cx="8805300" cy="6465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b="1" u="sng">
                <a:latin typeface="Calibri"/>
                <a:ea typeface="Calibri"/>
                <a:cs typeface="Calibri"/>
                <a:sym typeface="Calibri"/>
              </a:rPr>
              <a:t>Source 3</a:t>
            </a:r>
            <a:endParaRPr sz="3000" b="1" u="sng">
              <a:latin typeface="Calibri"/>
              <a:ea typeface="Calibri"/>
              <a:cs typeface="Calibri"/>
              <a:sym typeface="Calibri"/>
            </a:endParaRPr>
          </a:p>
        </p:txBody>
      </p:sp>
      <p:sp>
        <p:nvSpPr>
          <p:cNvPr id="69" name="Google Shape;69;p15"/>
          <p:cNvSpPr txBox="1"/>
          <p:nvPr/>
        </p:nvSpPr>
        <p:spPr>
          <a:xfrm>
            <a:off x="90925" y="3922050"/>
            <a:ext cx="1578900" cy="1046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Calibri"/>
                <a:ea typeface="Calibri"/>
                <a:cs typeface="Calibri"/>
                <a:sym typeface="Calibri"/>
              </a:rPr>
              <a:t>A scene from Southampton shortly after the disaster in 1912</a:t>
            </a: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p:cNvPicPr preferRelativeResize="0"/>
          <p:nvPr/>
        </p:nvPicPr>
        <p:blipFill>
          <a:blip r:embed="rId3">
            <a:alphaModFix/>
          </a:blip>
          <a:stretch>
            <a:fillRect/>
          </a:stretch>
        </p:blipFill>
        <p:spPr>
          <a:xfrm>
            <a:off x="1911375" y="985750"/>
            <a:ext cx="6979401" cy="4082950"/>
          </a:xfrm>
          <a:prstGeom prst="rect">
            <a:avLst/>
          </a:prstGeom>
          <a:noFill/>
          <a:ln>
            <a:noFill/>
          </a:ln>
        </p:spPr>
      </p:pic>
      <p:sp>
        <p:nvSpPr>
          <p:cNvPr id="75" name="Google Shape;75;p16"/>
          <p:cNvSpPr txBox="1"/>
          <p:nvPr/>
        </p:nvSpPr>
        <p:spPr>
          <a:xfrm>
            <a:off x="168900" y="199600"/>
            <a:ext cx="8805300" cy="6465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b="1" u="sng">
                <a:latin typeface="Calibri"/>
                <a:ea typeface="Calibri"/>
                <a:cs typeface="Calibri"/>
                <a:sym typeface="Calibri"/>
              </a:rPr>
              <a:t>Source 4</a:t>
            </a:r>
            <a:endParaRPr sz="3000" b="1" u="sng">
              <a:latin typeface="Calibri"/>
              <a:ea typeface="Calibri"/>
              <a:cs typeface="Calibri"/>
              <a:sym typeface="Calibri"/>
            </a:endParaRPr>
          </a:p>
        </p:txBody>
      </p:sp>
      <p:sp>
        <p:nvSpPr>
          <p:cNvPr id="76" name="Google Shape;76;p16"/>
          <p:cNvSpPr txBox="1"/>
          <p:nvPr/>
        </p:nvSpPr>
        <p:spPr>
          <a:xfrm>
            <a:off x="90925" y="3922050"/>
            <a:ext cx="1578900" cy="12621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Calibri"/>
                <a:ea typeface="Calibri"/>
                <a:cs typeface="Calibri"/>
                <a:sym typeface="Calibri"/>
              </a:rPr>
              <a:t>Ceremony to reveal the memorial to the Titanic Engineers, 1914</a:t>
            </a:r>
            <a:endParaRPr>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7"/>
          <p:cNvPicPr preferRelativeResize="0"/>
          <p:nvPr/>
        </p:nvPicPr>
        <p:blipFill>
          <a:blip r:embed="rId3">
            <a:alphaModFix/>
          </a:blip>
          <a:stretch>
            <a:fillRect/>
          </a:stretch>
        </p:blipFill>
        <p:spPr>
          <a:xfrm>
            <a:off x="1658675" y="944300"/>
            <a:ext cx="6379674" cy="4115925"/>
          </a:xfrm>
          <a:prstGeom prst="rect">
            <a:avLst/>
          </a:prstGeom>
          <a:noFill/>
          <a:ln>
            <a:noFill/>
          </a:ln>
        </p:spPr>
      </p:pic>
      <p:sp>
        <p:nvSpPr>
          <p:cNvPr id="82" name="Google Shape;82;p17"/>
          <p:cNvSpPr txBox="1"/>
          <p:nvPr/>
        </p:nvSpPr>
        <p:spPr>
          <a:xfrm>
            <a:off x="168900" y="199600"/>
            <a:ext cx="8805300" cy="6465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b="1" u="sng">
                <a:latin typeface="Calibri"/>
                <a:ea typeface="Calibri"/>
                <a:cs typeface="Calibri"/>
                <a:sym typeface="Calibri"/>
              </a:rPr>
              <a:t>Source 5</a:t>
            </a:r>
            <a:endParaRPr sz="3000" b="1" u="sng">
              <a:latin typeface="Calibri"/>
              <a:ea typeface="Calibri"/>
              <a:cs typeface="Calibri"/>
              <a:sym typeface="Calibri"/>
            </a:endParaRPr>
          </a:p>
        </p:txBody>
      </p:sp>
      <p:sp>
        <p:nvSpPr>
          <p:cNvPr id="83" name="Google Shape;83;p17"/>
          <p:cNvSpPr txBox="1"/>
          <p:nvPr/>
        </p:nvSpPr>
        <p:spPr>
          <a:xfrm>
            <a:off x="90925" y="3922050"/>
            <a:ext cx="1578900" cy="1046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Calibri"/>
                <a:ea typeface="Calibri"/>
                <a:cs typeface="Calibri"/>
                <a:sym typeface="Calibri"/>
              </a:rPr>
              <a:t>Map of Southampton displayed at the SeaCity Museum</a:t>
            </a: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p:nvPr/>
        </p:nvSpPr>
        <p:spPr>
          <a:xfrm>
            <a:off x="169350" y="821750"/>
            <a:ext cx="8584800" cy="42096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52727"/>
              </a:lnSpc>
              <a:spcBef>
                <a:spcPts val="0"/>
              </a:spcBef>
              <a:spcAft>
                <a:spcPts val="0"/>
              </a:spcAft>
              <a:buNone/>
            </a:pPr>
            <a:r>
              <a:rPr lang="en-GB" sz="1600" b="1" i="1">
                <a:solidFill>
                  <a:srgbClr val="333333"/>
                </a:solidFill>
                <a:highlight>
                  <a:srgbClr val="FFFFFF"/>
                </a:highlight>
                <a:latin typeface="Calibri"/>
                <a:ea typeface="Calibri"/>
                <a:cs typeface="Calibri"/>
                <a:sym typeface="Calibri"/>
              </a:rPr>
              <a:t>Entries in the Southampton Titanic Committee Minutes book</a:t>
            </a:r>
            <a:endParaRPr sz="1600" b="1" i="1">
              <a:solidFill>
                <a:srgbClr val="333333"/>
              </a:solidFill>
              <a:highlight>
                <a:srgbClr val="FFFFFF"/>
              </a:highlight>
              <a:latin typeface="Calibri"/>
              <a:ea typeface="Calibri"/>
              <a:cs typeface="Calibri"/>
              <a:sym typeface="Calibri"/>
            </a:endParaRPr>
          </a:p>
          <a:p>
            <a:pPr marL="0" lvl="0" indent="0" algn="l" rtl="0">
              <a:lnSpc>
                <a:spcPct val="152727"/>
              </a:lnSpc>
              <a:spcBef>
                <a:spcPts val="1500"/>
              </a:spcBef>
              <a:spcAft>
                <a:spcPts val="0"/>
              </a:spcAft>
              <a:buNone/>
            </a:pPr>
            <a:r>
              <a:rPr lang="en-GB" sz="1600">
                <a:solidFill>
                  <a:srgbClr val="333333"/>
                </a:solidFill>
                <a:highlight>
                  <a:srgbClr val="FFFFFF"/>
                </a:highlight>
                <a:latin typeface="Calibri"/>
                <a:ea typeface="Calibri"/>
                <a:cs typeface="Calibri"/>
                <a:sym typeface="Calibri"/>
              </a:rPr>
              <a:t>“To Miss Penrose. Cost a pair of eyeglasses.</a:t>
            </a:r>
            <a:endParaRPr sz="1600">
              <a:solidFill>
                <a:srgbClr val="333333"/>
              </a:solidFill>
              <a:highlight>
                <a:srgbClr val="FFFFFF"/>
              </a:highlight>
              <a:latin typeface="Calibri"/>
              <a:ea typeface="Calibri"/>
              <a:cs typeface="Calibri"/>
              <a:sym typeface="Calibri"/>
            </a:endParaRPr>
          </a:p>
          <a:p>
            <a:pPr marL="0" lvl="0" indent="0" algn="l" rtl="0">
              <a:lnSpc>
                <a:spcPct val="152727"/>
              </a:lnSpc>
              <a:spcBef>
                <a:spcPts val="1500"/>
              </a:spcBef>
              <a:spcAft>
                <a:spcPts val="0"/>
              </a:spcAft>
              <a:buNone/>
            </a:pPr>
            <a:r>
              <a:rPr lang="en-GB" sz="1600">
                <a:solidFill>
                  <a:srgbClr val="333333"/>
                </a:solidFill>
                <a:highlight>
                  <a:srgbClr val="FFFFFF"/>
                </a:highlight>
                <a:latin typeface="Calibri"/>
                <a:ea typeface="Calibri"/>
                <a:cs typeface="Calibri"/>
                <a:sym typeface="Calibri"/>
              </a:rPr>
              <a:t>“That all the </a:t>
            </a:r>
            <a:r>
              <a:rPr lang="en-GB" sz="1600">
                <a:solidFill>
                  <a:schemeClr val="dk1"/>
                </a:solidFill>
                <a:highlight>
                  <a:srgbClr val="FFFFFF"/>
                </a:highlight>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Saints</a:t>
            </a:r>
            <a:r>
              <a:rPr lang="en-GB" sz="1600">
                <a:solidFill>
                  <a:srgbClr val="333333"/>
                </a:solidFill>
                <a:highlight>
                  <a:srgbClr val="FFFFFF"/>
                </a:highlight>
                <a:latin typeface="Calibri"/>
                <a:ea typeface="Calibri"/>
                <a:cs typeface="Calibri"/>
                <a:sym typeface="Calibri"/>
              </a:rPr>
              <a:t> Parish relief committee be asked to contribute half the cost of Mrs Fielder's artificial teeth.</a:t>
            </a:r>
            <a:endParaRPr sz="1600">
              <a:solidFill>
                <a:srgbClr val="333333"/>
              </a:solidFill>
              <a:highlight>
                <a:srgbClr val="FFFFFF"/>
              </a:highlight>
              <a:latin typeface="Calibri"/>
              <a:ea typeface="Calibri"/>
              <a:cs typeface="Calibri"/>
              <a:sym typeface="Calibri"/>
            </a:endParaRPr>
          </a:p>
          <a:p>
            <a:pPr marL="0" lvl="0" indent="0" algn="l" rtl="0">
              <a:lnSpc>
                <a:spcPct val="152727"/>
              </a:lnSpc>
              <a:spcBef>
                <a:spcPts val="1500"/>
              </a:spcBef>
              <a:spcAft>
                <a:spcPts val="0"/>
              </a:spcAft>
              <a:buNone/>
            </a:pPr>
            <a:r>
              <a:rPr lang="en-GB" sz="1600">
                <a:solidFill>
                  <a:srgbClr val="333333"/>
                </a:solidFill>
                <a:highlight>
                  <a:srgbClr val="FFFFFF"/>
                </a:highlight>
                <a:latin typeface="Calibri"/>
                <a:ea typeface="Calibri"/>
                <a:cs typeface="Calibri"/>
                <a:sym typeface="Calibri"/>
              </a:rPr>
              <a:t>“One Quart of milk per day, six eggs to the value of one halfpenny a week to be continued to Mrs Johnson (widow) for a further three months.’’</a:t>
            </a:r>
            <a:endParaRPr sz="1600">
              <a:solidFill>
                <a:srgbClr val="333333"/>
              </a:solidFill>
              <a:highlight>
                <a:srgbClr val="FFFFFF"/>
              </a:highlight>
              <a:latin typeface="Calibri"/>
              <a:ea typeface="Calibri"/>
              <a:cs typeface="Calibri"/>
              <a:sym typeface="Calibri"/>
            </a:endParaRPr>
          </a:p>
          <a:p>
            <a:pPr marL="0" lvl="0" indent="0" algn="l" rtl="0">
              <a:lnSpc>
                <a:spcPct val="152727"/>
              </a:lnSpc>
              <a:spcBef>
                <a:spcPts val="1500"/>
              </a:spcBef>
              <a:spcAft>
                <a:spcPts val="1500"/>
              </a:spcAft>
              <a:buNone/>
            </a:pPr>
            <a:r>
              <a:rPr lang="en-GB" sz="1600">
                <a:solidFill>
                  <a:srgbClr val="333333"/>
                </a:solidFill>
                <a:highlight>
                  <a:srgbClr val="FFFFFF"/>
                </a:highlight>
                <a:latin typeface="Calibri"/>
                <a:ea typeface="Calibri"/>
                <a:cs typeface="Calibri"/>
                <a:sym typeface="Calibri"/>
              </a:rPr>
              <a:t>“The boy aged nine was placed under the charge of the matron of Shirley Warren workhouse, and the two little girls are at present being looked after by the Society of Musicians and the Charity Organisation Society and other friends.’’</a:t>
            </a:r>
            <a:endParaRPr sz="1600">
              <a:solidFill>
                <a:srgbClr val="333333"/>
              </a:solidFill>
              <a:highlight>
                <a:srgbClr val="FFFFFF"/>
              </a:highlight>
              <a:latin typeface="Calibri"/>
              <a:ea typeface="Calibri"/>
              <a:cs typeface="Calibri"/>
              <a:sym typeface="Calibri"/>
            </a:endParaRPr>
          </a:p>
        </p:txBody>
      </p:sp>
      <p:sp>
        <p:nvSpPr>
          <p:cNvPr id="89" name="Google Shape;89;p18"/>
          <p:cNvSpPr txBox="1"/>
          <p:nvPr/>
        </p:nvSpPr>
        <p:spPr>
          <a:xfrm>
            <a:off x="169350" y="54850"/>
            <a:ext cx="8584800" cy="646500"/>
          </a:xfrm>
          <a:prstGeom prst="rect">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3000" b="1" u="sng">
                <a:latin typeface="Calibri"/>
                <a:ea typeface="Calibri"/>
                <a:cs typeface="Calibri"/>
                <a:sym typeface="Calibri"/>
              </a:rPr>
              <a:t>Source 6</a:t>
            </a:r>
            <a:endParaRPr sz="3000" b="1" u="sng">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5F2A391-A914-42AA-6A10-3BED581ACDD7}"/>
              </a:ext>
            </a:extLst>
          </p:cNvPr>
          <p:cNvGrpSpPr/>
          <p:nvPr/>
        </p:nvGrpSpPr>
        <p:grpSpPr>
          <a:xfrm>
            <a:off x="886422" y="976313"/>
            <a:ext cx="7371157" cy="3045284"/>
            <a:chOff x="1363666" y="1238250"/>
            <a:chExt cx="9828209" cy="4060379"/>
          </a:xfrm>
        </p:grpSpPr>
        <p:pic>
          <p:nvPicPr>
            <p:cNvPr id="1025" name="Picture 12">
              <a:extLst>
                <a:ext uri="{FF2B5EF4-FFF2-40B4-BE49-F238E27FC236}">
                  <a16:creationId xmlns:a16="http://schemas.microsoft.com/office/drawing/2014/main" id="{226744DC-81A0-D60F-58FC-A984246544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3666" y="4258593"/>
              <a:ext cx="1991337" cy="69894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A6A329D-31C1-36B9-E32E-41DD2C0B6D5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3295" y="1238250"/>
              <a:ext cx="7305410" cy="2190750"/>
            </a:xfrm>
            <a:prstGeom prst="rect">
              <a:avLst/>
            </a:prstGeom>
            <a:noFill/>
            <a:ln>
              <a:noFill/>
            </a:ln>
          </p:spPr>
        </p:pic>
        <p:sp>
          <p:nvSpPr>
            <p:cNvPr id="6" name="Rectangle 5">
              <a:extLst>
                <a:ext uri="{FF2B5EF4-FFF2-40B4-BE49-F238E27FC236}">
                  <a16:creationId xmlns:a16="http://schemas.microsoft.com/office/drawing/2014/main" id="{3B0602F3-B99C-265F-21DB-70AB82AFFADF}"/>
                </a:ext>
              </a:extLst>
            </p:cNvPr>
            <p:cNvSpPr/>
            <p:nvPr/>
          </p:nvSpPr>
          <p:spPr>
            <a:xfrm>
              <a:off x="3650278" y="3917504"/>
              <a:ext cx="7541597" cy="1381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ctr">
                <a:lnSpc>
                  <a:spcPct val="107000"/>
                </a:lnSpc>
                <a:spcAft>
                  <a:spcPts val="600"/>
                </a:spcAft>
              </a:pPr>
              <a:endParaRPr lang="en-GB" sz="1350" dirty="0">
                <a:solidFill>
                  <a:srgbClr val="FFFFFF"/>
                </a:solidFill>
                <a:latin typeface="Arial" panose="020B0604020202020204" pitchFamily="34" charset="0"/>
              </a:endParaRPr>
            </a:p>
            <a:p>
              <a:pPr defTabSz="685800" fontAlgn="ctr">
                <a:lnSpc>
                  <a:spcPct val="107000"/>
                </a:lnSpc>
                <a:spcAft>
                  <a:spcPts val="600"/>
                </a:spcAft>
              </a:pPr>
              <a:r>
                <a:rPr lang="en-GB" sz="135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Remembering Titanic Lessons © 2023 by Wonyong Park, Neta Shaby, Rachele Newman, Megan Barton, Christopher Dale, Ashleigh Fair, Natalie Harrison, Mary Shepherd and Christopher </a:t>
              </a:r>
              <a:r>
                <a:rPr lang="en-GB" sz="135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Zieba</a:t>
              </a:r>
              <a:r>
                <a:rPr lang="en-GB" sz="135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licensed under </a:t>
              </a:r>
              <a:r>
                <a:rPr lang="en-GB" sz="1350"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hlinkClick r:id="rId4"/>
                </a:rPr>
                <a:t>CC BY-NC-SA 4.0</a:t>
              </a:r>
              <a:r>
                <a:rPr lang="en-GB" sz="135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You can share and adapt the materials, as long as you give appropriate credit and do not use them for commercial purposes.</a:t>
              </a:r>
              <a:endParaRPr lang="en-GB" sz="1350" dirty="0">
                <a:solidFill>
                  <a:srgbClr val="FFFFFF"/>
                </a:solidFill>
                <a:latin typeface="Arial" panose="020B0604020202020204" pitchFamily="34" charset="0"/>
              </a:endParaRPr>
            </a:p>
            <a:p>
              <a:pPr algn="ctr" defTabSz="685800"/>
              <a:endParaRPr lang="en-GB" sz="1050" dirty="0">
                <a:solidFill>
                  <a:sysClr val="windowText" lastClr="000000"/>
                </a:solidFill>
                <a:latin typeface="Arial"/>
              </a:endParaRPr>
            </a:p>
          </p:txBody>
        </p:sp>
      </p:grpSp>
    </p:spTree>
    <p:extLst>
      <p:ext uri="{BB962C8B-B14F-4D97-AF65-F5344CB8AC3E}">
        <p14:creationId xmlns:p14="http://schemas.microsoft.com/office/powerpoint/2010/main" val="37525147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5a874f9-67e5-4deb-a0f2-d102b20c5fd8">
      <Terms xmlns="http://schemas.microsoft.com/office/infopath/2007/PartnerControls"/>
    </lcf76f155ced4ddcb4097134ff3c332f>
    <TaxCatchAll xmlns="94e09ebd-c8f1-4362-991a-c49006e523f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4AEFD908B32B245A3A0D21C6B593B2B" ma:contentTypeVersion="14" ma:contentTypeDescription="Create a new document." ma:contentTypeScope="" ma:versionID="38d37b1c7b188a6d838f48e4416de3c1">
  <xsd:schema xmlns:xsd="http://www.w3.org/2001/XMLSchema" xmlns:xs="http://www.w3.org/2001/XMLSchema" xmlns:p="http://schemas.microsoft.com/office/2006/metadata/properties" xmlns:ns2="d5a874f9-67e5-4deb-a0f2-d102b20c5fd8" xmlns:ns3="94e09ebd-c8f1-4362-991a-c49006e523f9" targetNamespace="http://schemas.microsoft.com/office/2006/metadata/properties" ma:root="true" ma:fieldsID="bf319a33755e26be25ca2a6fc21578ae" ns2:_="" ns3:_="">
    <xsd:import namespace="d5a874f9-67e5-4deb-a0f2-d102b20c5fd8"/>
    <xsd:import namespace="94e09ebd-c8f1-4362-991a-c49006e523f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a874f9-67e5-4deb-a0f2-d102b20c5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bf2f534-9c3d-494b-83fb-768e807180c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e09ebd-c8f1-4362-991a-c49006e523f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61c53bc1-37db-457b-9811-fd494ad9fb6b}" ma:internalName="TaxCatchAll" ma:showField="CatchAllData" ma:web="94e09ebd-c8f1-4362-991a-c49006e523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1A5889-C6B4-4564-8579-5190CDFC77C0}">
  <ds:schemaRefs>
    <ds:schemaRef ds:uri="http://schemas.microsoft.com/office/2006/metadata/properties"/>
    <ds:schemaRef ds:uri="http://schemas.microsoft.com/office/infopath/2007/PartnerControls"/>
    <ds:schemaRef ds:uri="d5a874f9-67e5-4deb-a0f2-d102b20c5fd8"/>
    <ds:schemaRef ds:uri="94e09ebd-c8f1-4362-991a-c49006e523f9"/>
  </ds:schemaRefs>
</ds:datastoreItem>
</file>

<file path=customXml/itemProps2.xml><?xml version="1.0" encoding="utf-8"?>
<ds:datastoreItem xmlns:ds="http://schemas.openxmlformats.org/officeDocument/2006/customXml" ds:itemID="{EB65FEE6-9670-4FCB-A451-7EB894A9FF84}">
  <ds:schemaRefs>
    <ds:schemaRef ds:uri="http://schemas.microsoft.com/sharepoint/v3/contenttype/forms"/>
  </ds:schemaRefs>
</ds:datastoreItem>
</file>

<file path=customXml/itemProps3.xml><?xml version="1.0" encoding="utf-8"?>
<ds:datastoreItem xmlns:ds="http://schemas.openxmlformats.org/officeDocument/2006/customXml" ds:itemID="{CE0D2F3F-F6EC-4920-98EF-8AC7AB300022}"/>
</file>

<file path=docProps/app.xml><?xml version="1.0" encoding="utf-8"?>
<Properties xmlns="http://schemas.openxmlformats.org/officeDocument/2006/extended-properties" xmlns:vt="http://schemas.openxmlformats.org/officeDocument/2006/docPropsVTypes">
  <TotalTime>0</TotalTime>
  <Words>354</Words>
  <Application>Microsoft Office PowerPoint</Application>
  <PresentationFormat>On-screen Show (16:9)</PresentationFormat>
  <Paragraphs>20</Paragraphs>
  <Slides>7</Slides>
  <Notes>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vt:i4>
      </vt:variant>
    </vt:vector>
  </HeadingPairs>
  <TitlesOfParts>
    <vt:vector size="12" baseType="lpstr">
      <vt:lpstr>Arial</vt:lpstr>
      <vt:lpstr>Calibri</vt:lpstr>
      <vt:lpstr>Times New Roman</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Wonyong Park</cp:lastModifiedBy>
  <cp:revision>1</cp:revision>
  <dcterms:modified xsi:type="dcterms:W3CDTF">2023-12-14T18:51:29Z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0x010100D4AEFD908B32B245A3A0D21C6B593B2B</vt:lpwstr>
  </property>
  <property fmtid="{D5CDD505-2E9C-101B-9397-08002B2CF9AE}" pid="3" name="MediaServiceImageTags">
    <vt:lpwstr/>
  </property>
</Properties>
</file>