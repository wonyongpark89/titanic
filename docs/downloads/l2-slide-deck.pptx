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  <p:sldMasterId id="2147483706" r:id="rId5"/>
  </p:sldMasterIdLst>
  <p:notesMasterIdLst>
    <p:notesMasterId r:id="rId20"/>
  </p:notesMasterIdLst>
  <p:sldIdLst>
    <p:sldId id="261" r:id="rId6"/>
    <p:sldId id="257" r:id="rId7"/>
    <p:sldId id="256" r:id="rId8"/>
    <p:sldId id="269" r:id="rId9"/>
    <p:sldId id="270" r:id="rId10"/>
    <p:sldId id="258" r:id="rId11"/>
    <p:sldId id="266" r:id="rId12"/>
    <p:sldId id="259" r:id="rId13"/>
    <p:sldId id="263" r:id="rId14"/>
    <p:sldId id="264" r:id="rId15"/>
    <p:sldId id="265" r:id="rId16"/>
    <p:sldId id="271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AFE8C3-67C0-43FD-B82F-BEE7F863F442}" v="3" dt="2023-12-14T18:50:33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4291" autoAdjust="0"/>
  </p:normalViewPr>
  <p:slideViewPr>
    <p:cSldViewPr snapToGrid="0">
      <p:cViewPr varScale="1">
        <p:scale>
          <a:sx n="103" d="100"/>
          <a:sy n="103" d="100"/>
        </p:scale>
        <p:origin x="73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ele Newman" userId="S::rm1c10@soton.ac.uk::69351afb-65e9-4c98-abf6-3350785a7d10" providerId="AD" clId="Web-{F8A2C314-56A2-D93D-B272-362F1BEB2D6E}"/>
    <pc:docChg chg="sldOrd">
      <pc:chgData name="Rachele Newman" userId="S::rm1c10@soton.ac.uk::69351afb-65e9-4c98-abf6-3350785a7d10" providerId="AD" clId="Web-{F8A2C314-56A2-D93D-B272-362F1BEB2D6E}" dt="2023-12-07T14:29:42.261" v="0"/>
      <pc:docMkLst>
        <pc:docMk/>
      </pc:docMkLst>
      <pc:sldChg chg="ord">
        <pc:chgData name="Rachele Newman" userId="S::rm1c10@soton.ac.uk::69351afb-65e9-4c98-abf6-3350785a7d10" providerId="AD" clId="Web-{F8A2C314-56A2-D93D-B272-362F1BEB2D6E}" dt="2023-12-07T14:29:42.261" v="0"/>
        <pc:sldMkLst>
          <pc:docMk/>
          <pc:sldMk cId="3493989938" sldId="259"/>
        </pc:sldMkLst>
      </pc:sldChg>
    </pc:docChg>
  </pc:docChgLst>
  <pc:docChgLst>
    <pc:chgData name="Wonyong Park" userId="d9415017-2acf-4c90-b8cd-5d467cfa0bec" providerId="ADAL" clId="{07AFE8C3-67C0-43FD-B82F-BEE7F863F442}"/>
    <pc:docChg chg="addSld delSld modSld">
      <pc:chgData name="Wonyong Park" userId="d9415017-2acf-4c90-b8cd-5d467cfa0bec" providerId="ADAL" clId="{07AFE8C3-67C0-43FD-B82F-BEE7F863F442}" dt="2023-12-14T23:14:04.953" v="4" actId="20577"/>
      <pc:docMkLst>
        <pc:docMk/>
      </pc:docMkLst>
      <pc:sldChg chg="modSp mod">
        <pc:chgData name="Wonyong Park" userId="d9415017-2acf-4c90-b8cd-5d467cfa0bec" providerId="ADAL" clId="{07AFE8C3-67C0-43FD-B82F-BEE7F863F442}" dt="2023-12-14T23:14:04.953" v="4" actId="20577"/>
        <pc:sldMkLst>
          <pc:docMk/>
          <pc:sldMk cId="2121126309" sldId="257"/>
        </pc:sldMkLst>
        <pc:spChg chg="mod">
          <ac:chgData name="Wonyong Park" userId="d9415017-2acf-4c90-b8cd-5d467cfa0bec" providerId="ADAL" clId="{07AFE8C3-67C0-43FD-B82F-BEE7F863F442}" dt="2023-12-14T23:14:04.953" v="4" actId="20577"/>
          <ac:spMkLst>
            <pc:docMk/>
            <pc:sldMk cId="2121126309" sldId="257"/>
            <ac:spMk id="3" creationId="{579A5825-415B-458B-8F86-2300C855C3C2}"/>
          </ac:spMkLst>
        </pc:spChg>
      </pc:sldChg>
      <pc:sldChg chg="add del setBg">
        <pc:chgData name="Wonyong Park" userId="d9415017-2acf-4c90-b8cd-5d467cfa0bec" providerId="ADAL" clId="{07AFE8C3-67C0-43FD-B82F-BEE7F863F442}" dt="2023-12-14T18:50:33.848" v="2"/>
        <pc:sldMkLst>
          <pc:docMk/>
          <pc:sldMk cId="375251473" sldId="268"/>
        </pc:sldMkLst>
      </pc:sldChg>
    </pc:docChg>
  </pc:docChgLst>
  <pc:docChgLst>
    <pc:chgData name="Rachele Newman" userId="S::rm1c10@soton.ac.uk::69351afb-65e9-4c98-abf6-3350785a7d10" providerId="AD" clId="Web-{26A20B16-F631-E62D-918A-20F8A33CCC70}"/>
    <pc:docChg chg="modSld">
      <pc:chgData name="Rachele Newman" userId="S::rm1c10@soton.ac.uk::69351afb-65e9-4c98-abf6-3350785a7d10" providerId="AD" clId="Web-{26A20B16-F631-E62D-918A-20F8A33CCC70}" dt="2023-12-08T09:18:54.191" v="17" actId="20577"/>
      <pc:docMkLst>
        <pc:docMk/>
      </pc:docMkLst>
      <pc:sldChg chg="modSp">
        <pc:chgData name="Rachele Newman" userId="S::rm1c10@soton.ac.uk::69351afb-65e9-4c98-abf6-3350785a7d10" providerId="AD" clId="Web-{26A20B16-F631-E62D-918A-20F8A33CCC70}" dt="2023-12-08T09:18:54.191" v="17" actId="20577"/>
        <pc:sldMkLst>
          <pc:docMk/>
          <pc:sldMk cId="692526753" sldId="267"/>
        </pc:sldMkLst>
        <pc:spChg chg="mod">
          <ac:chgData name="Rachele Newman" userId="S::rm1c10@soton.ac.uk::69351afb-65e9-4c98-abf6-3350785a7d10" providerId="AD" clId="Web-{26A20B16-F631-E62D-918A-20F8A33CCC70}" dt="2023-12-08T09:18:54.191" v="17" actId="20577"/>
          <ac:spMkLst>
            <pc:docMk/>
            <pc:sldMk cId="692526753" sldId="267"/>
            <ac:spMk id="3" creationId="{85363444-27E1-4C7A-9EA5-8BECF51BAF4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80B08-0334-4F54-A09C-98C4D6A38466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AE3BB-8838-407A-AF9D-99301E0E2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032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SGeskFzE0s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lesson is in 2 parts:</a:t>
            </a:r>
          </a:p>
          <a:p>
            <a:r>
              <a:rPr lang="en-GB" dirty="0"/>
              <a:t>1’st part – how It sank</a:t>
            </a:r>
          </a:p>
          <a:p>
            <a:r>
              <a:rPr lang="en-GB" dirty="0"/>
              <a:t>2ns part – why it became such a disaster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AE3BB-8838-407A-AF9D-99301E0E20F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760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8606A906-4723-421F-A2C1-73ABB4204D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F1D32C3A-A6F7-4569-B36A-E8E33A5C4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4DB28039-57F8-4959-9241-03CC53C03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fld id="{6B37EEA7-53E8-485B-8F50-E7C0655B5E59}" type="slidenum">
              <a:rPr lang="en-GB" altLang="en-US">
                <a:latin typeface="Calibri" panose="020F0502020204030204" pitchFamily="34" charset="0"/>
              </a:rPr>
              <a:pPr/>
              <a:t>3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2884BB4F-6FBA-4C02-8143-8810984812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EA08E776-1361-417B-BC98-B811C35764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B8ACA541-B329-407F-9AFB-394DB27D0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fld id="{95E55F91-81C2-4B9B-A365-D1BAD13AA242}" type="slidenum">
              <a:rPr lang="en-GB" altLang="en-US">
                <a:latin typeface="Calibri" panose="020F0502020204030204" pitchFamily="34" charset="0"/>
              </a:rPr>
              <a:pPr/>
              <a:t>4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B6757B16-1148-498B-A259-2FB9379649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D5508879-50E2-489A-867B-11A7F6E538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9C54DB0C-F5EE-4551-ACC1-AEB77037C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fld id="{1B852ED7-841D-468C-8550-7979127947C0}" type="slidenum">
              <a:rPr lang="en-GB" altLang="en-US">
                <a:latin typeface="Calibri" panose="020F0502020204030204" pitchFamily="34" charset="0"/>
              </a:rPr>
              <a:pPr/>
              <a:t>5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hlinkClick r:id="rId3"/>
              </a:rPr>
              <a:t>https://www.youtube.com/watch?v=FSGeskFzE0s</a:t>
            </a:r>
            <a:r>
              <a:rPr lang="en-GB" dirty="0"/>
              <a:t> – how did it sink? Simple explanation of how it san before the second part of the lesson looking at why it was a disaster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could use this to write out what happened as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ship went down.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AE3BB-8838-407A-AF9D-99301E0E20F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943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AE3BB-8838-407A-AF9D-99301E0E20F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530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Extra support </a:t>
            </a:r>
            <a:r>
              <a:rPr lang="en-GB" dirty="0"/>
              <a:t>for video if needed/recap. Simple explanation of how it san before the second part of the lesson looking at why it was a disaster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AE3BB-8838-407A-AF9D-99301E0E20F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207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Then, mind map on the board their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AE3BB-8838-407A-AF9D-99301E0E20F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384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Looking for the answer - preparation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AE3BB-8838-407A-AF9D-99301E0E20F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132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5093E938-842E-48C7-BF01-1AAC5E267C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487DE379-9E42-4495-B7F0-5919AF118F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1DC00277-DC6D-451D-9158-5891803FB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fld id="{26F89AD4-25F9-41BC-9268-C1EBB71C908F}" type="slidenum">
              <a:rPr lang="en-GB" altLang="en-US">
                <a:latin typeface="Calibri" panose="020F0502020204030204" pitchFamily="34" charset="0"/>
              </a:rPr>
              <a:pPr/>
              <a:t>12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3B319-915B-46C3-AC54-9EE61BA78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158B6-73C1-41C0-83C1-71C38BDA9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23E6B-D97E-4729-8C4C-EB501035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AD011-3B6F-410C-A102-F0490F4D3D82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0BC05-0D50-4A54-9B0C-AB37ACED9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F3C66-3918-4820-9CE2-55C546EA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629C-6F61-461A-B3BF-587803119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118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1D7C4-3BAF-400E-BF67-2A173ACE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C8910-1458-4B87-AEDE-47B332945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F8BAA-B738-4D8C-9FCB-40B3D8F43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AD011-3B6F-410C-A102-F0490F4D3D82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E0692-2DE7-4256-A101-6BE53DC64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008BE-F1D3-444C-88FA-050C238CE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629C-6F61-461A-B3BF-587803119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082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1939-2174-4C4D-8E8F-9D97CB9B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DF0BF-1DF6-4BB3-A229-6FA5107CB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20089-7D6E-4F40-BEB2-48186A5C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AD011-3B6F-410C-A102-F0490F4D3D82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2D04A-126C-40B9-A08A-90845A461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0AE63-F922-4ACC-9FF6-A1A543AA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629C-6F61-461A-B3BF-587803119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32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1BD7F-E5CA-41E7-8FDE-327BAC46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42EE0-DF5E-4F88-9B8C-DEE6D31D8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D7AE7-72A9-4206-983A-1AD5E3EFB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30637-EF44-4918-B4DD-2C0D9FF3A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AD011-3B6F-410C-A102-F0490F4D3D82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1D79E-B282-4847-BE3C-DFBADB89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FEE42-2DDF-43D0-8C58-EA0B31F7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629C-6F61-461A-B3BF-587803119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817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F45E1-F51E-4AC6-A7A7-DEFC1029A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BD950-67BC-467D-BA21-DBD3C164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B7AE0-FECF-4489-9BFF-856EB0EF0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64FEC-E3E0-4D25-99FC-0A990CA1F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61147-9727-462A-B6AC-B6A0286814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C09A04-1B96-4341-A0AE-6B96DBB98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AD011-3B6F-410C-A102-F0490F4D3D82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7FA369-99CC-4A1D-A1A6-3D6132954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E6AA8-BAE5-435C-AF40-7D741CE00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629C-6F61-461A-B3BF-587803119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6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0E47-2606-4232-9ED4-52184AC91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38CD2-A38E-4CDD-BAB6-8C3A1A38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AD011-3B6F-410C-A102-F0490F4D3D82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1820B-753E-48B2-888C-663F5B799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EBBFF-B2AF-4A0F-BDEB-8045F995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629C-6F61-461A-B3BF-587803119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96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F3A1F-E87F-4785-8B43-FE0146C9C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AD011-3B6F-410C-A102-F0490F4D3D82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8EFF22-FEE4-41CB-A9C8-81A554A82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B46F5-7EB3-4288-B33E-4EA31AA6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629C-6F61-461A-B3BF-587803119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49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2EB50-D692-42F0-9EC7-0D8917E0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F304A-97A5-41A1-8CDD-58B575866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93909-3830-49E6-9CED-922455D11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57404-37FF-49CD-B2BE-B2ACBD7D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AD011-3B6F-410C-A102-F0490F4D3D82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9F4E0-AACA-4FCF-9F40-8E9BF6D99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A80E6-672D-4286-9808-290D6921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629C-6F61-461A-B3BF-587803119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86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99B34-68AE-4E34-9809-588256644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45DDBA-84F4-4473-AA73-81099FFAA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4427F-EA7C-48B8-8435-3384ABA07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B9939-4653-4E06-8857-E9126F405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AD011-3B6F-410C-A102-F0490F4D3D82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2E33E-EE0C-4119-A704-7633B9D71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C838A-C2C8-42D6-9A95-5F2A5D38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629C-6F61-461A-B3BF-587803119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386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EC0C-CE9B-4486-978E-B4F1A911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98DF0-89F0-4F86-8115-9B8771414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7EBEF-86B3-4370-8B47-34124BD76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AD011-3B6F-410C-A102-F0490F4D3D82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0906E-68A6-481F-82B3-5C95BD09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AB18F-7DC7-4B76-A57E-F85BAF19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629C-6F61-461A-B3BF-587803119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84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F8253E-3E4C-4A3F-8F92-5E02852B5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DCA6E-16B8-43AB-AC86-02CFB7E07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7ED10-6259-4876-BF8C-CD811A41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AD011-3B6F-410C-A102-F0490F4D3D82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A3B30-BC0F-4FAA-A733-40F126DC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009A6-6033-4004-9590-E874BE02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629C-6F61-461A-B3BF-587803119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119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1176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5351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2897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6136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7414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82163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50971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04582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43938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31042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551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5B9B9-5690-4950-BAD5-382B970E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14AFD-0124-4A7A-B472-B73A5AAC0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6FA2F-5449-4E4C-BCBF-410811850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AD011-3B6F-410C-A102-F0490F4D3D82}" type="datetimeFigureOut">
              <a:rPr lang="en-GB" smtClean="0"/>
              <a:t>Thu 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8BB8A-44A3-4871-8980-91C803C6E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1FC9B-2782-46AA-A055-72FAF123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B629C-6F61-461A-B3BF-587803119D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78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87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SGeskFzE0s" TargetMode="Externa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b9NkfdFOHVU" TargetMode="Externa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creativecommons.org/licenses/by-nc-sa/4.0/?ref=chooser-v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45E3D-3C54-488E-8D50-8AAB111F7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3939"/>
            <a:ext cx="10515600" cy="62215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4000" b="1" dirty="0"/>
              <a:t>Title</a:t>
            </a:r>
            <a:r>
              <a:rPr lang="en-GB" sz="4000" dirty="0"/>
              <a:t> – </a:t>
            </a:r>
            <a:r>
              <a:rPr lang="en-GB" sz="4000" u="sng" dirty="0"/>
              <a:t>Why was the sinking of the Titanic a disaster?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0DC7FF-7245-42FA-938F-2DBC11FDB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886" y="2076557"/>
            <a:ext cx="6421525" cy="35960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AD92BF-9F2D-4F24-806A-D36CD7E5131B}"/>
              </a:ext>
            </a:extLst>
          </p:cNvPr>
          <p:cNvSpPr txBox="1"/>
          <p:nvPr/>
        </p:nvSpPr>
        <p:spPr>
          <a:xfrm>
            <a:off x="838200" y="2351090"/>
            <a:ext cx="4380914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/>
              <a:t>Do now</a:t>
            </a:r>
          </a:p>
          <a:p>
            <a:endParaRPr lang="en-GB" sz="2400" b="1" dirty="0"/>
          </a:p>
          <a:p>
            <a:endParaRPr lang="en-GB" sz="2400" dirty="0"/>
          </a:p>
          <a:p>
            <a:r>
              <a:rPr lang="en-GB" sz="2400" dirty="0"/>
              <a:t>Bullet point x3 ways in which the Titanic made an impact to Southampton</a:t>
            </a:r>
          </a:p>
          <a:p>
            <a:endParaRPr lang="en-GB" sz="2400" b="1" dirty="0"/>
          </a:p>
          <a:p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65647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9A5825-415B-458B-8F86-2300C855C3C2}"/>
              </a:ext>
            </a:extLst>
          </p:cNvPr>
          <p:cNvSpPr/>
          <p:nvPr/>
        </p:nvSpPr>
        <p:spPr>
          <a:xfrm>
            <a:off x="565281" y="582067"/>
            <a:ext cx="5368987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0" i="0" dirty="0">
                <a:solidFill>
                  <a:srgbClr val="323232"/>
                </a:solidFill>
                <a:effectLst/>
                <a:latin typeface="Lato"/>
              </a:rPr>
              <a:t>At the time of her construction, the Titanic was the </a:t>
            </a:r>
            <a:r>
              <a:rPr lang="en-GB" sz="2800" b="1" i="0" dirty="0">
                <a:solidFill>
                  <a:srgbClr val="323232"/>
                </a:solidFill>
                <a:effectLst/>
                <a:latin typeface="Lato"/>
              </a:rPr>
              <a:t>largest ship ever built</a:t>
            </a:r>
            <a:r>
              <a:rPr lang="en-GB" sz="2800" b="0" i="0" dirty="0">
                <a:solidFill>
                  <a:srgbClr val="323232"/>
                </a:solidFill>
                <a:effectLst/>
                <a:latin typeface="Lato"/>
              </a:rPr>
              <a:t>. It was 230m long, 25 stories high, and weighed 46,000,000 kg</a:t>
            </a:r>
            <a:r>
              <a:rPr lang="en-GB" sz="2800" b="0" i="0">
                <a:solidFill>
                  <a:srgbClr val="323232"/>
                </a:solidFill>
                <a:effectLst/>
                <a:latin typeface="Lato"/>
              </a:rPr>
              <a:t>. </a:t>
            </a:r>
          </a:p>
          <a:p>
            <a:endParaRPr lang="en-GB" sz="2800" b="0" i="0" dirty="0">
              <a:solidFill>
                <a:srgbClr val="323232"/>
              </a:solidFill>
              <a:effectLst/>
              <a:latin typeface="Lato"/>
            </a:endParaRPr>
          </a:p>
          <a:p>
            <a:r>
              <a:rPr lang="en-GB" sz="2800" b="0" i="0" dirty="0">
                <a:solidFill>
                  <a:srgbClr val="323232"/>
                </a:solidFill>
                <a:effectLst/>
                <a:latin typeface="Lato"/>
              </a:rPr>
              <a:t>The ship’s </a:t>
            </a:r>
            <a:r>
              <a:rPr lang="en-GB" sz="2800" dirty="0">
                <a:solidFill>
                  <a:srgbClr val="323232"/>
                </a:solidFill>
                <a:latin typeface="Lato"/>
              </a:rPr>
              <a:t>modern</a:t>
            </a:r>
            <a:r>
              <a:rPr lang="en-GB" sz="2800" b="0" i="0" dirty="0">
                <a:solidFill>
                  <a:srgbClr val="323232"/>
                </a:solidFill>
                <a:effectLst/>
                <a:latin typeface="Lato"/>
              </a:rPr>
              <a:t> design and technology included sixteen </a:t>
            </a:r>
            <a:r>
              <a:rPr lang="en-GB" sz="2800" b="1" i="0" dirty="0">
                <a:solidFill>
                  <a:srgbClr val="323232"/>
                </a:solidFill>
                <a:effectLst/>
                <a:latin typeface="Lato"/>
              </a:rPr>
              <a:t>watertight compartments </a:t>
            </a:r>
            <a:r>
              <a:rPr lang="en-GB" sz="2800" b="0" i="0" dirty="0">
                <a:solidFill>
                  <a:srgbClr val="323232"/>
                </a:solidFill>
                <a:effectLst/>
                <a:latin typeface="Lato"/>
              </a:rPr>
              <a:t>in her lower section that could easily be sealed off in the event of a punctured hull and deemed her </a:t>
            </a:r>
            <a:r>
              <a:rPr lang="en-GB" sz="2800" b="1" i="0" dirty="0">
                <a:solidFill>
                  <a:srgbClr val="323232"/>
                </a:solidFill>
                <a:effectLst/>
                <a:latin typeface="Lato"/>
              </a:rPr>
              <a:t>unsinkable</a:t>
            </a:r>
            <a:r>
              <a:rPr lang="en-GB" sz="2800" b="0" i="0" dirty="0">
                <a:solidFill>
                  <a:srgbClr val="323232"/>
                </a:solidFill>
                <a:effectLst/>
                <a:latin typeface="Lato"/>
              </a:rPr>
              <a:t>.</a:t>
            </a:r>
            <a:endParaRPr lang="en-GB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B8D4EC-3498-4A8D-8BF7-5A6E75855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196" y="499402"/>
            <a:ext cx="5005522" cy="572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26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Subtitle 2">
            <a:extLst>
              <a:ext uri="{FF2B5EF4-FFF2-40B4-BE49-F238E27FC236}">
                <a16:creationId xmlns:a16="http://schemas.microsoft.com/office/drawing/2014/main" id="{D7F12BA6-7761-471A-864E-9197A085B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85837" y="199025"/>
            <a:ext cx="10745763" cy="1752600"/>
          </a:xfrm>
        </p:spPr>
        <p:txBody>
          <a:bodyPr>
            <a:normAutofit/>
          </a:bodyPr>
          <a:lstStyle/>
          <a:p>
            <a:r>
              <a:rPr lang="en-GB" altLang="en-US" sz="4000" dirty="0"/>
              <a:t>Why did they think she was unsinkable?</a:t>
            </a:r>
          </a:p>
        </p:txBody>
      </p:sp>
      <p:pic>
        <p:nvPicPr>
          <p:cNvPr id="5124" name="Picture 2" descr="http://www.titanicuniverse.com/wp-content/uploads/2012/01/titanic-unsinkable1.jpg">
            <a:extLst>
              <a:ext uri="{FF2B5EF4-FFF2-40B4-BE49-F238E27FC236}">
                <a16:creationId xmlns:a16="http://schemas.microsoft.com/office/drawing/2014/main" id="{87FA2C36-1AE3-4C75-AC96-5C2C7AA05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962" y="1075325"/>
            <a:ext cx="5847616" cy="563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A317D90B-1E70-4E86-A9C4-5D908F376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2295" y="1904780"/>
            <a:ext cx="5716172" cy="4511895"/>
          </a:xfrm>
        </p:spPr>
        <p:txBody>
          <a:bodyPr>
            <a:normAutofit/>
          </a:bodyPr>
          <a:lstStyle/>
          <a:p>
            <a:r>
              <a:rPr lang="en-US" altLang="en-US" dirty="0"/>
              <a:t>The shipbuilders Harland and Wolff insist that the Titanic </a:t>
            </a:r>
            <a:r>
              <a:rPr lang="en-US" altLang="en-US" b="1" dirty="0"/>
              <a:t>was never advertised</a:t>
            </a:r>
            <a:r>
              <a:rPr lang="en-US" altLang="en-US" dirty="0"/>
              <a:t> as an unsinkable ship. </a:t>
            </a:r>
          </a:p>
          <a:p>
            <a:endParaRPr lang="en-GB" altLang="en-US" dirty="0"/>
          </a:p>
          <a:p>
            <a:r>
              <a:rPr lang="en-US" altLang="en-US" dirty="0"/>
              <a:t>They claim that the 'unsinkable' myth was the result of people's interpretations of articles in the Irish News and the Shipbuilder magazine. They also claim that </a:t>
            </a:r>
            <a:r>
              <a:rPr lang="en-US" altLang="en-US" b="1" dirty="0"/>
              <a:t>the myth grew after the disaster.</a:t>
            </a:r>
            <a:endParaRPr lang="en-GB" altLang="en-US" b="1" dirty="0"/>
          </a:p>
        </p:txBody>
      </p:sp>
      <p:pic>
        <p:nvPicPr>
          <p:cNvPr id="9219" name="Picture 2" descr="http://www.titanichonourandglory.com/UserFiles/shipbuilder%20book.bmp">
            <a:extLst>
              <a:ext uri="{FF2B5EF4-FFF2-40B4-BE49-F238E27FC236}">
                <a16:creationId xmlns:a16="http://schemas.microsoft.com/office/drawing/2014/main" id="{74CF6417-914B-4267-BCEA-982D041D7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388" y="441325"/>
            <a:ext cx="4546600" cy="597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245B396F-D762-4865-9F69-02732ECC45B1}"/>
              </a:ext>
            </a:extLst>
          </p:cNvPr>
          <p:cNvSpPr txBox="1">
            <a:spLocks/>
          </p:cNvSpPr>
          <p:nvPr/>
        </p:nvSpPr>
        <p:spPr>
          <a:xfrm>
            <a:off x="262012" y="199025"/>
            <a:ext cx="7756574" cy="196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4000" dirty="0"/>
              <a:t>Why did they think she was unsinkable?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213CE10-49AF-41B7-9444-59BC8A817FEE}"/>
              </a:ext>
            </a:extLst>
          </p:cNvPr>
          <p:cNvSpPr/>
          <p:nvPr/>
        </p:nvSpPr>
        <p:spPr>
          <a:xfrm>
            <a:off x="5880294" y="4847224"/>
            <a:ext cx="1503093" cy="85812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2">
            <a:extLst>
              <a:ext uri="{FF2B5EF4-FFF2-40B4-BE49-F238E27FC236}">
                <a16:creationId xmlns:a16="http://schemas.microsoft.com/office/drawing/2014/main" id="{619BA018-A00E-4631-832A-BCB50E579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7114" y="1185594"/>
            <a:ext cx="4845148" cy="4766212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Yet, when the New York office of the White Star Line (the company that owned the ship) was informed that Titanic was in trouble, White Star Line Vice President Franklin announced: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"We place absolute confidence in the Titanic. We believe the boat is unsinkable."</a:t>
            </a:r>
            <a:endParaRPr lang="en-GB" altLang="en-US" dirty="0"/>
          </a:p>
        </p:txBody>
      </p:sp>
      <p:pic>
        <p:nvPicPr>
          <p:cNvPr id="10243" name="Picture 2" descr="http://www.rms-republic.com/albums/People/aad.sized.jpg">
            <a:extLst>
              <a:ext uri="{FF2B5EF4-FFF2-40B4-BE49-F238E27FC236}">
                <a16:creationId xmlns:a16="http://schemas.microsoft.com/office/drawing/2014/main" id="{99799D95-696B-4B4C-B92A-7F49380D2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11200"/>
            <a:ext cx="4733925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New CGI of How Titanic Sank | Titanic 100">
            <a:hlinkClick r:id="" action="ppaction://media"/>
            <a:extLst>
              <a:ext uri="{FF2B5EF4-FFF2-40B4-BE49-F238E27FC236}">
                <a16:creationId xmlns:a16="http://schemas.microsoft.com/office/drawing/2014/main" id="{6E96D81F-A072-4A07-AF2A-118B2F38CBB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917581" y="1716257"/>
            <a:ext cx="7946119" cy="44696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E9A4BAB-795B-4D33-872A-4E9390D44767}"/>
              </a:ext>
            </a:extLst>
          </p:cNvPr>
          <p:cNvSpPr/>
          <p:nvPr/>
        </p:nvSpPr>
        <p:spPr>
          <a:xfrm>
            <a:off x="273181" y="382392"/>
            <a:ext cx="891302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dirty="0"/>
              <a:t>So, how did the unsinkable sink? </a:t>
            </a:r>
          </a:p>
        </p:txBody>
      </p:sp>
    </p:spTree>
    <p:extLst>
      <p:ext uri="{BB962C8B-B14F-4D97-AF65-F5344CB8AC3E}">
        <p14:creationId xmlns:p14="http://schemas.microsoft.com/office/powerpoint/2010/main" val="2773608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0ED297-F8D4-4495-9F48-D3B8815453BC}"/>
              </a:ext>
            </a:extLst>
          </p:cNvPr>
          <p:cNvSpPr/>
          <p:nvPr/>
        </p:nvSpPr>
        <p:spPr>
          <a:xfrm>
            <a:off x="474924" y="318254"/>
            <a:ext cx="930212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/>
              <a:t>Why did it become such a disaster?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3F3766-3A35-4A35-86BB-A3C893344B3A}"/>
              </a:ext>
            </a:extLst>
          </p:cNvPr>
          <p:cNvSpPr/>
          <p:nvPr/>
        </p:nvSpPr>
        <p:spPr>
          <a:xfrm>
            <a:off x="3298874" y="2967500"/>
            <a:ext cx="4958861" cy="7078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4000" dirty="0">
                <a:solidFill>
                  <a:srgbClr val="C00000"/>
                </a:solidFill>
                <a:latin typeface="arial" panose="020B0604020202020204" pitchFamily="34" charset="0"/>
              </a:rPr>
              <a:t>What is a </a:t>
            </a:r>
            <a:r>
              <a:rPr lang="en-GB" sz="4000" b="1" dirty="0">
                <a:solidFill>
                  <a:srgbClr val="C00000"/>
                </a:solidFill>
                <a:latin typeface="arial" panose="020B0604020202020204" pitchFamily="34" charset="0"/>
              </a:rPr>
              <a:t>disaster</a:t>
            </a:r>
            <a:r>
              <a:rPr lang="en-GB" sz="4000" dirty="0">
                <a:solidFill>
                  <a:srgbClr val="C00000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0C3346-84A7-4532-BD2B-3722E2C7FADA}"/>
              </a:ext>
            </a:extLst>
          </p:cNvPr>
          <p:cNvSpPr/>
          <p:nvPr/>
        </p:nvSpPr>
        <p:spPr>
          <a:xfrm>
            <a:off x="2730304" y="2049058"/>
            <a:ext cx="5794718" cy="4031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3200" dirty="0">
                <a:latin typeface="arial" panose="020B0604020202020204" pitchFamily="34" charset="0"/>
              </a:rPr>
              <a:t>The definition of a disaster is –</a:t>
            </a:r>
          </a:p>
          <a:p>
            <a:pPr algn="ctr"/>
            <a:endParaRPr lang="en-GB" sz="3200" dirty="0">
              <a:latin typeface="arial" panose="020B0604020202020204" pitchFamily="34" charset="0"/>
            </a:endParaRPr>
          </a:p>
          <a:p>
            <a:pPr algn="ctr"/>
            <a:r>
              <a:rPr lang="en-GB" sz="3200" dirty="0">
                <a:latin typeface="arial" panose="020B0604020202020204" pitchFamily="34" charset="0"/>
              </a:rPr>
              <a:t>a sudden accident or a natural catastrophe that causes great damage or loss of life.</a:t>
            </a:r>
          </a:p>
          <a:p>
            <a:pPr algn="ctr"/>
            <a:endParaRPr lang="en-GB" sz="3200" dirty="0">
              <a:latin typeface="arial" panose="020B0604020202020204" pitchFamily="34" charset="0"/>
            </a:endParaRPr>
          </a:p>
          <a:p>
            <a:pPr algn="ctr"/>
            <a:r>
              <a:rPr lang="en-GB" sz="3200" dirty="0">
                <a:solidFill>
                  <a:srgbClr val="C00000"/>
                </a:solidFill>
                <a:latin typeface="arial" panose="020B0604020202020204" pitchFamily="34" charset="0"/>
              </a:rPr>
              <a:t>Can you think of another example?</a:t>
            </a:r>
            <a:endParaRPr lang="en-GB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54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6B5EA8-6B4E-4234-8440-098932701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200" y="153113"/>
            <a:ext cx="8739599" cy="655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89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RMS Titanic Safety Check | Troublesome 20th Century | Horrible Histories">
            <a:hlinkClick r:id="" action="ppaction://media"/>
            <a:extLst>
              <a:ext uri="{FF2B5EF4-FFF2-40B4-BE49-F238E27FC236}">
                <a16:creationId xmlns:a16="http://schemas.microsoft.com/office/drawing/2014/main" id="{8A8C2473-184A-4F14-8D45-D02679BD20B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685735" y="1147435"/>
            <a:ext cx="8134184" cy="457547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E6E7B7-D563-47A0-B7DE-8A4CC68927BC}"/>
              </a:ext>
            </a:extLst>
          </p:cNvPr>
          <p:cNvSpPr/>
          <p:nvPr/>
        </p:nvSpPr>
        <p:spPr>
          <a:xfrm>
            <a:off x="695638" y="1536174"/>
            <a:ext cx="247897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latin typeface="Lato"/>
              </a:rPr>
              <a:t>Task</a:t>
            </a:r>
          </a:p>
          <a:p>
            <a:endParaRPr lang="en-GB" sz="2000" dirty="0">
              <a:latin typeface="Lato"/>
            </a:endParaRPr>
          </a:p>
          <a:p>
            <a:r>
              <a:rPr lang="en-GB" sz="2000" dirty="0">
                <a:latin typeface="Lato"/>
              </a:rPr>
              <a:t>From this video, mind map as many ways as you her about how unprepared the ship was</a:t>
            </a:r>
          </a:p>
          <a:p>
            <a:pPr marL="457200" indent="-457200">
              <a:buFont typeface="+mj-lt"/>
              <a:buAutoNum type="arabicPeriod"/>
            </a:pPr>
            <a:endParaRPr lang="en-GB" sz="2000" dirty="0">
              <a:latin typeface="Lato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latin typeface="Lato"/>
              </a:rPr>
              <a:t>Why did it sink?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latin typeface="Lato"/>
              </a:rPr>
              <a:t>Why was it such a disaster?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53414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249E5C4-B1B4-4B1D-B450-8D0D5AC5B77C}"/>
              </a:ext>
            </a:extLst>
          </p:cNvPr>
          <p:cNvSpPr/>
          <p:nvPr/>
        </p:nvSpPr>
        <p:spPr>
          <a:xfrm>
            <a:off x="3573194" y="2092569"/>
            <a:ext cx="4360985" cy="26728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Why was it such a disaster?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DF5A15-BC06-4F9E-BF52-7D7A9B3A74FF}"/>
              </a:ext>
            </a:extLst>
          </p:cNvPr>
          <p:cNvCxnSpPr>
            <a:cxnSpLocks/>
          </p:cNvCxnSpPr>
          <p:nvPr/>
        </p:nvCxnSpPr>
        <p:spPr>
          <a:xfrm flipV="1">
            <a:off x="7590950" y="1094936"/>
            <a:ext cx="1749998" cy="1682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1269E75-EFA4-4519-A78D-FC7DB9008D94}"/>
              </a:ext>
            </a:extLst>
          </p:cNvPr>
          <p:cNvCxnSpPr>
            <a:cxnSpLocks/>
          </p:cNvCxnSpPr>
          <p:nvPr/>
        </p:nvCxnSpPr>
        <p:spPr>
          <a:xfrm flipH="1" flipV="1">
            <a:off x="2461847" y="1237957"/>
            <a:ext cx="1384752" cy="1539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1FCD58-D301-4775-AF5F-3E3E3B6963BF}"/>
              </a:ext>
            </a:extLst>
          </p:cNvPr>
          <p:cNvCxnSpPr>
            <a:cxnSpLocks/>
          </p:cNvCxnSpPr>
          <p:nvPr/>
        </p:nvCxnSpPr>
        <p:spPr>
          <a:xfrm>
            <a:off x="7453506" y="4236542"/>
            <a:ext cx="1733128" cy="1383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17D021-BC85-4C22-A61B-50B16904057D}"/>
              </a:ext>
            </a:extLst>
          </p:cNvPr>
          <p:cNvCxnSpPr>
            <a:cxnSpLocks/>
          </p:cNvCxnSpPr>
          <p:nvPr/>
        </p:nvCxnSpPr>
        <p:spPr>
          <a:xfrm flipH="1">
            <a:off x="2166425" y="4223826"/>
            <a:ext cx="1860252" cy="139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DBC0C65-A7F5-497B-ACD4-9AC026FE9C4E}"/>
              </a:ext>
            </a:extLst>
          </p:cNvPr>
          <p:cNvSpPr/>
          <p:nvPr/>
        </p:nvSpPr>
        <p:spPr>
          <a:xfrm>
            <a:off x="1201645" y="6024839"/>
            <a:ext cx="111216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323232"/>
                </a:solidFill>
                <a:latin typeface="Lato"/>
              </a:rPr>
              <a:t>How could it be argued that this becoming a disaster could have been avoided?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9568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038375-5230-461A-88A5-56FD8E23E1B1}"/>
              </a:ext>
            </a:extLst>
          </p:cNvPr>
          <p:cNvSpPr/>
          <p:nvPr/>
        </p:nvSpPr>
        <p:spPr>
          <a:xfrm>
            <a:off x="474924" y="318254"/>
            <a:ext cx="93021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b="1" dirty="0"/>
              <a:t>Why was it such a disaster?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9DB182-99DF-4241-95BF-87F166D3BB86}"/>
              </a:ext>
            </a:extLst>
          </p:cNvPr>
          <p:cNvSpPr/>
          <p:nvPr/>
        </p:nvSpPr>
        <p:spPr>
          <a:xfrm>
            <a:off x="474924" y="1246251"/>
            <a:ext cx="577113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323232"/>
                </a:solidFill>
              </a:rPr>
              <a:t>Using the reasons you have come up with, along with mine below, you need to do the following:</a:t>
            </a:r>
          </a:p>
          <a:p>
            <a:endParaRPr lang="en-GB" sz="2400" dirty="0">
              <a:solidFill>
                <a:srgbClr val="323232"/>
              </a:solidFill>
            </a:endParaRPr>
          </a:p>
          <a:p>
            <a:r>
              <a:rPr lang="en-GB" sz="2400" dirty="0">
                <a:solidFill>
                  <a:srgbClr val="323232"/>
                </a:solidFill>
              </a:rPr>
              <a:t>Categories your points into:</a:t>
            </a:r>
          </a:p>
          <a:p>
            <a:endParaRPr lang="en-GB" sz="2400" dirty="0">
              <a:solidFill>
                <a:srgbClr val="323232"/>
              </a:solidFill>
            </a:endParaRPr>
          </a:p>
          <a:p>
            <a:r>
              <a:rPr lang="en-GB" sz="2400" dirty="0">
                <a:solidFill>
                  <a:srgbClr val="FF0000"/>
                </a:solidFill>
              </a:rPr>
              <a:t>Before departure</a:t>
            </a:r>
          </a:p>
          <a:p>
            <a:r>
              <a:rPr lang="en-GB" sz="2400" dirty="0">
                <a:solidFill>
                  <a:srgbClr val="002060"/>
                </a:solidFill>
              </a:rPr>
              <a:t>During the collision</a:t>
            </a:r>
          </a:p>
          <a:p>
            <a:r>
              <a:rPr lang="en-GB" sz="2400" dirty="0">
                <a:solidFill>
                  <a:srgbClr val="00B050"/>
                </a:solidFill>
              </a:rPr>
              <a:t>After the collision</a:t>
            </a:r>
          </a:p>
          <a:p>
            <a:endParaRPr lang="en-GB" sz="2400" dirty="0">
              <a:solidFill>
                <a:srgbClr val="00B050"/>
              </a:solidFill>
            </a:endParaRPr>
          </a:p>
          <a:p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Answer in your books giving multiple reasons as your evidence – 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Why did the sinking of the Titanic become such a disaster?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E6EF1B-9AE6-4881-9DCD-6A99A4685179}"/>
              </a:ext>
            </a:extLst>
          </p:cNvPr>
          <p:cNvSpPr/>
          <p:nvPr/>
        </p:nvSpPr>
        <p:spPr>
          <a:xfrm>
            <a:off x="7081023" y="2723578"/>
            <a:ext cx="4853354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Iceberg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Steel Rivets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Warnings ignored from other ships nearby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Not enough lifeboats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Weren’t filling up the lifeboats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Not enough searchlights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Going too fast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Other ships had radios turned off so could not hear Titanic distress call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Temperature of the sea (-2)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No second skin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 Lookout did not have binoculars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9C63EEB8-78D2-4BB9-831E-2D272767872A}"/>
              </a:ext>
            </a:extLst>
          </p:cNvPr>
          <p:cNvSpPr/>
          <p:nvPr/>
        </p:nvSpPr>
        <p:spPr>
          <a:xfrm rot="19072737">
            <a:off x="6007560" y="1941875"/>
            <a:ext cx="853440" cy="9847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1321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27024282-AEBE-421F-8516-6E0E3544E4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9317" y="4625976"/>
            <a:ext cx="10677378" cy="2232025"/>
          </a:xfrm>
        </p:spPr>
        <p:txBody>
          <a:bodyPr>
            <a:normAutofit/>
          </a:bodyPr>
          <a:lstStyle/>
          <a:p>
            <a:r>
              <a:rPr lang="en-US" altLang="en-US" dirty="0"/>
              <a:t> Whatever the origin of the belief, there is </a:t>
            </a:r>
            <a:r>
              <a:rPr lang="en-US" altLang="en-US" b="1" dirty="0"/>
              <a:t>no doubt </a:t>
            </a:r>
            <a:r>
              <a:rPr lang="en-US" altLang="en-US" dirty="0"/>
              <a:t>that people did believe Titanic to be unsinkable.</a:t>
            </a:r>
          </a:p>
          <a:p>
            <a:r>
              <a:rPr lang="en-US" altLang="en-US" dirty="0"/>
              <a:t>Passenger Margaret Devaney said "I took passage on the Titanic for I thought it would be a safe steamship and I had heard it could not sink."</a:t>
            </a:r>
          </a:p>
          <a:p>
            <a:endParaRPr lang="en-GB" altLang="en-US" dirty="0">
              <a:latin typeface="Comic Sans MS" panose="030F0702030302020204" pitchFamily="66" charset="0"/>
            </a:endParaRPr>
          </a:p>
        </p:txBody>
      </p:sp>
      <p:pic>
        <p:nvPicPr>
          <p:cNvPr id="16387" name="Picture 2" descr="http://t2.gstatic.com/images?q=tbn:ANd9GcQrv_vixI8Sbd89EMB04-ZrOqoNxhztG9ppwMRhgLtFT8Gj3j11pQ">
            <a:extLst>
              <a:ext uri="{FF2B5EF4-FFF2-40B4-BE49-F238E27FC236}">
                <a16:creationId xmlns:a16="http://schemas.microsoft.com/office/drawing/2014/main" id="{D03D9AC3-B4BF-429C-AABE-020AFBB3C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8" r="3600" b="7088"/>
          <a:stretch>
            <a:fillRect/>
          </a:stretch>
        </p:blipFill>
        <p:spPr bwMode="auto">
          <a:xfrm>
            <a:off x="1524000" y="1"/>
            <a:ext cx="9144000" cy="436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14731F22-FB94-4CAF-822B-7C8178693FDB}"/>
              </a:ext>
            </a:extLst>
          </p:cNvPr>
          <p:cNvSpPr txBox="1">
            <a:spLocks/>
          </p:cNvSpPr>
          <p:nvPr/>
        </p:nvSpPr>
        <p:spPr>
          <a:xfrm>
            <a:off x="474924" y="22077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Reflection…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363444-27E1-4C7A-9EA5-8BECF51BAF4A}"/>
              </a:ext>
            </a:extLst>
          </p:cNvPr>
          <p:cNvSpPr/>
          <p:nvPr/>
        </p:nvSpPr>
        <p:spPr>
          <a:xfrm>
            <a:off x="598017" y="2526411"/>
            <a:ext cx="4223685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3600" dirty="0">
                <a:solidFill>
                  <a:srgbClr val="323232"/>
                </a:solidFill>
              </a:rPr>
              <a:t>What was the main 3 reason that this became such a disaster?</a:t>
            </a:r>
          </a:p>
          <a:p>
            <a:endParaRPr lang="en-GB" sz="3600" dirty="0">
              <a:solidFill>
                <a:srgbClr val="323232"/>
              </a:solidFill>
              <a:cs typeface="Calibri"/>
            </a:endParaRPr>
          </a:p>
          <a:p>
            <a:r>
              <a:rPr lang="en-GB" sz="3600" dirty="0">
                <a:solidFill>
                  <a:srgbClr val="323232"/>
                </a:solidFill>
                <a:cs typeface="Calibri"/>
              </a:rPr>
              <a:t>Support your choices with evidence</a:t>
            </a:r>
          </a:p>
        </p:txBody>
      </p:sp>
      <p:pic>
        <p:nvPicPr>
          <p:cNvPr id="4" name="Picture 2" descr="http://www.slate.com/content/dam/slate/articles/arts/movies/2012/04/120405_MOV_TitanicEX.jpg.CROP.rectangle3-large.jpg">
            <a:extLst>
              <a:ext uri="{FF2B5EF4-FFF2-40B4-BE49-F238E27FC236}">
                <a16:creationId xmlns:a16="http://schemas.microsoft.com/office/drawing/2014/main" id="{F0F0B21F-7382-44C0-9867-0FDC30310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316" y="1410317"/>
            <a:ext cx="6461760" cy="484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2526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5F2A391-A914-42AA-6A10-3BED581ACDD7}"/>
              </a:ext>
            </a:extLst>
          </p:cNvPr>
          <p:cNvGrpSpPr/>
          <p:nvPr/>
        </p:nvGrpSpPr>
        <p:grpSpPr>
          <a:xfrm>
            <a:off x="1181895" y="1301750"/>
            <a:ext cx="9828209" cy="4060379"/>
            <a:chOff x="1363666" y="1238250"/>
            <a:chExt cx="9828209" cy="4060379"/>
          </a:xfrm>
        </p:grpSpPr>
        <p:pic>
          <p:nvPicPr>
            <p:cNvPr id="1025" name="Picture 12">
              <a:extLst>
                <a:ext uri="{FF2B5EF4-FFF2-40B4-BE49-F238E27FC236}">
                  <a16:creationId xmlns:a16="http://schemas.microsoft.com/office/drawing/2014/main" id="{226744DC-81A0-D60F-58FC-A98424654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3666" y="4258593"/>
              <a:ext cx="1991337" cy="698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6A329D-31C1-36B9-E32E-41DD2C0B6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3295" y="1238250"/>
              <a:ext cx="7305410" cy="2190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0602F3-B99C-265F-21DB-70AB82AFFADF}"/>
                </a:ext>
              </a:extLst>
            </p:cNvPr>
            <p:cNvSpPr/>
            <p:nvPr/>
          </p:nvSpPr>
          <p:spPr>
            <a:xfrm>
              <a:off x="3650278" y="3917504"/>
              <a:ext cx="7541597" cy="13811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ctr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ctr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Arial"/>
                </a:rPr>
                <a:t>Remembering Titanic Lessons © 2023 by Wonyong Park, Neta Shaby, Rachele Newman, Megan Barton, Christopher Dale, Ashleigh Fair, Natalie Harrison, Mary Shepherd and Christopher </a:t>
              </a:r>
              <a:r>
                <a:rPr kumimoji="0" lang="en-GB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Arial"/>
                </a:rPr>
                <a:t>Zieba</a:t>
              </a: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Arial"/>
                </a:rPr>
                <a:t> is licensed under </a:t>
              </a:r>
              <a:r>
                <a:rPr kumimoji="0" lang="en-GB" sz="1800" b="0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Arial"/>
                  <a:hlinkClick r:id="rId4"/>
                </a:rPr>
                <a:t>CC BY-NC-SA 4.0</a:t>
              </a: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Arial"/>
                </a:rPr>
                <a:t>. You can share and adapt the materials, as long as you give appropriate credit and do not use them for commercial purposes.</a:t>
              </a: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25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a874f9-67e5-4deb-a0f2-d102b20c5fd8">
      <Terms xmlns="http://schemas.microsoft.com/office/infopath/2007/PartnerControls"/>
    </lcf76f155ced4ddcb4097134ff3c332f>
    <TaxCatchAll xmlns="94e09ebd-c8f1-4362-991a-c49006e523f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AEFD908B32B245A3A0D21C6B593B2B" ma:contentTypeVersion="14" ma:contentTypeDescription="Create a new document." ma:contentTypeScope="" ma:versionID="38d37b1c7b188a6d838f48e4416de3c1">
  <xsd:schema xmlns:xsd="http://www.w3.org/2001/XMLSchema" xmlns:xs="http://www.w3.org/2001/XMLSchema" xmlns:p="http://schemas.microsoft.com/office/2006/metadata/properties" xmlns:ns2="d5a874f9-67e5-4deb-a0f2-d102b20c5fd8" xmlns:ns3="94e09ebd-c8f1-4362-991a-c49006e523f9" targetNamespace="http://schemas.microsoft.com/office/2006/metadata/properties" ma:root="true" ma:fieldsID="bf319a33755e26be25ca2a6fc21578ae" ns2:_="" ns3:_="">
    <xsd:import namespace="d5a874f9-67e5-4deb-a0f2-d102b20c5fd8"/>
    <xsd:import namespace="94e09ebd-c8f1-4362-991a-c49006e523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a874f9-67e5-4deb-a0f2-d102b20c5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bf2f534-9c3d-494b-83fb-768e807180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e09ebd-c8f1-4362-991a-c49006e523f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1c53bc1-37db-457b-9811-fd494ad9fb6b}" ma:internalName="TaxCatchAll" ma:showField="CatchAllData" ma:web="94e09ebd-c8f1-4362-991a-c49006e523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CE5CA8-63D9-4DA8-9FAD-EA15A642B9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6834EE-D4AA-41D0-84E9-BDF2A9870C7B}">
  <ds:schemaRefs>
    <ds:schemaRef ds:uri="http://schemas.microsoft.com/office/2006/metadata/properties"/>
    <ds:schemaRef ds:uri="http://schemas.microsoft.com/office/infopath/2007/PartnerControls"/>
    <ds:schemaRef ds:uri="d5a874f9-67e5-4deb-a0f2-d102b20c5fd8"/>
    <ds:schemaRef ds:uri="94e09ebd-c8f1-4362-991a-c49006e523f9"/>
  </ds:schemaRefs>
</ds:datastoreItem>
</file>

<file path=customXml/itemProps3.xml><?xml version="1.0" encoding="utf-8"?>
<ds:datastoreItem xmlns:ds="http://schemas.openxmlformats.org/officeDocument/2006/customXml" ds:itemID="{7A023BF4-4A11-4954-8F4D-A06BEB2045C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</TotalTime>
  <Words>692</Words>
  <Application>Microsoft Office PowerPoint</Application>
  <PresentationFormat>Widescreen</PresentationFormat>
  <Paragraphs>79</Paragraphs>
  <Slides>14</Slides>
  <Notes>10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</vt:lpstr>
      <vt:lpstr>Calibri</vt:lpstr>
      <vt:lpstr>Calibri Light</vt:lpstr>
      <vt:lpstr>Comic Sans MS</vt:lpstr>
      <vt:lpstr>Lato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Natalie Harrison</dc:creator>
  <cp:lastModifiedBy>Wonyong Park</cp:lastModifiedBy>
  <cp:revision>71</cp:revision>
  <dcterms:created xsi:type="dcterms:W3CDTF">2023-06-26T12:21:36Z</dcterms:created>
  <dcterms:modified xsi:type="dcterms:W3CDTF">2023-12-14T23:14:05Z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0x010100D4AEFD908B32B245A3A0D21C6B593B2B</vt:lpwstr>
  </property>
  <property fmtid="{D5CDD505-2E9C-101B-9397-08002B2CF9AE}" pid="3" name="MediaServiceImageTags">
    <vt:lpwstr/>
  </property>
</Properties>
</file>